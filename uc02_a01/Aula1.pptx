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2C1C5-724D-B895-D471-32EBFAC1AE85}" v="3" dt="2026-08-19T21:28:31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7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da Web e o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Semântico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Construindo a fundação de qualquer página web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7282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cliente-servidor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em palavras simples como o navegador pede e o servidor responde.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77240" y="2999232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8712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em pastas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um projeto web separando css/ js/ img/.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414223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142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HTML5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estrutura básica de uma página do zero.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77240" y="5285232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51572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esqueleto de uma página com header, nav, main, section, article e footer.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"caixa-preta" da web é, na verdade, um documento de texto bem organizado: o HTML.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você digita um endereço e a página aparece, uma conversa invisível acontece em menos de um segundo entre o seu computador e um servidor do outro lado do mundo.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é usado?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absolutamente todo site — do blog pessoal ao Nubank, do portal do governo ao Mercado Livre. HTML é a estrutura de tudo na web e o primeiro passo de qualquer dev front-end.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Uma historinha para começar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1991, o cientista britânico Tim Berners-Lee, no CERN (Suíça), estava cansado de perder documentos entre computadores diferentes.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inventou uma forma de ligar documentos com links e criou a primeira página web da história.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primeiro site ainda está no ar (info.cern.ch): só texto e links — exatamente o que vamos aprender hoje. A web inteira nasceu daquele documentinho de HTML.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que acontece entre você apertar </a:t>
            </a: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 navegador e a página do Instagram aparecer?"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internet funciona: cliente e servidor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 seu navegador (Chrome, Edge, Firefox).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um computador potente, ligado 24h, que guarda os arquivos do site.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6126480" cy="3063240"/>
          </a:xfrm>
          <a:prstGeom prst="roundRect">
            <a:avLst>
              <a:gd name="adj" fmla="val 2687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Analogia do restaurante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o cliente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(navegador). O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garçom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internet levando e trazendo pedidos. A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cozinha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servidor. Você pede um prato (digita o endereço), o garçom leva à cozinha, ela prepara e ele traz o prato pronto (o HTML). Você não vê a cozinha — só recebe o resultado.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691640"/>
            <a:ext cx="4663440" cy="4343400"/>
          </a:xfrm>
          <a:prstGeom prst="roundRect">
            <a:avLst>
              <a:gd name="adj" fmla="val 1895"/>
            </a:avLst>
          </a:prstGeom>
          <a:solidFill>
            <a:srgbClr val="0D1B2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178040" y="196596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2E3D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360920" y="1965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pede a página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6791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953512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2E3D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360920" y="29535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e traz o pedido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78040" y="36667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941064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2E3D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60920" y="394106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e responde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46542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4928616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B263B"/>
          </a:solidFill>
          <a:ln w="12700">
            <a:solidFill>
              <a:srgbClr val="2E3D5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60920" y="492861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o HTML na tela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ao acessar www.senac.br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9875520" cy="914400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965960" y="1691640"/>
            <a:ext cx="9464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"Traduz" o nome www.senac.br para um número (IP) — como uma agenda de contatos que acha o telefone pelo nome.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737360" y="2807208"/>
            <a:ext cx="9875520" cy="914400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965960" y="2807208"/>
            <a:ext cx="9464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— o navegador PEDE a página ao servidor.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" y="39227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737360" y="3922776"/>
            <a:ext cx="9875520" cy="914400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965960" y="3922776"/>
            <a:ext cx="9464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os arquivos e RESPONDE (HTTP response) enviando o HTML.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737360" y="5038344"/>
            <a:ext cx="9875520" cy="914400"/>
          </a:xfrm>
          <a:prstGeom prst="roundRect">
            <a:avLst>
              <a:gd name="adj" fmla="val 90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965960" y="5038344"/>
            <a:ext cx="9464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 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lê o HTML e DESENHA a página na tela.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HTML — e por que existe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HyperText Markup Language — linguagem de MARCAÇÃO, não de programação. Estrutura o conteúdo, não faz cálculos.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existe?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significado ao conteúdo: "isto é um título", "isto é um parágrafo", de um jeito que o navegador entenda.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o esqueleto de qualquer página: textos, imagens, links, formulários, tabelas.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de ler, universal (qualquer navegador/dispositivo), leve.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tem lógica, não guarda dados, não estiliza sozinho.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de uma tag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 é feito de tags. A maioria vem em par: abertura e fechamento (com /). O conteúdo fica no meio.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10735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tag de abertura        tag de fechamento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                                     |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                                      </a:t>
            </a:r>
            <a:r>
              <a:rPr lang="en-US" sz="1300" dirty="0" err="1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&lt;p class="intro"&gt;Bem-vindo à SneakZone&lt;/p&gt;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^         ^              ^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   atributo      conteúdo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vazios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como &lt;img&gt; e &lt;meta&gt; não têm conteúdo nem fechamento.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4160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46520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"configurações" da tag, sempre no formato nome="valor" (ex.: class="intro").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básica de um documento HTML5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766560" cy="4343400"/>
          </a:xfrm>
          <a:prstGeom prst="roundRect">
            <a:avLst>
              <a:gd name="adj" fmla="val 168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773936"/>
            <a:ext cx="6437376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Página&lt;/title&gt;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&lt;h1&gt;Olá, mundo!&lt;/h1&gt;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023360" cy="4343400"/>
          </a:xfrm>
          <a:prstGeom prst="roundRect">
            <a:avLst>
              <a:gd name="adj" fmla="val 204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🎭  Analogia do teatro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18120" y="22860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bastidores (figurino, roteiro, nome da peça no cartaz). O público não vê.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palco. Tudo o que a plateia enxerga.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os dois é o erro nº 1 de quem começa.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Semântico — o coração da aula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uma "sopa de &lt;div&gt;" que ninguém entendia. Agora: tags com significado no próprio nome.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 </a:t>
            </a: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SneakZone    </a:t>
            </a: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 </a:t>
            </a:r>
            <a:r>
              <a:rPr lang="en-US" sz="1300" dirty="0">
                <a:solidFill>
                  <a:srgbClr val="CD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· Produtos · Cadastro · 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 </a:t>
            </a:r>
            <a:r>
              <a:rPr lang="en-US" sz="1250" i="1" dirty="0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conteúdo principal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10515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33558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 </a:t>
            </a: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Destaques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74904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80160" y="3749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do Tênis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FF3EC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 </a:t>
            </a: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do Tênis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 </a:t>
            </a:r>
            <a:r>
              <a:rPr lang="en-US" sz="1300" dirty="0">
                <a:solidFill>
                  <a:srgbClr val="CDD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SneakZone · Instagram · WhatsApp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tags semânticas do SneakZone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6085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SneakZone é...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&lt;header&gt;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Cabeçalho / topo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faixa com o logo e o 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&lt;nav&gt;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Navegação (menu de links)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 · Produtos · Preços · Cadastro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&lt;main&gt;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principal (único por página)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entre o topo e o rodapé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&lt;section&gt;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seção temática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"Nossos Tênis", "Cadastro", "Dúvidas"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&lt;article&gt;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independente, sozinho faz sentido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card de produto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&lt;footer&gt;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Rodapé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Contato, redes sociais, copyright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semântica importa (o que o mercado cobra)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783080" y="2240280"/>
            <a:ext cx="1051560" cy="10515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783080" y="2240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♿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de tela para pessoas cegas usam essas tags para navegar: "pular para o menu", "ir ao conteúdo principal".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19202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513832" y="2240280"/>
            <a:ext cx="1051560" cy="10515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513832" y="2240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62272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3712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entende melhor a página e a rankeia melhor nas buscas — mais visitas, mais vendas.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0144" y="19202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244584" y="2240280"/>
            <a:ext cx="1051560" cy="105156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244584" y="2240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93024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4464" y="40233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programador (ou você em 6 meses) lê &lt;footer&gt; e sabe na hora o que é. &lt;div class="baixo"&gt; não diz nada.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profissional de pastas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 nunca é um arquivo só. Separamos por responsabilidade — o "jeito correto":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54315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minha-loja/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index.html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css/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js/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|-- img/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2331720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66560" y="2331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— o que aparece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3044952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66560" y="30449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  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 (cores, layout) — Aula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758184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66560" y="375818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  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(interação) — Aula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4471416"/>
            <a:ext cx="5029200" cy="594360"/>
          </a:xfrm>
          <a:prstGeom prst="roundRect">
            <a:avLst>
              <a:gd name="adj" fmla="val 1384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66560" y="447141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   </a:t>
            </a: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— Aula 2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crie do zero (passos 1–2)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linha por linha narrando cada decisão — não cole pronto.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</a:t>
            </a: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Crie a pasta e o arquivo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pasta sneakzone/ e, dentro dela, as subpastas css, js, img e o arquivo index.html.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"index"?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abre automaticamente o index.html — é a "porta de entrada" (a home) de qualquer site.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</a:t>
            </a: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atalho mágico do VS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index.html vazio, digite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aperte </a:t>
            </a: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Emmet gera toda a estrutura base sozinho.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246120"/>
            <a:ext cx="4937760" cy="2514600"/>
          </a:xfrm>
          <a:prstGeom prst="roundRect">
            <a:avLst>
              <a:gd name="adj" fmla="val 290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11112" y="3374136"/>
            <a:ext cx="460857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  &lt;- troque p/ pt-BR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&lt;title&gt;Document&lt;/title&gt;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 ... &lt;/body&gt;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monte o esqueleto dentro do &lt;body&gt;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858000" cy="4389120"/>
          </a:xfrm>
          <a:prstGeom prst="roundRect">
            <a:avLst>
              <a:gd name="adj" fmla="val 1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773936"/>
            <a:ext cx="6528816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CABEÇALHO: logo + menu --&gt;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&lt;h1&gt;SneakZone&lt;/h1&gt;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href="#produtos"&gt;Produtos&lt;/a&gt;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&lt;/header&gt;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 id="produtos"&gt;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&lt;h2&gt;Nossos Tênis&lt;/h2&gt;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&lt;article&gt;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&lt;h3&gt;AeroRun Laranja&lt;/h3&gt;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&lt;/article&gt;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&lt;footer&gt;&lt;p&gt;&amp;copy; 2026 SneakZone&lt;/p&gt;&lt;/footer&gt;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1645920"/>
            <a:ext cx="3931920" cy="4389120"/>
          </a:xfrm>
          <a:prstGeom prst="roundRect">
            <a:avLst>
              <a:gd name="adj" fmla="val 2093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095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Saída esperada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2286000"/>
            <a:ext cx="352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navegador aparece o título "SneakZone", os links do menu, o subtítulo "Nossos Tênis", o nome do tênis e o rodapé.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cor, sem layout — é o esqueleto puro, e está tudo certo assim.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estilo vem só na Aula 3 (CSS).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D64550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(e como corrigir)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de fechar a tag</a:t>
            </a:r>
            <a:endParaRPr lang="en-US" sz="14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&lt;section&gt; sem &lt;/section&gt; faz o layout "vazar". Todo par abre e fecha.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Acentos viram símbolos (Ã©)</a:t>
            </a:r>
            <a:endParaRPr lang="en-US" sz="14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Faltou &lt;meta charset="UTF-8"&gt; ou o arquivo foi salvo em outra codificação.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&lt;h1&gt; na página</a:t>
            </a:r>
            <a:endParaRPr lang="en-US" sz="14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só UM &lt;h1&gt; por página (o título principal). Depois desça: h2, h3...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892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3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no &lt;head&gt;</a:t>
            </a:r>
            <a:endParaRPr lang="en-US" sz="14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 tela. Conteúdo visível vai sempre no &lt;body&gt;.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858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6FED">
              <a:alpha val="20000"/>
            </a:srgbClr>
          </a:solidFill>
          <a:ln w="12700">
            <a:solidFill>
              <a:srgbClr val="6FA0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· 100–120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"abrir as entranhas"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1B263B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DC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Inspecionar (F12)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um site famoso (G1, Mercado Livre) e aperte </a:t>
            </a: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aba Elements mostra a árvore de tags — o </a:t>
            </a: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num site real. Ao passar o mouse nas tags, o pedaço correspondente acende na tela.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1B263B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3796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DC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Edição ao vivo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971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duplo clique numa manchete e troque por "Turma da UC2 dominou o HTML!". Ela muda na hora. Então recarregue (F5) e volta ao normal.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esqueleto serve para qualquer site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conteúdo, não muda o esqueleto.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793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/ section / article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🛒 E-commerce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+ menu + carrinho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produto é um &lt;article&gt;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Pagamento, contato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📰 Blog / notícias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+ categorias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post é um &lt;article&gt;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Sobre, redes sociais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🏢 Intranet de RH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+ menu do funcionário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Holerites, Férias, Benefícios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Ramal do RH, versão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👩‍💻 Portfólio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 nome + menu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Projetos, Sobre mim, Contato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E-mail, LinkedIn,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🍕 Cardápio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da pizzaria + logo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prato é um &lt;article&gt;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Endereço,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 de trabalho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é o 1º filtro em qualquer teste técnico de vaga júnior.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Marketing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semânticos rankeiam melhor no Google = mais vendas. Empresas pagam por isso.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lei no Brasil (LBI 13.146/2015) que sites públicos e de grandes empresas sejam acessíveis.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marketing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promocionais de varejo e logística são feitos em HTML.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/ No-code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WordPress ou lojas prontas precisa entender a estrutura para customizar.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Emmet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+ Tab gera a estrutura base; header&gt;nav&gt;a*3 + Tab cria um menu com 3 links num átimo.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Indentação automática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Shift+Alt+F formata o arquivo inteiro. Código torto = difícil de manter.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Comente seus blocos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&lt;!-- Cabeçalho --&gt; ajuda você e a equipe a se localizarem.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as tags na hora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&lt;section&gt;&lt;/section&gt; juntas e só depois preencha o meio.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VS Code que recarrega o site sozinho a cada save.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seu código</a:t>
            </a:r>
            <a:endParaRPr lang="en-US" sz="14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em validator.w3.org para achar erros que o navegador "perdoa".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página web (1991) ainda está no ar: info.cern.ch. É só texto e links — puro HTML.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hoje mais de 1 bilhão de sites no mundo, todos com HTML na base.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HTML5 (2014) trouxe as tags semânticas, além de vídeo e áudio nativos — antes precisava do Flash.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&lt;!DOCTYPE html&gt; do HTML5 é curtinho de propósito. No HTML4 era uma linha gigante e ilegível.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não é linguagem de programação — é de marcação. Dizer que "programa em HTML" denuncia iniciante.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quando usar cada 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023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&lt;div&gt;  ×  &lt;section&gt;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quando o bloco tem tema e título; div só para agrupamento visual, sem significado.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&lt;section&gt;  ×  &lt;article&gt;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= conteúdo que faz sentido sozinho (card, post). section = agrupamento de coisas relacionadas.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semântica  ×  &lt;div&gt;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Prefira sempre a semântica. div é o "último recurso" quando nenhuma tag com significado serve.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  ×  CSS  ×  JS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= estrutura (esqueleto). CSS = aparência (roupa). JS = comportamento (músculos). Hoje é só o esqueleto.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da aula: "Fundação da minha loja"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autônoma · 120–190 min · cada aluno escolhe seu segmento (games, pet shop, moda...).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6766560" cy="4114800"/>
          </a:xfrm>
          <a:prstGeom prst="roundRect">
            <a:avLst>
              <a:gd name="adj" fmla="val 2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desta aula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pasta do projeto com css/, js/, img/.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index.html (! + Tab), ajustando lang="pt-BR" e o &lt;title&gt;.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esqueleto: header (h1 + nav), main com uma section de produtos com ao menos um article, e footer.</a:t>
            </a:r>
            <a:endParaRPr lang="en-US" sz="1300" dirty="0"/>
          </a:p>
          <a:p>
            <a:pPr marL="342900" indent="-342900" algn="l">
              <a:lnSpc>
                <a:spcPct val="112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hierarquia de títulos: um h1, depois h2, h3.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874520"/>
            <a:ext cx="4023360" cy="1920240"/>
          </a:xfrm>
          <a:prstGeom prst="roundRect">
            <a:avLst>
              <a:gd name="adj" fmla="val 4286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181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Apoio (nunca programou)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18120" y="239572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um index.html "esqueleto" com comentários &lt;!-- coloque aqui --&gt;. Meta mínima: trocar textos e ver no navegador.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397764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FFF6F3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8181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🟠 Desafio (já sabe o básico)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18120" y="449884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uma &lt;section&gt; "Sobre" e um &lt;aside&gt; com uma curiosidade da marca; comente o papel de cada tag semântica escolhida.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é cliente-servidor: o navegador pede, o servidor responde com HTML.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é linguagem de marcação — estrutura o conteúdo (não estiliza nem programa).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base: &lt;!DOCTYPE&gt;, &lt;html&gt;, &lt;head&gt; (bastidores), &lt;body&gt; (palco).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 dão significado → acessibilidade, SEO e manutenção.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profissional é organizado em pastas: css/ js/ img/.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&lt;h1&gt; por página; hierarquia de títulos em ordem.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 WEB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+--------+--------+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CLIENTE-  HTML   ORGANIZA-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   |      ÇÃO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+--+--+ (css/js/img)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ESTRUTURA  SEMÂNTICA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head/body   header nav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main section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article footer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acessibilidade · SEO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· manutenção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247120" cy="2453640"/>
          </a:xfrm>
          <a:prstGeom prst="roundRect">
            <a:avLst>
              <a:gd name="adj" fmla="val 375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— Imagens na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10713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levantamos o esqueleto. Na próxima aula vamos vesti-lo com imagens: a tag &lt;img&gt;, o atributo alt (acessibilidade), otimização de fotos e bancos gratuitos (Unsplash, Pexels).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&lt;article&gt; de produto que hoje só tem texto vai ganhar a foto do tênis.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fundação está pronta.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429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aprendeu o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de qualquer site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próximas 8 aulas constroem sobre esta base.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66736542-45C8-4C9F-88A8-BC96B6D5D88D}"/>
</file>

<file path=customXml/itemProps2.xml><?xml version="1.0" encoding="utf-8"?>
<ds:datastoreItem xmlns:ds="http://schemas.openxmlformats.org/officeDocument/2006/customXml" ds:itemID="{474CF106-E9A4-4CF6-AD29-7F1AFCF12EB4}"/>
</file>

<file path=customXml/itemProps3.xml><?xml version="1.0" encoding="utf-8"?>
<ds:datastoreItem xmlns:ds="http://schemas.openxmlformats.org/officeDocument/2006/customXml" ds:itemID="{5B60E8E8-9086-48B5-B22B-04F9EC55B5E9}"/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2961</Words>
  <Application>Microsoft Office PowerPoint</Application>
  <PresentationFormat>Widescreen</PresentationFormat>
  <Paragraphs>402</Paragraphs>
  <Slides>26</Slides>
  <Notes>26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Anatomia da Web e HTML5 Semântico</dc:title>
  <dc:subject>PptxGenJS Presentation</dc:subject>
  <dc:creator>SENAC-RJ</dc:creator>
  <cp:lastModifiedBy>Mario Alberto Aragao Duarte</cp:lastModifiedBy>
  <cp:revision>6</cp:revision>
  <dcterms:created xsi:type="dcterms:W3CDTF">2026-08-18T18:50:46Z</dcterms:created>
  <dcterms:modified xsi:type="dcterms:W3CDTF">2026-08-19T21:29:02Z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2026-08-18T18:55:47Z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f8971e64-2d08-4722-b5ab-94c30740c2cf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