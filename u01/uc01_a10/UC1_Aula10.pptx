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3" r:id="rId19"/>
    <p:sldId id="276" r:id="rId20"/>
    <p:sldId id="277" r:id="rId21"/>
    <p:sldId id="27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a1fa1215-9303-47e9-8a35-409838d5fc84" providerId="ADAL" clId="{F37CF76F-DDD9-47A5-86AF-5CB8C488BF33}"/>
    <pc:docChg chg="custSel modSld">
      <pc:chgData name="Mario Alberto Aragao Duarte" userId="a1fa1215-9303-47e9-8a35-409838d5fc84" providerId="ADAL" clId="{F37CF76F-DDD9-47A5-86AF-5CB8C488BF33}" dt="2026-08-12T19:29:56.047" v="20" actId="6549"/>
      <pc:docMkLst>
        <pc:docMk/>
      </pc:docMkLst>
      <pc:sldChg chg="delSp modSp mod">
        <pc:chgData name="Mario Alberto Aragao Duarte" userId="a1fa1215-9303-47e9-8a35-409838d5fc84" providerId="ADAL" clId="{F37CF76F-DDD9-47A5-86AF-5CB8C488BF33}" dt="2026-08-12T19:29:56.047" v="20" actId="6549"/>
        <pc:sldMkLst>
          <pc:docMk/>
          <pc:sldMk cId="0" sldId="273"/>
        </pc:sldMkLst>
        <pc:spChg chg="mod">
          <ac:chgData name="Mario Alberto Aragao Duarte" userId="a1fa1215-9303-47e9-8a35-409838d5fc84" providerId="ADAL" clId="{F37CF76F-DDD9-47A5-86AF-5CB8C488BF33}" dt="2026-08-12T19:29:56.047" v="20" actId="6549"/>
          <ac:spMkLst>
            <pc:docMk/>
            <pc:sldMk cId="0" sldId="273"/>
            <ac:spMk id="6" creationId="{00000000-0000-0000-0000-000000000000}"/>
          </ac:spMkLst>
        </pc:spChg>
        <pc:spChg chg="del">
          <ac:chgData name="Mario Alberto Aragao Duarte" userId="a1fa1215-9303-47e9-8a35-409838d5fc84" providerId="ADAL" clId="{F37CF76F-DDD9-47A5-86AF-5CB8C488BF33}" dt="2026-08-12T19:29:50.845" v="17" actId="478"/>
          <ac:spMkLst>
            <pc:docMk/>
            <pc:sldMk cId="0" sldId="273"/>
            <ac:spMk id="7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8-12T19:29:48.532" v="16" actId="20577"/>
          <ac:spMkLst>
            <pc:docMk/>
            <pc:sldMk cId="0" sldId="273"/>
            <ac:spMk id="8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8-12T18:14:57.743" v="0" actId="20577"/>
          <ac:spMkLst>
            <pc:docMk/>
            <pc:sldMk cId="0" sldId="273"/>
            <ac:spMk id="11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8-12T19:29:38.639" v="15" actId="20577"/>
          <ac:spMkLst>
            <pc:docMk/>
            <pc:sldMk cId="0" sldId="273"/>
            <ac:spMk id="13" creationId="{00000000-0000-0000-0000-000000000000}"/>
          </ac:spMkLst>
        </pc:spChg>
        <pc:spChg chg="mod">
          <ac:chgData name="Mario Alberto Aragao Duarte" userId="a1fa1215-9303-47e9-8a35-409838d5fc84" providerId="ADAL" clId="{F37CF76F-DDD9-47A5-86AF-5CB8C488BF33}" dt="2026-08-12T18:15:01.483" v="2" actId="20577"/>
          <ac:spMkLst>
            <pc:docMk/>
            <pc:sldMk cId="0" sldId="273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12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103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450592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Matrizes e 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Sequencial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— Aula 9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gancho de hoje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60520" cy="2788920"/>
          </a:xfrm>
          <a:prstGeom prst="roundRect">
            <a:avLst>
              <a:gd name="adj" fmla="val 29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Pergunte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17373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acesso o 1º item? (lista[0])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último? (lista[-1])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uma lista? (sum/len)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no loop? (append)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46320" y="1280160"/>
            <a:ext cx="3840480" cy="2788920"/>
          </a:xfrm>
          <a:prstGeom prst="roundRect">
            <a:avLst>
              <a:gd name="adj" fmla="val 2951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O gancho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0" y="1828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organiza dados em UMA linha. Mas um boletim tem vários alunos E várias provas — é uma tabela.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0" y="274320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como procuro 1 aluno numa lista de 1000? Hoje: matrizes e busca. Antes, fechamos os métodos de lista que faltaram.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371600" cy="1371600"/>
          </a:xfrm>
          <a:prstGeom prst="ellipse">
            <a:avLst/>
          </a:prstGeom>
          <a:solidFill>
            <a:srgbClr val="6B46C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50592" y="217627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Completando os vetores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468880" y="2926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métodos de lista que faltaram na Aula 9 — matriz é “lista de listas”, então dominamos a lista 100% antes.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 a lista × devolve valor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que evita os 2 bugs mais comuns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Modificam a </a:t>
            </a:r>
            <a:r>
              <a:rPr lang="en-US" sz="1250" b="1" dirty="0" err="1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</a:t>
            </a:r>
            <a:r>
              <a:rPr lang="en-US" sz="1250" b="1" dirty="0">
                <a:solidFill>
                  <a:srgbClr val="2F8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devolvem None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" y="1874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 · extend · insert · remove · sort · reverse · clear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788920"/>
            <a:ext cx="4160520" cy="1280160"/>
          </a:xfrm>
          <a:prstGeom prst="roundRect">
            <a:avLst>
              <a:gd name="adj" fmla="val 6429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58368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Devolvem valor (não mudam a lista)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" y="32004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· count · copy
</a:t>
            </a:r>
            <a:r>
              <a:rPr lang="en-US" sz="1200" dirty="0">
                <a:solidFill>
                  <a:srgbClr val="5B6B7E"/>
                </a:solidFill>
              </a:rPr>
              <a:t>pop faz as DUAS (remove e devolve).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37760" y="132588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DECEC"/>
          </a:solidFill>
          <a:ln w="12700">
            <a:solidFill>
              <a:srgbClr val="E0525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120640" y="13258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O bug nº 1 das listas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= lista.sort()  → sua variável vira None! sort devolve None. O certo é só lista.sort(). 💻 Mostre ao vivo.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937760" y="288036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102352" y="2880360"/>
            <a:ext cx="3419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Conecte (Aula 8)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função que FAZ algo (efeito, devolve None) × função que RETORNA. sort faz; index retorna.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métodos, um a um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· extend · insert · pop · clear · index…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029200" cy="274320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280160"/>
          </a:xfrm>
          <a:prstGeom prst="roundRect">
            <a:avLst>
              <a:gd name="adj" fmla="val 5714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371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× extend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a.append([3,4]) → [1,2,[3,4]] (entra como 1 item!). extend adiciona vários.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0" y="278892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52160" y="278892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reverse() × sort(reverse=True)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só INVERTE a ordem atual; sort(reverse=True) ORDENA decrescente. Diferentes!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77216F3E-244B-AF2D-0FF9-8B4EC6644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909" y="1501419"/>
            <a:ext cx="3270939" cy="23552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“bug do apelido” + tradução JS→Python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copy() copia de verdade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3895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# NÃO copia!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a.copy()   # cópia real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b.append(4)    # muda a TAMBÉM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rgbClr val="E0525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40080" y="31089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 = a cria DOIS NOMES p/ a mesma lista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mexer num mexe no outro. Só copy() faz cópia independente.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840480" cy="241401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(PTD)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B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adicionar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append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achar posição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index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371600" cy="13716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50592" y="217627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Matrizes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468880" y="2926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matriz é uma lista de listas — a tabela (linhas × colunas) do mundo real.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matriz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listas = tabela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435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você vê tabelas?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1792" y="17556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tabuleiro (velha, xadrez)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planilha do Excel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mapa de assentos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boletim (alunos × provas)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2834640"/>
            <a:ext cx="32369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ideia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da lista “de fora” é, ele mesmo, uma lista (uma linha da tabela).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9768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(3 alunos × 3 provas):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00600" y="1737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577840" y="1737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55080" y="1737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27939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00600" y="2011680"/>
            <a:ext cx="777240" cy="457200"/>
          </a:xfrm>
          <a:prstGeom prst="rect">
            <a:avLst/>
          </a:prstGeom>
          <a:solidFill>
            <a:srgbClr val="E4F0E6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800600" y="2011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77840" y="2011680"/>
            <a:ext cx="777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577840" y="2011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55080" y="2011680"/>
            <a:ext cx="777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355080" y="2011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1780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7939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800600" y="2468880"/>
            <a:ext cx="777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800600" y="2468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577840" y="2468880"/>
            <a:ext cx="777240" cy="457200"/>
          </a:xfrm>
          <a:prstGeom prst="rect">
            <a:avLst/>
          </a:prstGeom>
          <a:solidFill>
            <a:srgbClr val="E4F0E6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5577840" y="2468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55080" y="2468880"/>
            <a:ext cx="777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6355080" y="2468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17804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Bruno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27939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00600" y="2926080"/>
            <a:ext cx="777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480060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577840" y="2926080"/>
            <a:ext cx="7772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557784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355080" y="2926080"/>
            <a:ext cx="777240" cy="457200"/>
          </a:xfrm>
          <a:prstGeom prst="rect">
            <a:avLst/>
          </a:prstGeom>
          <a:solidFill>
            <a:srgbClr val="E4F0E6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635508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17804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Carla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297680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diagonal principal (matriz[i][i])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Acessar · matriz[linha][coluna]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 linha, depois a coluna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[7.0, 8.0, 6.0],   # linha 0 → Ana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[9.0, 5.0, 7.5],   # linha 1 → Bruno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[4.0, 6.0, 8.0] ]  # linha 2 → Carla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notas[0]      # a LINHA da Ana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notas[0][1]   # 8.0 (linha 0, coluna 1)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3716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Regra de ouro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matriz[linha][coluna] — nessa ordem. E os DOIS índices começam em 0 (reforço da Aula 9).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0" y="288036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33872" y="2880360"/>
            <a:ext cx="2688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Previsão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notas[2][0]? (4.0) · notas[1][2]? (7.5)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notas[3][0] → IndexError (só há linhas 0,1,2)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Percorrer · loops aninhados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dentro de for (une Aulas 5 e 6)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linha in notas:      # FORA = linhas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valor in linha:  # DENTRO = colunas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print(valor, end=" ")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print()              # quebra a linha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108960"/>
            <a:ext cx="4608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Lembram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if dentro de if (Aula 5)? Aqui é for dentro de for. O de fora escolhe a linha; o de dentro percorre as colunas.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TODA a matriz: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0" y="1691640"/>
            <a:ext cx="3017520" cy="1554480"/>
          </a:xfrm>
          <a:prstGeom prst="roundRect">
            <a:avLst>
              <a:gd name="adj" fmla="val 35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815584" y="181965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998464" y="181965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6181344" y="181965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833872" y="2020824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linha in notas: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v in linha: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v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338328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852160" y="3383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É o acumulador (Aula 6)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dentro dos DOIS loops.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média por linha e coluna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insight central das matrizes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5120640" cy="2606040"/>
          </a:xfrm>
          <a:prstGeom prst="roundRect">
            <a:avLst>
              <a:gd name="adj" fmla="val 2105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8097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média por ALUNO (linha) — fácil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range(len(notas)):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 = sum(notas[i]) / len(notas[i])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print(f"{alunos[i]}: {media:.1f}")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média da PROVA 1 (coluna 0) — exige loop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= 0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range(len(notas)):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soma += notas[i][0]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137160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943600" y="137160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O insight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é fácil: sum(notas[i]) pega a linha inteira. COLUNA exige percorrer notas[i][0] para todo i. Domine essa diferença — é o coração das matrizes.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371600" cy="13716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157984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450592" y="217627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Busca: sequencial e binária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468880" y="2926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procurar um valor num vetor — e por que a estratégia muda tudo.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sequencial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item por item — a força bruta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937760" cy="1965960"/>
          </a:xfrm>
          <a:prstGeom prst="roundRect">
            <a:avLst>
              <a:gd name="adj" fmla="val 2791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6268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busca_sequencial(lista, alvo):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range(len(lista)):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lista[i] == alvo: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i     # achou!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            # não existe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47472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3474720"/>
            <a:ext cx="4608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Analogia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um nome numa lista bagunçada: só lendo um por um.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0" y="137160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52160" y="13716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No pior caso…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lista de 1000, pode fazer 1000 comparações. Funciona SEMPRE (ordenada ou não), mas é lenta.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0" y="292608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833872" y="2926080"/>
            <a:ext cx="2688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Conexão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index() da lista é, por dentro, uma busca sequencial pronta.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binária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metade a cada passo — exige ORDENADA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846320" cy="2286000"/>
          </a:xfrm>
          <a:prstGeom prst="roundRect">
            <a:avLst>
              <a:gd name="adj" fmla="val 24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700784"/>
            <a:ext cx="4535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busca_binaria(lista, alvo):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inicio, fim = 0, len(lista)-1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inicio &lt;= fim: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meio = (inicio + fim) // 2   # o // da A3!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lista[meio] == alvo: return meio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lista[meio] &lt; alvo: inicio = meio+1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 fim = meio-1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1371600"/>
            <a:ext cx="3291840" cy="1463040"/>
          </a:xfrm>
          <a:prstGeom prst="roundRect">
            <a:avLst>
              <a:gd name="adj" fmla="val 562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577840" y="1481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· achar 9 em [1,3,5,7,9,11,13]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77840" y="1874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meio=7 </a:t>
            </a: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(menor→sobe)
</a:t>
            </a: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meio=11 </a:t>
            </a: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(maior→desce)
</a:t>
            </a:r>
            <a:r>
              <a:rPr lang="en-US" sz="1100" b="1" dirty="0">
                <a:solidFill>
                  <a:srgbClr val="2F8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meio=9 </a:t>
            </a: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achou! 3 comparações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94960" y="297180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12700">
            <a:solidFill>
              <a:srgbClr val="E0525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577840" y="2971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O número que impressiona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milhão de itens: sequencial até 1.000.000 comparações; binária no MÁXIMO 20.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Sequencial × binária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uma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943600" cy="2514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Binária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Precisa ordenar?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milhão de itens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1.000.000 passos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máx. ~20 passos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linear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log.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pequena/desordenada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 e ordenada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583680" y="1371600"/>
            <a:ext cx="2103120" cy="2651760"/>
          </a:xfrm>
          <a:prstGeom prst="roundRect">
            <a:avLst>
              <a:gd name="adj" fmla="val 3478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6766560" y="1371600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 pegadinha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binária SÓ funciona em lista ordenada. Se está desordenada, ordenar (sort) tem custo — p/ uma busca única pequena, a sequencial pode compensar.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· Jogo da Velha (matriz 3×3)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UC1 quase inteira num jogo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599"/>
            <a:ext cx="5120640" cy="3518747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49961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49961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49961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188720" y="1444752"/>
            <a:ext cx="48097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tabuleiro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[[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jogador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"X"</a:t>
            </a:r>
            <a:endParaRPr lang="pt-BR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pt-BR" sz="8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checar_vitoria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pt-BR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pt-BR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pt-BR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pt-BR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tabuleiro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sep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"Linha: "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8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Col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tabuleiro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pt-BR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tabuleiro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jogador</a:t>
            </a:r>
            <a:endParaRPr lang="pt-BR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checar_vitoria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tabuleiro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jogador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jogador</a:t>
            </a:r>
            <a:r>
              <a:rPr lang="pt-BR" sz="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venceu!"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pt-BR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jogador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jogador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"X"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pt-BR" sz="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"X"</a:t>
            </a:r>
            <a:endParaRPr lang="pt-BR" sz="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669280" y="1371600"/>
            <a:ext cx="3017520" cy="1828800"/>
          </a:xfrm>
          <a:prstGeom prst="roundRect">
            <a:avLst>
              <a:gd name="adj" fmla="val 45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85216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33872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(hoje) + funções (A8)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while/break/continue (A6)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comparação encadeada (A4/A5)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0" y="32918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85216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+ versione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travou? só o Quadrado Mágico. git commit ao fim.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🪝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Gancho · o conceito de “registro”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para a Aula 11 (POO)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21792" y="1325880"/>
            <a:ext cx="7900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 da Ana estão espalhados: nome numa lista, notas em outra. E se eu quisesse guardar nome + notas + matrícula JUNTOS, como um cadastro único?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4937760" cy="1234440"/>
          </a:xfrm>
          <a:prstGeom prst="roundRect">
            <a:avLst>
              <a:gd name="adj" fmla="val 4444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3504" y="236829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786384" y="236829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969264" y="236829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2569464"/>
            <a:ext cx="4626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 = {"nome": "Ana",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"matricula": 2026,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"notas": [7.0, 8.0, 6.0]}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print(aluno["nome"])   # Ana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0" y="224028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852160" y="224028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
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agrupa, num só “pacote”, campos de tipos diferentes que descrevem UM mesmo item. Prévia com dict.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611880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58368" y="3611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Na Aula 11 (POO):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é o “molde” para criar registros com dados E funções próprias. O dict de hoje é o aperitivo; a classe é o prato principal.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Atividades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Indicador 3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4160520" cy="2788920"/>
          </a:xfrm>
          <a:prstGeom prst="roundRect">
            <a:avLst>
              <a:gd name="adj" fmla="val 29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🧑‍🏫 Guiados (juntos)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8368" y="17830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3931920" cy="2788920"/>
          </a:xfrm>
          <a:prstGeom prst="roundRect">
            <a:avLst>
              <a:gd name="adj" fmla="val 2951"/>
            </a:avLst>
          </a:prstGeom>
          <a:solidFill>
            <a:srgbClr val="FDECEC"/>
          </a:solidFill>
          <a:ln w="12700">
            <a:solidFill>
              <a:srgbClr val="E05252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56048" y="1435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🧑‍💻 </a:t>
            </a:r>
            <a:r>
              <a:rPr lang="en-US" sz="1450" b="1" dirty="0" err="1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Individuais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956048" y="17830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endParaRPr lang="en-US" sz="1050" dirty="0"/>
          </a:p>
          <a:p>
            <a:pPr marL="0" indent="0">
              <a:lnSpc>
                <a:spcPct val="10300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geral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essencial da aula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4160520" cy="2743200"/>
          </a:xfrm>
          <a:prstGeom prst="roundRect">
            <a:avLst>
              <a:gd name="adj" fmla="val 3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55448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Vetores: muda a lista (in-place, None) × devolve valor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lista = lista.sort() e o “bug do apelido” (use copy)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= lista de listas · matriz[linha][coluna] (ambos em 0)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com loops aninhados; linha é fácil, coluna exige loop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54880" y="1371600"/>
            <a:ext cx="3931920" cy="2743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956048" y="15544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sequencial: funciona sempre, lenta (O(n))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binária: rápida (O(log n)), exige ORDENADA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Registro: agrupar campos de um item (prévia com dict)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Indicador 3 (vetores e matrizes)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&gt;&gt;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— Aula 11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755648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a Objetos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11: criar um molde (classe) para “Conta”, com dados e operações (saque, depósito) juntos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a Programação Orientada a Objetos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métodos que você usou nas listas (lista.append()) já eram um aperitivo dela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Python · UC1 · Aula 10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5156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10 concluída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e busca: organizar e encontrar dados com eficiência.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3 fechado · Próxima: Aula 11 — Orientação a Objetos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2164</Words>
  <Application>Microsoft Office PowerPoint</Application>
  <PresentationFormat>Apresentação na tela (16:9)</PresentationFormat>
  <Paragraphs>309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Consolas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6</cp:revision>
  <dcterms:created xsi:type="dcterms:W3CDTF">2026-08-11T12:51:31Z</dcterms:created>
  <dcterms:modified xsi:type="dcterms:W3CDTF">2026-08-12T21:25:14Z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2026-08-11T13:07:42Z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40f643e1-d1e6-408f-9861-8f22d8ce1b3f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