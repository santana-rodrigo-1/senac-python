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1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print() ao CRUD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matéria de cada vez — construindo um Sistema de Loja do zero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749040"/>
            <a:ext cx="7772400" cy="502920"/>
          </a:xfrm>
          <a:prstGeom prst="roundRect">
            <a:avLst>
              <a:gd name="adj" fmla="val 18182"/>
            </a:avLst>
          </a:prstGeom>
          <a:solidFill>
            <a:srgbClr val="2234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3749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→ dados → lógica → repetição → funções → listas → matrizes → busca → CRUD → POO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matérias · cada exercício de hoje vira parte do sistema de amanhã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informações na tela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457200" cy="82296"/>
          </a:xfrm>
          <a:prstGeom prst="roundRect">
            <a:avLst>
              <a:gd name="adj" fmla="val 55556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print("Bem-vindo à Loja Python!")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voz do programa: tudo que o sistema “fala” com o usuário sai por aqui.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tela inicial da loja com o nome do sistema e uma mensagem de boas-vindas.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tela do sistema aparece.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+ INPUT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dados e ouvir o usuário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914400" cy="82296"/>
          </a:xfrm>
          <a:prstGeom prst="roundRect">
            <a:avLst>
              <a:gd name="adj" fmla="val 55556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input("Produto: 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= float(input("Preço: "))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 = int(input("Estoque: "))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guardar dados, o sistema esquece tudo. input() é o ouvido; a variável, a memória.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um produto recebendo nome, preço e estoque.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começa a ter dados.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cálculos com os dados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1371600" cy="82296"/>
          </a:xfrm>
          <a:prstGeom prst="roundRect">
            <a:avLst>
              <a:gd name="adj" fmla="val 55556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preco * quantidade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desconto = total * 0.10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total - desconto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que não calcula preço não vende. Aqui o dado vira dinheiro.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total da compra, o desconto e o valor final.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começa a calcular.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· ELIF · ELSE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decisões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1828800" cy="82296"/>
          </a:xfrm>
          <a:prstGeom prst="roundRect">
            <a:avLst>
              <a:gd name="adj" fmla="val 5555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estoque &gt; 0: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print("Disponível")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print("Esgotado")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começa a pensar: “tem estoque? então mostra Disponível”.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se o produto está disponível e aplique uma regra de desconto.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ganha regras.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· OR · NOT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2286000" cy="82296"/>
          </a:xfrm>
          <a:prstGeom prst="roundRect">
            <a:avLst>
              <a:gd name="adj" fmla="val 5555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20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"1234“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bloqueado = False</a:t>
            </a:r>
          </a:p>
          <a:p>
            <a:pPr marL="0" indent="0">
              <a:lnSpc>
                <a:spcPct val="105000"/>
              </a:lnSpc>
              <a:buNone/>
            </a:pPr>
            <a:endParaRPr lang="pt-BR" sz="100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&gt;= 18 </a:t>
            </a: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 == "1234" </a:t>
            </a: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bloqueado:    print("Acesso liberado")</a:t>
            </a:r>
          </a:p>
          <a:p>
            <a:pPr marL="0" indent="0">
              <a:lnSpc>
                <a:spcPct val="105000"/>
              </a:lnSpc>
              <a:buNone/>
            </a:pPr>
            <a:endParaRPr lang="pt-BR" sz="100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&gt;= 18 </a:t>
            </a: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 == "1234":  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print("Acesso limitado")</a:t>
            </a:r>
          </a:p>
          <a:p>
            <a:pPr marL="0" indent="0">
              <a:lnSpc>
                <a:spcPct val="105000"/>
              </a:lnSpc>
              <a:buNone/>
            </a:pPr>
            <a:endParaRPr lang="pt-BR" sz="100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pt-BR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print("Acesso negado")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reais combinam condições: “maior de idade E senha certa”.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regra de acesso ao sistema usando condições lógicas.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ficam mais completas.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· WHILE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ações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produto in produtos: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print(produto)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opcao != 5: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tem muitos produtos e o menu roda o dia todo. Repetir é essencial.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menu com while e liste os produtos usando for.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passa a interagir continuamente.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+ DEPURAÇÃO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valores e achar erros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3200400" cy="82296"/>
          </a:xfrm>
          <a:prstGeom prst="roundRect">
            <a:avLst>
              <a:gd name="adj" fmla="val 55556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= 10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 = 3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quantidade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   # confere: dá 30?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confiar, confira. Bug achado na mesa não chega no cliente.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um código com erros e explique o que aconteceu.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aprende a testar antes de avançar.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tarefas e reutilizar (DRY)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3657600" cy="82296"/>
          </a:xfrm>
          <a:prstGeom prst="roundRect">
            <a:avLst>
              <a:gd name="adj" fmla="val 55556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calcular_total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qtd):   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qtd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15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total_mouse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calcular_total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(80, 2)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total_teclado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calcular_total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(120,3)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150" dirty="0">
              <a:solidFill>
                <a:srgbClr val="E6ED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print("Mouse:",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total_mouse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Teclado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:", </a:t>
            </a:r>
            <a:r>
              <a:rPr lang="en-US" sz="115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total_teclado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vez, use sempre. O menu gigante vira blocos organizados.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funções para cadastrar, listar e calcular.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deixa de ser um bloco gigante.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VETORES / LISTAS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vários valores juntos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4114800" cy="82296"/>
          </a:xfrm>
          <a:prstGeom prst="roundRect">
            <a:avLst>
              <a:gd name="adj" fmla="val 55556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 = ["Mouse", "Teclado"]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produtos.append("Monitor")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guarda um produto; uma lista guarda o estoque inteiro.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Adicione, remova, consulte e conte produtos.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temos vários produtos.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com linhas e colunas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4572000" cy="82296"/>
          </a:xfrm>
          <a:prstGeom prst="roundRect">
            <a:avLst>
              <a:gd name="adj" fmla="val 55556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 = [[10,20,30],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[40,50,60],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[70,80,90]]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Tabelas: produtos × características, ou vendas × meses. Linhas e colunas.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uma matriz 3×3 e calcule a soma e a diagonal principal.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entende estruturas bidimensionais.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SEQUENCIAL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item por item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5029200" cy="82296"/>
          </a:xfrm>
          <a:prstGeom prst="roundRect">
            <a:avLst>
              <a:gd name="adj" fmla="val 55556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produto in produtos: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produto == busca: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print("Encontrado")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“Cadê o Mouse?” O jeito simples: olhar um por um até achar.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um produto pelo nome ou código.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começa a funcionar.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BINÁRIA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o espaço de busca pela metade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5486400" cy="82296"/>
          </a:xfrm>
          <a:prstGeom prst="roundRect">
            <a:avLst>
              <a:gd name="adj" fmla="val 55556"/>
            </a:avLst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 = 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= len(codigos) - 1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 = (inicio + fim) // 2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lista ORDENADA, corte pela metade a cada passo: 1 milhão vira ~20.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uma busca muito mais eficiente.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6400800" cy="82296"/>
          </a:xfrm>
          <a:prstGeom prst="roundRect">
            <a:avLst>
              <a:gd name="adj" fmla="val 55556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Cadastrar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2 - Listar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3 - Alterar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4 - Excluir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5 - Sair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faz o mesmo: cadastrar, listar, alterar, excluir. É o esqueleto.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CRUD de produtos usando funções, listas e dicionários.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o primeiro sistema COMPLETO.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+ OBJETO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é o molde; objeto é a instância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6858000" cy="82296"/>
          </a:xfrm>
          <a:prstGeom prst="roundRect">
            <a:avLst>
              <a:gd name="adj" fmla="val 55556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nome, preco):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self.nome = nome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self.preco = preco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de espalhar dados: crie o molde “Produto” e fabrique quantos quiser.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classe Produto e três objetos.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passam a ser organizados em objetos.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+ ENCAPSULAMENTO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age e protege seus dados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7315200" cy="82296"/>
          </a:xfrm>
          <a:prstGeom prst="roundRect">
            <a:avLst>
              <a:gd name="adj" fmla="val 55556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vender(self, qtd):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self.__estoque -= qtd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protege o próprio estoque: ninguém mexe direto, só pelos métodos.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vender(), repor() e consultar_estoque(), evitando alteração direta.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passa a proteger o seu estado.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 + POLIMORFISMO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e especializar comportamentos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5EA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7772400" cy="82296"/>
          </a:xfrm>
          <a:prstGeom prst="roundRect">
            <a:avLst>
              <a:gd name="adj" fmla="val 55556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1700784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Produto: ...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Eletronico(Produto): ...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produto.calcular_preco_final()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40680" y="13716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05272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que importa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Eletrônico é um Produto com regras próprias. Reaproveite a base e especialize.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406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605272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Exercício
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Eletronico e Alimenticio com regras diferentes de preço final.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4F0E6"/>
          </a:solidFill>
          <a:ln w="12700">
            <a:solidFill>
              <a:srgbClr val="BFE0C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5836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 sistema evolui 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 fica completa: reúso + comportamentos específicos.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85216" cy="585216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548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POO — tudo se junta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73936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loja profissional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52360" y="4572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52360" y="457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8229600" cy="82296"/>
          </a:xfrm>
          <a:prstGeom prst="roundRect">
            <a:avLst>
              <a:gd name="adj" fmla="val 55556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Produto (classe)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18745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· nome · preco · estoque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vender() · repor()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3716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410712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🔁 CRUD (operações)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10712" y="18745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Consultar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· Excluir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3716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99632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Regras (validação)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99632" y="18745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único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não fica negativo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válido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223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da jornada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18488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enxerga o caminho completo — e sabe construir cada pedaço.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720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63040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64208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664208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70048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871216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871216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77056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78224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078224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84064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85232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285232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91072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92240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49224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0" y="18745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99248" y="187452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699248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926080"/>
            <a:ext cx="8092440" cy="1371600"/>
          </a:xfrm>
          <a:prstGeom prst="roundRect">
            <a:avLst>
              <a:gd name="adj" fmla="val 6667"/>
            </a:avLst>
          </a:prstGeom>
          <a:solidFill>
            <a:srgbClr val="2234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Objetivo final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77240" y="347472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não apenas copia código: ele entende a EVOLUÇÃO e consegue construir o sistema passo a passo — do print() de boas-vindas ao CRUD orientado a objetos.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Trilha do print() ao CRUD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C346D81A-C69C-4A10-9EE1-1D9E61D34A72}"/>
</file>

<file path=customXml/itemProps2.xml><?xml version="1.0" encoding="utf-8"?>
<ds:datastoreItem xmlns:ds="http://schemas.openxmlformats.org/officeDocument/2006/customXml" ds:itemID="{82B4D1E1-D91D-4A24-837E-B41D855498D9}"/>
</file>

<file path=customXml/itemProps3.xml><?xml version="1.0" encoding="utf-8"?>
<ds:datastoreItem xmlns:ds="http://schemas.openxmlformats.org/officeDocument/2006/customXml" ds:itemID="{7D26EBCE-0934-4FB6-96B1-255B1075A17B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1650</Words>
  <Application>Microsoft Office PowerPoint</Application>
  <PresentationFormat>Apresentação na tela (16:9)</PresentationFormat>
  <Paragraphs>267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5</cp:revision>
  <dcterms:created xsi:type="dcterms:W3CDTF">2026-08-17T12:14:51Z</dcterms:created>
  <dcterms:modified xsi:type="dcterms:W3CDTF">2026-08-17T21:20:14Z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2026-08-17T12:24:40Z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2b0289b0-bb74-4abd-8d78-425135a7ad6f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