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93" r:id="rId9"/>
    <p:sldId id="294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95" r:id="rId27"/>
    <p:sldId id="289" r:id="rId28"/>
    <p:sldId id="290" r:id="rId29"/>
    <p:sldId id="29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2BC7B7-0041-4BB6-89B3-52E9F7D8D6D7}" v="5" dt="2026-07-14T22:31:12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undo redo custSel addSld delSld modSld sldOrd">
      <pc:chgData name="Mario Alberto Aragao Duarte" userId="a1fa1215-9303-47e9-8a35-409838d5fc84" providerId="ADAL" clId="{F37CF76F-DDD9-47A5-86AF-5CB8C488BF33}" dt="2026-07-14T22:31:17.104" v="109"/>
      <pc:docMkLst>
        <pc:docMk/>
      </pc:docMkLst>
      <pc:sldChg chg="del">
        <pc:chgData name="Mario Alberto Aragao Duarte" userId="a1fa1215-9303-47e9-8a35-409838d5fc84" providerId="ADAL" clId="{F37CF76F-DDD9-47A5-86AF-5CB8C488BF33}" dt="2026-07-14T19:49:25.225" v="2" actId="47"/>
        <pc:sldMkLst>
          <pc:docMk/>
          <pc:sldMk cId="0" sldId="280"/>
        </pc:sldMkLst>
      </pc:sldChg>
      <pc:sldChg chg="modSp mod">
        <pc:chgData name="Mario Alberto Aragao Duarte" userId="a1fa1215-9303-47e9-8a35-409838d5fc84" providerId="ADAL" clId="{F37CF76F-DDD9-47A5-86AF-5CB8C488BF33}" dt="2026-07-14T19:49:46.435" v="6" actId="20577"/>
        <pc:sldMkLst>
          <pc:docMk/>
          <pc:sldMk cId="0" sldId="281"/>
        </pc:sldMkLst>
        <pc:spChg chg="mod">
          <ac:chgData name="Mario Alberto Aragao Duarte" userId="a1fa1215-9303-47e9-8a35-409838d5fc84" providerId="ADAL" clId="{F37CF76F-DDD9-47A5-86AF-5CB8C488BF33}" dt="2026-07-14T19:49:31.945" v="4" actId="20577"/>
          <ac:spMkLst>
            <pc:docMk/>
            <pc:sldMk cId="0" sldId="281"/>
            <ac:spMk id="3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7-14T19:49:46.435" v="6" actId="20577"/>
          <ac:spMkLst>
            <pc:docMk/>
            <pc:sldMk cId="0" sldId="281"/>
            <ac:spMk id="8" creationId="{00000000-0000-0000-0000-000000000000}"/>
          </ac:spMkLst>
        </pc:spChg>
      </pc:sldChg>
      <pc:sldChg chg="modSp mod">
        <pc:chgData name="Mario Alberto Aragao Duarte" userId="a1fa1215-9303-47e9-8a35-409838d5fc84" providerId="ADAL" clId="{F37CF76F-DDD9-47A5-86AF-5CB8C488BF33}" dt="2026-07-14T19:55:49.964" v="31" actId="20577"/>
        <pc:sldMkLst>
          <pc:docMk/>
          <pc:sldMk cId="0" sldId="282"/>
        </pc:sldMkLst>
        <pc:spChg chg="mod">
          <ac:chgData name="Mario Alberto Aragao Duarte" userId="a1fa1215-9303-47e9-8a35-409838d5fc84" providerId="ADAL" clId="{F37CF76F-DDD9-47A5-86AF-5CB8C488BF33}" dt="2026-07-14T19:55:49.964" v="31" actId="20577"/>
          <ac:spMkLst>
            <pc:docMk/>
            <pc:sldMk cId="0" sldId="282"/>
            <ac:spMk id="8" creationId="{00000000-0000-0000-0000-000000000000}"/>
          </ac:spMkLst>
        </pc:spChg>
      </pc:sldChg>
      <pc:sldChg chg="delSp modSp mod">
        <pc:chgData name="Mario Alberto Aragao Duarte" userId="a1fa1215-9303-47e9-8a35-409838d5fc84" providerId="ADAL" clId="{F37CF76F-DDD9-47A5-86AF-5CB8C488BF33}" dt="2026-07-14T19:49:19.552" v="1" actId="478"/>
        <pc:sldMkLst>
          <pc:docMk/>
          <pc:sldMk cId="0" sldId="284"/>
        </pc:sldMkLst>
        <pc:spChg chg="del">
          <ac:chgData name="Mario Alberto Aragao Duarte" userId="a1fa1215-9303-47e9-8a35-409838d5fc84" providerId="ADAL" clId="{F37CF76F-DDD9-47A5-86AF-5CB8C488BF33}" dt="2026-07-14T19:49:19.552" v="1" actId="478"/>
          <ac:spMkLst>
            <pc:docMk/>
            <pc:sldMk cId="0" sldId="284"/>
            <ac:spMk id="25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7-14T19:49:17.582" v="0" actId="20577"/>
          <ac:spMkLst>
            <pc:docMk/>
            <pc:sldMk cId="0" sldId="284"/>
            <ac:spMk id="26" creationId="{00000000-0000-0000-0000-000000000000}"/>
          </ac:spMkLst>
        </pc:spChg>
      </pc:sldChg>
      <pc:sldChg chg="addSp delSp modSp mod">
        <pc:chgData name="Mario Alberto Aragao Duarte" userId="a1fa1215-9303-47e9-8a35-409838d5fc84" providerId="ADAL" clId="{F37CF76F-DDD9-47A5-86AF-5CB8C488BF33}" dt="2026-07-14T19:54:32.065" v="14" actId="478"/>
        <pc:sldMkLst>
          <pc:docMk/>
          <pc:sldMk cId="0" sldId="286"/>
        </pc:sldMkLst>
        <pc:spChg chg="add del">
          <ac:chgData name="Mario Alberto Aragao Duarte" userId="a1fa1215-9303-47e9-8a35-409838d5fc84" providerId="ADAL" clId="{F37CF76F-DDD9-47A5-86AF-5CB8C488BF33}" dt="2026-07-14T19:54:32.065" v="14" actId="478"/>
          <ac:spMkLst>
            <pc:docMk/>
            <pc:sldMk cId="0" sldId="286"/>
            <ac:spMk id="16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7-14T19:54:31.609" v="13" actId="20577"/>
          <ac:spMkLst>
            <pc:docMk/>
            <pc:sldMk cId="0" sldId="286"/>
            <ac:spMk id="20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7-14T19:54:30.725" v="12" actId="6549"/>
          <ac:spMkLst>
            <pc:docMk/>
            <pc:sldMk cId="0" sldId="286"/>
            <ac:spMk id="22" creationId="{00000000-0000-0000-0000-000000000000}"/>
          </ac:spMkLst>
        </pc:spChg>
      </pc:sldChg>
      <pc:sldChg chg="addSp delSp modSp mod">
        <pc:chgData name="Mario Alberto Aragao Duarte" userId="a1fa1215-9303-47e9-8a35-409838d5fc84" providerId="ADAL" clId="{F37CF76F-DDD9-47A5-86AF-5CB8C488BF33}" dt="2026-07-14T19:57:26.290" v="105" actId="478"/>
        <pc:sldMkLst>
          <pc:docMk/>
          <pc:sldMk cId="0" sldId="287"/>
        </pc:sldMkLst>
        <pc:spChg chg="mod">
          <ac:chgData name="Mario Alberto Aragao Duarte" userId="a1fa1215-9303-47e9-8a35-409838d5fc84" providerId="ADAL" clId="{F37CF76F-DDD9-47A5-86AF-5CB8C488BF33}" dt="2026-07-14T19:57:22.165" v="104" actId="6549"/>
          <ac:spMkLst>
            <pc:docMk/>
            <pc:sldMk cId="0" sldId="287"/>
            <ac:spMk id="5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7-14T19:57:26.290" v="105" actId="478"/>
          <ac:spMkLst>
            <pc:docMk/>
            <pc:sldMk cId="0" sldId="287"/>
            <ac:spMk id="6" creationId="{00000000-0000-0000-0000-000000000000}"/>
          </ac:spMkLst>
        </pc:spChg>
        <pc:spChg chg="add del mod">
          <ac:chgData name="Mario Alberto Aragao Duarte" userId="a1fa1215-9303-47e9-8a35-409838d5fc84" providerId="ADAL" clId="{F37CF76F-DDD9-47A5-86AF-5CB8C488BF33}" dt="2026-07-14T19:56:39.490" v="55" actId="478"/>
          <ac:spMkLst>
            <pc:docMk/>
            <pc:sldMk cId="0" sldId="287"/>
            <ac:spMk id="9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7-14T19:56:51.610" v="66" actId="478"/>
          <ac:spMkLst>
            <pc:docMk/>
            <pc:sldMk cId="0" sldId="287"/>
            <ac:spMk id="10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7-14T19:56:51.610" v="66" actId="478"/>
          <ac:spMkLst>
            <pc:docMk/>
            <pc:sldMk cId="0" sldId="287"/>
            <ac:spMk id="11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7-14T19:56:51.610" v="66" actId="478"/>
          <ac:spMkLst>
            <pc:docMk/>
            <pc:sldMk cId="0" sldId="287"/>
            <ac:spMk id="12" creationId="{00000000-0000-0000-0000-000000000000}"/>
          </ac:spMkLst>
        </pc:spChg>
        <pc:spChg chg="add del mod">
          <ac:chgData name="Mario Alberto Aragao Duarte" userId="a1fa1215-9303-47e9-8a35-409838d5fc84" providerId="ADAL" clId="{F37CF76F-DDD9-47A5-86AF-5CB8C488BF33}" dt="2026-07-14T19:56:39.634" v="56" actId="478"/>
          <ac:spMkLst>
            <pc:docMk/>
            <pc:sldMk cId="0" sldId="287"/>
            <ac:spMk id="13" creationId="{00000000-0000-0000-0000-000000000000}"/>
          </ac:spMkLst>
        </pc:spChg>
        <pc:spChg chg="add del">
          <ac:chgData name="Mario Alberto Aragao Duarte" userId="a1fa1215-9303-47e9-8a35-409838d5fc84" providerId="ADAL" clId="{F37CF76F-DDD9-47A5-86AF-5CB8C488BF33}" dt="2026-07-14T19:56:40.202" v="60" actId="478"/>
          <ac:spMkLst>
            <pc:docMk/>
            <pc:sldMk cId="0" sldId="287"/>
            <ac:spMk id="14" creationId="{00000000-0000-0000-0000-000000000000}"/>
          </ac:spMkLst>
        </pc:spChg>
        <pc:spChg chg="add del">
          <ac:chgData name="Mario Alberto Aragao Duarte" userId="a1fa1215-9303-47e9-8a35-409838d5fc84" providerId="ADAL" clId="{F37CF76F-DDD9-47A5-86AF-5CB8C488BF33}" dt="2026-07-14T19:56:40.235" v="61" actId="478"/>
          <ac:spMkLst>
            <pc:docMk/>
            <pc:sldMk cId="0" sldId="287"/>
            <ac:spMk id="15" creationId="{00000000-0000-0000-0000-000000000000}"/>
          </ac:spMkLst>
        </pc:spChg>
        <pc:spChg chg="add del">
          <ac:chgData name="Mario Alberto Aragao Duarte" userId="a1fa1215-9303-47e9-8a35-409838d5fc84" providerId="ADAL" clId="{F37CF76F-DDD9-47A5-86AF-5CB8C488BF33}" dt="2026-07-14T19:56:40.180" v="59" actId="478"/>
          <ac:spMkLst>
            <pc:docMk/>
            <pc:sldMk cId="0" sldId="287"/>
            <ac:spMk id="16" creationId="{00000000-0000-0000-0000-000000000000}"/>
          </ac:spMkLst>
        </pc:spChg>
        <pc:spChg chg="add del">
          <ac:chgData name="Mario Alberto Aragao Duarte" userId="a1fa1215-9303-47e9-8a35-409838d5fc84" providerId="ADAL" clId="{F37CF76F-DDD9-47A5-86AF-5CB8C488BF33}" dt="2026-07-14T19:56:00.096" v="36" actId="22"/>
          <ac:spMkLst>
            <pc:docMk/>
            <pc:sldMk cId="0" sldId="287"/>
            <ac:spMk id="22" creationId="{F28EF623-AC70-8BC5-DFC8-28DAF81EC42E}"/>
          </ac:spMkLst>
        </pc:spChg>
        <pc:picChg chg="add del mod">
          <ac:chgData name="Mario Alberto Aragao Duarte" userId="a1fa1215-9303-47e9-8a35-409838d5fc84" providerId="ADAL" clId="{F37CF76F-DDD9-47A5-86AF-5CB8C488BF33}" dt="2026-07-14T19:55:02.089" v="24" actId="22"/>
          <ac:picMkLst>
            <pc:docMk/>
            <pc:sldMk cId="0" sldId="287"/>
            <ac:picMk id="20" creationId="{81374339-86CE-9979-D596-DD85B70EFA4C}"/>
          </ac:picMkLst>
        </pc:picChg>
        <pc:picChg chg="add del mod">
          <ac:chgData name="Mario Alberto Aragao Duarte" userId="a1fa1215-9303-47e9-8a35-409838d5fc84" providerId="ADAL" clId="{F37CF76F-DDD9-47A5-86AF-5CB8C488BF33}" dt="2026-07-14T19:56:56.230" v="67" actId="1076"/>
          <ac:picMkLst>
            <pc:docMk/>
            <pc:sldMk cId="0" sldId="287"/>
            <ac:picMk id="24" creationId="{95DA4860-D247-7A92-180A-0C6BBB217F4E}"/>
          </ac:picMkLst>
        </pc:picChg>
      </pc:sldChg>
      <pc:sldChg chg="del">
        <pc:chgData name="Mario Alberto Aragao Duarte" userId="a1fa1215-9303-47e9-8a35-409838d5fc84" providerId="ADAL" clId="{F37CF76F-DDD9-47A5-86AF-5CB8C488BF33}" dt="2026-07-14T22:31:03.394" v="106" actId="2696"/>
        <pc:sldMkLst>
          <pc:docMk/>
          <pc:sldMk cId="0" sldId="288"/>
        </pc:sldMkLst>
      </pc:sldChg>
      <pc:sldChg chg="add ord setBg">
        <pc:chgData name="Mario Alberto Aragao Duarte" userId="a1fa1215-9303-47e9-8a35-409838d5fc84" providerId="ADAL" clId="{F37CF76F-DDD9-47A5-86AF-5CB8C488BF33}" dt="2026-07-14T22:31:17.104" v="109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86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8BD6-68A9-0BE0-A974-5546BBEF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879FE-A97B-DBE5-79AD-37A64D703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8B11-3A9A-9554-10A8-2D6447B9E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FD668-80DE-0CBC-4F8C-2B0E428C8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39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Switch Case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Lógicos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(240 min) · Pré-requisitos: Aulas 1 a 4 · SENAC-RJ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 4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problema que abre 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1600200"/>
          </a:xfrm>
          <a:prstGeom prst="roundRect">
            <a:avLst>
              <a:gd name="adj" fmla="val 514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37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Comparar: = ou ==?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para no primeiro...?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define o “dentro” do if?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31455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31455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31455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3346704"/>
            <a:ext cx="3849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senha == "1234":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print("Acesso liberado")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46320" y="1280160"/>
            <a:ext cx="3840480" cy="2834640"/>
          </a:xfrm>
          <a:prstGeom prst="roundRect">
            <a:avLst>
              <a:gd name="adj" fmla="val 290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gancho de hoje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SACAR, basta a senha estar certa?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0" y="2286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— precisa ter saldo também!”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29200" y="283464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correta E saldo E valor válido — numa decisão só. Hoje aprendemos a COMBINAR condições.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6B46C1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24912" y="19659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Case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Case — o que 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UM valor contra VÁRIOS casos fixos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1480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4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Analogia: a portaria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 101 → chama o 101 · 102 → o 102 · senão → “não existe”. Não avalia faixas: compara opções fixas.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30998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30998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30998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3300984"/>
            <a:ext cx="3803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(opcao) {   // JS/C/Java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...; break;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...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37760" y="1371600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20640" y="1508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Para que serve o break?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120640" y="187452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a execução “escorrega” para o próximo case — o bug famoso chamado fall-through.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120640" y="29260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30352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 Python,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break — ele não escorrega. Um problema a menos.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NÃO tinha switch!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quase 30 anos — chegou só no 3.10 (2021)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filosofia da linguagem era: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if/elif/else já resolve — e com mais clareza”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Python 3.10 em diante existe o equivalente — e nem se chama switch: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5720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 case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9200" y="137160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21208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Verifique a versão ANTES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terminal: python --version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3.10 → SyntaxError.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2971800"/>
            <a:ext cx="3657600" cy="1143000"/>
          </a:xfrm>
          <a:prstGeom prst="roundRect">
            <a:avLst>
              <a:gd name="adj" fmla="val 72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212080" y="29718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turma estiver em versão antiga: ensine só o conceito e use if/elif.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escreve o match/case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“_” é o curinga (o else do match)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846320" cy="2651760"/>
          </a:xfrm>
          <a:prstGeom prst="roundRect">
            <a:avLst>
              <a:gd name="adj" fmla="val 206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5354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opcao = input("Opção: 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opcao: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"1":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print("Depositar")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"2":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print("Sacar")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        # o “else”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print("Inválida")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valores num case: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"sábado" | "domingo":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5216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| lê-se “ou”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27432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833872" y="2743200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Ao vivo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1, 2 e depois algo inválido (9) para cair no case _.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if/elif  ×  match/case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profissional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>
              <a:solidFill>
                <a:srgbClr val="7030A0"/>
              </a:solidFill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elif / else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/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faixas (&gt;, &lt;, and, 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valor × casos fixos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clássico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com intervalos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menus, comandos,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3375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prática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→ if/elif.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opções fixas → match.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63440" y="33375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4846320" y="3337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Honestidade de mercado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é recente (2021). O if/elif continua sendo o feijão com arroz.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94C0-A474-C7D6-E335-79814B15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26BD36C-FCB6-6A71-863B-7379F98CC1E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EF78B32-3F79-6972-5C83-23CDBF951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567DBAB-ECA9-B6EA-BFA2-D09045D176EC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906EA64-5B6D-1CBB-8535-2DCA5363E184}"/>
              </a:ext>
            </a:extLst>
          </p:cNvPr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reais</a:t>
            </a:r>
            <a:endParaRPr lang="en-US" sz="11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1F77FE7-C61D-4E19-1C09-53C9976D9D3F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FF6FA6C-2F17-F901-1D1C-8DF30F0DFB1E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C25554D-4DE9-0BDF-A6F6-2D6ED7481BD8}"/>
              </a:ext>
            </a:extLst>
          </p:cNvPr>
          <p:cNvSpPr/>
          <p:nvPr/>
        </p:nvSpPr>
        <p:spPr>
          <a:xfrm>
            <a:off x="457200" y="1371600"/>
            <a:ext cx="7947660" cy="34381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  <a:p>
            <a:r>
              <a:rPr lang="pt-BR" sz="1050" dirty="0"/>
              <a:t>1 - Carro Popular  2 – Sedan 3 - SUV  4 – Cancelar</a:t>
            </a:r>
          </a:p>
          <a:p>
            <a:endParaRPr lang="pt-BR" sz="1100" dirty="0"/>
          </a:p>
          <a:p>
            <a:r>
              <a:rPr lang="pt-BR" sz="1100" dirty="0"/>
              <a:t>Crie um programa utilizando </a:t>
            </a:r>
            <a:r>
              <a:rPr lang="pt-BR" sz="1100" b="1" dirty="0"/>
              <a:t>match/case</a:t>
            </a:r>
            <a:r>
              <a:rPr lang="pt-BR" sz="1100" dirty="0"/>
              <a:t>.</a:t>
            </a:r>
          </a:p>
          <a:p>
            <a:r>
              <a:rPr lang="pt-BR" sz="1100" dirty="0"/>
              <a:t>Após o cliente escolher um veículo, informe por quantos dias ele deseja alugá-lo.</a:t>
            </a:r>
          </a:p>
          <a:p>
            <a:r>
              <a:rPr lang="pt-BR" sz="1100" b="1" dirty="0"/>
              <a:t>Regras</a:t>
            </a:r>
          </a:p>
          <a:p>
            <a:r>
              <a:rPr lang="pt-BR" sz="1100" dirty="0"/>
              <a:t>O aluguel só pode ser realizado para </a:t>
            </a:r>
            <a:r>
              <a:rPr lang="pt-BR" sz="1100" b="1" dirty="0"/>
              <a:t>1 dia ou mais</a:t>
            </a:r>
            <a:r>
              <a:rPr lang="pt-BR" sz="1100" dirty="0"/>
              <a:t>. </a:t>
            </a:r>
          </a:p>
          <a:p>
            <a:r>
              <a:rPr lang="pt-BR" sz="1100" dirty="0"/>
              <a:t>Caso o número de dias seja inválido, informe uma mensagem de erro. </a:t>
            </a:r>
          </a:p>
          <a:p>
            <a:r>
              <a:rPr lang="pt-BR" sz="1100" dirty="0"/>
              <a:t>Se for válido, informe que o veículo foi reservado. </a:t>
            </a:r>
          </a:p>
          <a:p>
            <a:r>
              <a:rPr lang="pt-BR" sz="1100" dirty="0"/>
              <a:t>Cada veículo deverá exibir uma mensagem diferente, por exemplo:</a:t>
            </a:r>
          </a:p>
          <a:p>
            <a:r>
              <a:rPr lang="pt-BR" sz="1100" dirty="0"/>
              <a:t>Carro Popular reservado. </a:t>
            </a:r>
          </a:p>
          <a:p>
            <a:r>
              <a:rPr lang="pt-BR" sz="1100" dirty="0"/>
              <a:t>Sedan reservado. </a:t>
            </a:r>
          </a:p>
          <a:p>
            <a:r>
              <a:rPr lang="pt-BR" sz="1100" dirty="0"/>
              <a:t>SUV reservado. </a:t>
            </a:r>
          </a:p>
          <a:p>
            <a:r>
              <a:rPr lang="pt-BR" sz="1100" dirty="0"/>
              <a:t>Se o usuário escolher </a:t>
            </a:r>
            <a:r>
              <a:rPr lang="pt-BR" sz="1100" b="1" dirty="0"/>
              <a:t>Cancelar</a:t>
            </a:r>
            <a:r>
              <a:rPr lang="pt-BR" sz="1100" dirty="0"/>
              <a:t>, exiba:</a:t>
            </a:r>
          </a:p>
          <a:p>
            <a:r>
              <a:rPr lang="pt-BR" sz="1100" dirty="0"/>
              <a:t>Reserva cancelada.</a:t>
            </a:r>
          </a:p>
          <a:p>
            <a:r>
              <a:rPr lang="pt-BR" sz="1100" dirty="0"/>
              <a:t>Caso informe uma opção inexistente:</a:t>
            </a:r>
          </a:p>
          <a:p>
            <a:r>
              <a:rPr lang="pt-BR" sz="1100" dirty="0"/>
              <a:t>Opção inválida.</a:t>
            </a:r>
          </a:p>
          <a:p>
            <a:endParaRPr lang="pt-BR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3D02825-4004-5A79-53C3-AE54A5498705}"/>
              </a:ext>
            </a:extLst>
          </p:cNvPr>
          <p:cNvSpPr/>
          <p:nvPr/>
        </p:nvSpPr>
        <p:spPr>
          <a:xfrm>
            <a:off x="603504" y="1444752"/>
            <a:ext cx="64297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🚗 </a:t>
            </a:r>
            <a:r>
              <a:rPr lang="en-US" sz="1600" b="1" dirty="0" err="1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Locadora</a:t>
            </a:r>
            <a:r>
              <a:rPr lang="en-US" sz="16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JWC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9FC56A7-BB3E-EDB6-0881-574F004C4DCC}"/>
              </a:ext>
            </a:extLst>
          </p:cNvPr>
          <p:cNvSpPr/>
          <p:nvPr/>
        </p:nvSpPr>
        <p:spPr>
          <a:xfrm>
            <a:off x="603504" y="1755648"/>
            <a:ext cx="7313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endParaRPr lang="pt-BR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A11253F-EA1F-A0F7-D865-5FF8CCC87642}"/>
              </a:ext>
            </a:extLst>
          </p:cNvPr>
          <p:cNvSpPr/>
          <p:nvPr/>
        </p:nvSpPr>
        <p:spPr>
          <a:xfrm>
            <a:off x="4809744" y="17556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DC9CEDC-0244-7825-88AE-F068DA2499A6}"/>
              </a:ext>
            </a:extLst>
          </p:cNvPr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8A4756C-11E9-3804-687B-5DD1E9FBE6AE}"/>
              </a:ext>
            </a:extLst>
          </p:cNvPr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C66105A5-0235-AD32-9807-2ED707FA416B}"/>
              </a:ext>
            </a:extLst>
          </p:cNvPr>
          <p:cNvSpPr/>
          <p:nvPr/>
        </p:nvSpPr>
        <p:spPr>
          <a:xfrm>
            <a:off x="576072" y="365760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343F6596-0214-8903-AAF3-D781FC2ECA95}"/>
              </a:ext>
            </a:extLst>
          </p:cNvPr>
          <p:cNvSpPr/>
          <p:nvPr/>
        </p:nvSpPr>
        <p:spPr>
          <a:xfrm>
            <a:off x="576072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9024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53628F7-6A77-60E0-1C2C-5DA15849C9C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C72AF71-551E-C281-4829-B33C5A79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B61541F-6F2C-19BF-6BCA-2381CA3DDBBA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C6E170-429D-9387-F5F5-0C3933FB5566}"/>
              </a:ext>
            </a:extLst>
          </p:cNvPr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reais</a:t>
            </a:r>
            <a:endParaRPr lang="en-US" sz="1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0EEF7C-07F5-31B4-C5AF-073E2E583C4E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633FA4-24AE-8740-36E6-88B25142854F}"/>
              </a:ext>
            </a:extLst>
          </p:cNvPr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439A4801-6B57-28AD-528D-85F5088536C3}"/>
              </a:ext>
            </a:extLst>
          </p:cNvPr>
          <p:cNvSpPr/>
          <p:nvPr/>
        </p:nvSpPr>
        <p:spPr>
          <a:xfrm>
            <a:off x="576072" y="365760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0192F49-D2BB-C90C-9257-3DC3C314C673}"/>
              </a:ext>
            </a:extLst>
          </p:cNvPr>
          <p:cNvSpPr/>
          <p:nvPr/>
        </p:nvSpPr>
        <p:spPr>
          <a:xfrm>
            <a:off x="576072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2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00ABF82-BCCA-2176-7A8A-CC10BA34726D}"/>
              </a:ext>
            </a:extLst>
          </p:cNvPr>
          <p:cNvSpPr/>
          <p:nvPr/>
        </p:nvSpPr>
        <p:spPr>
          <a:xfrm>
            <a:off x="457200" y="1371600"/>
            <a:ext cx="7947660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</a:t>
            </a:r>
            <a:r>
              <a:rPr lang="en-US" b="1" dirty="0" err="1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r>
              <a:rPr lang="en-US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</a:t>
            </a:r>
            <a:endParaRPr lang="en-US" dirty="0">
              <a:solidFill>
                <a:srgbClr val="7030A0"/>
              </a:solidFill>
            </a:endParaRPr>
          </a:p>
          <a:p>
            <a:endParaRPr lang="pt-BR" sz="11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6548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24912" y="19659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condições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“E” exigente e o “OU” flexível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turma já usa essa lógica sem saber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✈️ E (and) — embarcar no avião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Passaporte E passagem E horário. Falhou um? Não embarca. O E é EXIGENTE.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8368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OU (or) — meia-entrada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8368" y="334670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OU 60+. Um já resolve. O OU é FLEXÍVEL.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846320" y="1371600"/>
            <a:ext cx="3840480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029200" y="150876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(and) 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TODAS verdadeiras
</a:t>
            </a:r>
            <a:r>
              <a:rPr lang="en-US" sz="14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 (or) 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PELO MENOS UMA
</a:t>
            </a:r>
            <a:r>
              <a:rPr lang="en-US" sz="14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(not)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INVERTE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46320" y="36576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10912" y="36576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Pergunte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dirigir: idade E carteira, ou idade OU carteira?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Tabelas-verdade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“manual” de cada operador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and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só 1 linha dá True (difícil de agradar)   ·   or: 3 linhas dão True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760720" y="137160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943600" y="13716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 → False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False → True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25312" y="2560320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b="1" dirty="0">
              <a:solidFill>
                <a:srgbClr val="2B6C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25312" y="3429000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em condições reais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quase vira uma frase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23444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idade &gt;= 18 and tem_carteira: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print("Pode dirigir")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(intervalo) — duas formas: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03504" y="31912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786384" y="31912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969264" y="31912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21792" y="3392424"/>
            <a:ext cx="4626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nota &gt;= 5 and nota &lt; 7: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5 &lt;= nota &lt; 7:   # elegante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1371600"/>
            <a:ext cx="301752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85216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not na prática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852160" y="1792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tem_pendencia: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85216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NÃO tiver pendência...”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0" y="292608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852160" y="2926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Boa prática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booleanos como perguntas: tem_saldo, eh_estudante.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Precedência e curto-circuito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detalhes que evitam bugs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 </a:t>
            </a:r>
            <a:r>
              <a:rPr lang="en-US" sz="16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</a:t>
            </a:r>
            <a:r>
              <a:rPr lang="en-US" sz="16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or B and C   =   A or (B and C)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69748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28254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28254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28254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3026664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 or False and False: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print("entrou")  # ENTRA!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7947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79476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 de ouro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misturou and e or? Use parênteses.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937760" y="1371600"/>
            <a:ext cx="3749040" cy="288036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0" y="1481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Curto-circuito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2064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para de avaliar assim que já sabe a resposta.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120640" y="242316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5266944" y="25511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5449824" y="25511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5632704" y="25511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5285232" y="2752344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divisor != 0 \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10 / divisor &gt; 2: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120640" y="35204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divisor = 0, ele nem tenta dividir → evita o ZeroDivisionError.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login (and)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tabela-verdade acontecendo na tela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535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= input("Usuário: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input("Senha: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usuario == USUARIO and senha == SENHA: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print("Login bem-sucedido!")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print("Usuário ou senha inválidos.")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79476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794760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Ao vivo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os 4 casos: (certo,certo) · (certo,errado) · ...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0" y="137160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Ponto de segurança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52160" y="1874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mensagem diz “usuário OU senha inválidos”, sem dizer qual errou?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52160" y="28346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não entregar a um invasor a informação de que aquele usuário existe. É boa prática real de segurança.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or e a ordem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Meia-entrada e triagem de hospital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132588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49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eh_estudante = input("Estudante? ") == "s"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eh_estudante or idade &gt;= 60: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print("Meia-entrada!")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2834640"/>
            <a:ext cx="3831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Pergunte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== "s" faz? (compara e guarda True/False — uma comparação já é um booleano!)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800600" y="1371600"/>
            <a:ext cx="3886200" cy="1691640"/>
          </a:xfrm>
          <a:prstGeom prst="roundRect">
            <a:avLst>
              <a:gd name="adj" fmla="val 324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9469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1297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3126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965192" y="1700784"/>
            <a:ext cx="3575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febre and dor: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print("PRIORIDADE ALTA")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febre or dor: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print("Prioridade média")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00600" y="320040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983480" y="3200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and vem ANTES do or?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caso mais restritivo (regra da Aula 4).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 bissexto · e os erros comuns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joia didática: aritmético + relacional + lógico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(ano % 4 == 0 and ano % 100 != 0) \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 (ano % 400 == 0):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print("Ano bissexto")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2788920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Previsão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2024 (sim) · 1900 (não) · 2000 (sim)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1792" y="3520440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Pergunte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parênteses são essenciais aqui?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0" y="137160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FDECEC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852160" y="1481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Erros comuns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52160" y="18288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&gt;= 18 and &lt;= 60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cada lado precisa ser condição completa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SyntaxError. Em Python: and / or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== True: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funciona, mas escreva if x: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práticos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reais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18388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03504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</a:t>
            </a:r>
            <a:r>
              <a:rPr lang="en-US" sz="135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Empréstimo</a:t>
            </a: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Bancário (and)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3504" y="1755648"/>
            <a:ext cx="8037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empréstimo será aprovado apenas se o cliente atender aos dois requisitos: renda mínima e score mínimo.</a:t>
            </a:r>
            <a:endParaRPr lang="en-US" sz="1000" dirty="0">
              <a:solidFill>
                <a:srgbClr val="1F2A3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</a:t>
            </a:r>
            <a:r>
              <a:rPr lang="en-US" sz="10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3000 and score &gt;= 700</a:t>
            </a:r>
          </a:p>
        </p:txBody>
      </p:sp>
      <p:sp>
        <p:nvSpPr>
          <p:cNvPr id="15" name="Shape 12"/>
          <p:cNvSpPr/>
          <p:nvPr/>
        </p:nvSpPr>
        <p:spPr>
          <a:xfrm>
            <a:off x="457200" y="2331720"/>
            <a:ext cx="8183880" cy="82296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6" name="Text 13"/>
          <p:cNvSpPr/>
          <p:nvPr/>
        </p:nvSpPr>
        <p:spPr>
          <a:xfrm>
            <a:off x="603504" y="2404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Bolsa de Estudos (</a:t>
            </a:r>
            <a:r>
              <a:rPr lang="pt-BR" sz="135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r>
              <a:rPr lang="pt-BR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3504" y="2715768"/>
            <a:ext cx="8037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aluno poderá receber a bolsa se possuir média alta ou baixa renda familiar.</a:t>
            </a:r>
          </a:p>
          <a:p>
            <a:pPr algn="ctr" rtl="0">
              <a:buNone/>
            </a:pPr>
            <a:r>
              <a:rPr lang="pt-BR" sz="1000" b="1" dirty="0">
                <a:latin typeface="Courier New" panose="02070309020205020404" pitchFamily="49" charset="0"/>
              </a:rPr>
              <a:t>media &gt;= 9 </a:t>
            </a:r>
            <a:r>
              <a:rPr lang="pt-BR" sz="1000" b="1" dirty="0" err="1">
                <a:latin typeface="Courier New" panose="02070309020205020404" pitchFamily="49" charset="0"/>
              </a:rPr>
              <a:t>or</a:t>
            </a:r>
            <a:r>
              <a:rPr lang="pt-BR" sz="1000" b="1" dirty="0">
                <a:latin typeface="Courier New" panose="02070309020205020404" pitchFamily="49" charset="0"/>
              </a:rPr>
              <a:t> </a:t>
            </a:r>
            <a:r>
              <a:rPr lang="pt-BR" sz="1000" b="1" dirty="0" err="1">
                <a:latin typeface="Courier New" panose="02070309020205020404" pitchFamily="49" charset="0"/>
              </a:rPr>
              <a:t>renda_familiar</a:t>
            </a:r>
            <a:r>
              <a:rPr lang="pt-BR" sz="1000" b="1" dirty="0">
                <a:latin typeface="Courier New" panose="02070309020205020404" pitchFamily="49" charset="0"/>
              </a:rPr>
              <a:t> &lt;= 2000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291840"/>
            <a:ext cx="818388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03504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 </a:t>
            </a:r>
            <a:r>
              <a:rPr lang="en-US" sz="135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</a:t>
            </a: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5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Liberada</a:t>
            </a: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(not)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03504" y="3675888"/>
            <a:ext cx="8037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cliente só poderá finalizar a compra se não estiver inadimplente.</a:t>
            </a:r>
            <a:endParaRPr lang="en-US" sz="1000" dirty="0">
              <a:solidFill>
                <a:srgbClr val="1F2A3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inadimplente</a:t>
            </a:r>
            <a:endParaRPr lang="en-US" sz="1000" b="1" dirty="0"/>
          </a:p>
        </p:txBody>
      </p:sp>
      <p:sp>
        <p:nvSpPr>
          <p:cNvPr id="27" name="Shape 24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21792" y="434340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O melhor exemplo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parêntese no parque? A altura é obrigatória; o resto é flexível.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06958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56048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56048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⏸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— fecha a Parte 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rápida antes de avançar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1417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and False = 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151790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00800" y="15179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075688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85800" y="20756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= 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0" y="21762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0" y="2176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734056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85800" y="27340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False = 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283464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400800" y="2834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392424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85800" y="339242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Misturou and e or: use...?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0" y="349300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0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400800" y="3493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parênteses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COMBINAR condições. Agora vamos aprender a ORGANIZÁ-LAS.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24912" y="19659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condições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0" y="2880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Aninhadas × achatadas — o mesmo tema, um nível acima.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aninhadas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if DENTRO de outro if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senha_correta: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saldo &gt;= valor: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print("Saque liberado")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print("Saldo insuficiente")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print("Senha incorreta")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indentação dupla mostra a hierarquia — quem está dentro de quem.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13716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03504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ok?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92040" y="21488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89204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903720" y="2148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90372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&gt;= valor?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72200" y="29260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17220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saldo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680960" y="29260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7680960" y="2926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056632" y="3611880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Aninhar × achatar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pulo do gato — amador × profissional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Aninhado sem necessidade (código escada)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739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739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739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7510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idade &gt;= 18: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tem_carteira: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esta_bebado: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print("Pode dirigir")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3154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Achatado com and — plano e legível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03504" y="36027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86384" y="36027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69264" y="36027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21792" y="3803904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idade &gt;= 18 and tem_carteira \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not esta_bebado: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37760" y="1325880"/>
            <a:ext cx="374904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12064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ANINHE quando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120640" y="17373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 DEPENDEM uma da outra e cada uma tem uma MENSAGEM diferente.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937760" y="2834640"/>
            <a:ext cx="374904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120640" y="2834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ACHATE quando as condições são INDEPENDENTES.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937760" y="38404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5102352" y="384048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do mercado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de 2–3 níveis? Dá para achatar?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guiado · refatoração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aninhado para achatado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(3 níveis)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4206240" cy="219456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55648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55648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55648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56816"/>
            <a:ext cx="3895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renda &gt;= 2000: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600: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tem_restricao: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print("Aprovado")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print("Negado")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print("Negado")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print("Negado")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(plano)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937760" y="1627632"/>
            <a:ext cx="3749040" cy="1463040"/>
          </a:xfrm>
          <a:prstGeom prst="roundRect">
            <a:avLst>
              <a:gd name="adj" fmla="val 375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084064" y="1755648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266944" y="1755648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449824" y="1755648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02352" y="1956816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renda &gt;= 2000 \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score &gt;= 600 \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not tem_restricao: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</a:t>
            </a:r>
            <a:r>
              <a:rPr lang="en-US" sz="950" dirty="0" err="1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print("Negado")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37760" y="32461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102352" y="324612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50" b="1" dirty="0" err="1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</a:t>
            </a: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vezes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Negado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"? (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937760" y="388620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02352" y="388620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Ganhamos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repetição, mais legibilidade.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PEDRA, PAPEL E TESOURA 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95DA4860-D247-7A92-180A-0C6BBB217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788" y="1365702"/>
            <a:ext cx="3517392" cy="359034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— os 3 blocos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Case · Operadores Lógicos · Organizar condições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0080" y="1499616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0080" y="1499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865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Case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0080" y="23774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case: um valor × casos fixos (menus)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_  = o “else” (curinga)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no Python 3.10+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(&gt;, &lt;) → continua if/elif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46120" y="137160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3429000" y="1499616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429000" y="1499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29000" y="1865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Lógicos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429000" y="23774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= E (exige tudo) · or = OU (basta um) · not = inverte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Precedência: not → and → or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parênteses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Curto-circuito · in / not in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35040" y="137160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217920" y="1499616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217920" y="1499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1865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condições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217920" y="23774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Aninhar: etapas dependentes, mensagens diferentes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Achatar com and: condições independentes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de 2–3 níveis? Dá para achatar?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repetição = mais legível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repetição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1325880"/>
          </a:xfrm>
          <a:prstGeom prst="roundRect">
            <a:avLst>
              <a:gd name="adj" fmla="val 620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087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precisássemos analisar 50 clientes? Dar 3 tentativas de senha? Manter o menu aberto até escolher “Sair”?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6: for, while, break e continue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condições de hoje são o CORAÇÃO do while (“repita enquanto for verdadeiro”)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Avisos finais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esqueça de dar!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DECEC"/>
          </a:solidFill>
          <a:ln w="254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 lista de atividades da AULA 6 é AVALIATIVA.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(PTD: avaliações da UC1 = listas das Aulas 6, 10 e 12.)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2606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5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fechadas · and / or / not · aninhar × achatar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6 — Repetição (for / while) · LISTA AVALIATIVA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2319</Words>
  <Application>Microsoft Office PowerPoint</Application>
  <PresentationFormat>Apresentação na tela (16:9)</PresentationFormat>
  <Paragraphs>418</Paragraphs>
  <Slides>29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3</cp:revision>
  <dcterms:created xsi:type="dcterms:W3CDTF">2026-07-14T17:38:22Z</dcterms:created>
  <dcterms:modified xsi:type="dcterms:W3CDTF">2026-07-14T22:31:22Z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2026-07-14T19:29:45Z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728c7087-8c2d-4b58-918a-861a4b46086c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