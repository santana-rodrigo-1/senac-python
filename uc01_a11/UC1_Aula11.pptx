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43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960120" cy="96012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7790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103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505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POO, os 4 Pilares e CRUD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(240 min) · Pré-requisitos: Aulas 1 a 10 · SENAC-RJ  ·  (Dia 2: persistência + avaliação)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&amp; o problema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variáveis soltas não bastam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97680" cy="1828800"/>
          </a:xfrm>
          <a:prstGeom prst="roundRect">
            <a:avLst>
              <a:gd name="adj" fmla="val 3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3986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titular_1 = "Ana";  saldo_1 = 150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titular_2 = "Bruno"; saldo_2 = 50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e para 1000 clientes?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2000 variáveis soltas 😱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937760" y="137160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4A90D9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virada de chave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agora usamos tipos PRONTOS (int, str, list). Hoje viramos CRIADORES de tipos: vamos inventar o nosso próprio tipo — ContaBancaria.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4290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21792" y="342900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banco guarda e opera 1000 contas sem virar caos? 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371600" cy="13716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5798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50592" y="217627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da Orientação a Objetos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2468880" y="2926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bolo, o nascimento (__init__), o crachá (self) e as ações.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forma de bolo e o bolo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× objeto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99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🧁 A Classe (class) = o molde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9202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silicone. 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come!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define o formato de qualquer bolo que sair dali.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956048" y="1499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🍰 O Objeto (instância) = o bolo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56048" y="192024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bolo real assado a partir da forma.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forma → 1.000 bolos.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 morango, outro de chocolate com o mesmo molde, cada um com sua vida.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porquê do __init__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certidão de nascimento do objeto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463040"/>
          </a:xfrm>
          <a:prstGeom prst="roundRect">
            <a:avLst>
              <a:gd name="adj" fmla="val 5625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37160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de inicializar (preparar para funcionar).
</a:t>
            </a:r>
            <a:r>
              <a:rPr lang="en-US" sz="13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 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sublinhas avisam: “método especial do sistema”.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97180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40080" y="29718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 O que ele faz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AUTOMATICAMENTE no milissegundo em que o objeto nasce. É onde registramos os dados iniciais.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37760" y="1371600"/>
            <a:ext cx="3749040" cy="1828800"/>
          </a:xfrm>
          <a:prstGeom prst="roundRect">
            <a:avLst>
              <a:gd name="adj" fmla="val 3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08406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26694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44982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102352" y="1700784"/>
            <a:ext cx="3438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ContaBancaria: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nome):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roda ao nascer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self.titular = nome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338328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102352" y="3383280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≠ chamar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nunca escreve __init__().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Python chama sozinho quando você cria a conta.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porquê do self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crachá de identidade do objeto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99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🏷️ 1000 contas na memória…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874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 deposita R$ 50.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Python sabe QUAL saldo alterar?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crachá.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" y="27432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= “EU MESMO”
</a:t>
            </a: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usa → self aponta p/ Ana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usa → self aponta p/ Bruno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937760" y="13716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120640" y="13716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Regra de ouro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variável criada com self. GRUDA no objeto e fica salva dentro dele: self.titular, self.saldo.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937760" y="288036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102352" y="2880360"/>
            <a:ext cx="3419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Sem medo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é sempre o 1º parâmetro dos </a:t>
            </a: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como o objeto acha os SEUS próprios dados.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+ o primeiro código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do objeto (substantivos)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809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ContaBancaria: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nome, saldo_inicial=0.0):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self.titular = nome    # atributo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self.saldo = saldo_inicial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= ContaBancaria("Ana Silva", 100.0)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bruno = ContaBancaria("Bruno Costa")   # saldo 0.0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print(ana.titular, ana.saldo)   # Ana Silva 100.0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137160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943600" y="13716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padrão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saldo_inicial=0.0: se não informarem, nasce 0.0.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 abriu com 100;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Bruno, sem informar, com 0.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760720" y="361188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925312" y="361188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objeto.atributo → ana.saldo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· depositar e sacar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do objeto (verbos)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120640" cy="2651760"/>
          </a:xfrm>
          <a:prstGeom prst="roundRect">
            <a:avLst>
              <a:gd name="adj" fmla="val 206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809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depositar(self, valor):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valor &gt; 0: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self.saldo += valor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sacar(self, valor):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valor &lt;= 0: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print("Valor inválido.")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valor &lt;= self.saldo: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self.saldo -= valor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print("Saldo insuficiente!")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137160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943600" y="13716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A regra dos métodos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1º parâmetro é SEMPRE self, é ele que deixa o método enxergar e alterar os atributos do próprio objeto.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método mágico __str__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print(objeto) bonito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3716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05252"/>
                </a:solidFill>
              </a:rPr>
              <a:t>❌ Sem __str__
</a:t>
            </a: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print(ana) →
</a:t>
            </a:r>
            <a:r>
              <a:rPr lang="en-US" sz="10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&lt;__main__.ContaBancaria object at 0x0A3F&gt;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697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Python mostra o endereço na memória. Vamos ensiná-lo a imprimir texto: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2918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03504" y="341985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86384" y="341985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969264" y="341985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21792" y="3621024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__str__(self):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f"{self.titular}: R${self.saldo:.2f}"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0" y="1371600"/>
            <a:ext cx="3749040" cy="1234440"/>
          </a:xfrm>
          <a:prstGeom prst="roundRect">
            <a:avLst>
              <a:gd name="adj" fmla="val 6667"/>
            </a:avLst>
          </a:prstGeom>
          <a:solidFill>
            <a:srgbClr val="E4F0E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120640" y="137160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F855A"/>
                </a:solidFill>
              </a:rPr>
              <a:t>✅ Com __str__
</a:t>
            </a: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print(ana) →
</a:t>
            </a:r>
            <a:r>
              <a:rPr lang="en-US" sz="12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Silva: R$100.00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937760" y="27432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120640" y="27432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“método especial”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__init__, o __str__ tem sublinhas duplas e o Python o chama 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sozinho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aqui, toda vez que você dá print no objeto.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Transferência PIX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conversando com outro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212080" cy="2103120"/>
          </a:xfrm>
          <a:prstGeom prst="roundRect">
            <a:avLst>
              <a:gd name="adj" fmla="val 260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9011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transferir(self, valor, destino):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valor &lt;= self.saldo: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self.saldo -= valor       # tira de MIM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destino.depositar(valor)  # põe no OUTRO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print("PIX enviado!")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print("Saldo insuficiente.")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52160" y="1371600"/>
            <a:ext cx="2834640" cy="2103120"/>
          </a:xfrm>
          <a:prstGeom prst="roundRect">
            <a:avLst>
              <a:gd name="adj" fmla="val 3478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035040" y="137160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O pulo do gato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destino.depositar(valor): a conta da Ana CHAMA o método da conta do Bruno. self = origem, destino = quem recebe. Objetos conversam!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6576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21792" y="365760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Previsão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ana(200) transfere 80 → quanto fica em cada uma? (Ana 120 · Bruno 80)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371600" cy="13716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5798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50592" y="217627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Pilares da POO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2468880" y="2926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 · Encapsulamento · Herança · Polimorfismo — o que torna a POO poderosa.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1 · Abstração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i="1" dirty="0"/>
              <a:t>Abstrair é filtrar o mundo real e ignorar os detalhes inúteis para o seu sistema.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554480"/>
          </a:xfrm>
          <a:prstGeom prst="roundRect">
            <a:avLst>
              <a:gd name="adj" fmla="val 5294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b="1" dirty="0"/>
              <a:t>Peneira: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828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/>
            <a:r>
              <a:rPr lang="pt-BR" sz="1100" b="1" dirty="0"/>
              <a:t>O Mundo Real:</a:t>
            </a:r>
            <a:r>
              <a:rPr lang="pt-BR" sz="1100" dirty="0"/>
              <a:t> O cliente Ana tem 50 características (altura, signo, cor dos olhos, prato favorito, saldo, nome, modelo do celular).</a:t>
            </a:r>
          </a:p>
          <a:p>
            <a:pPr lvl="1"/>
            <a:r>
              <a:rPr lang="pt-BR" sz="1100" b="1" dirty="0"/>
              <a:t>Banco:</a:t>
            </a:r>
            <a:r>
              <a:rPr lang="pt-BR" sz="1100" dirty="0"/>
              <a:t> O sistema do banco joga a Ana na peneira e </a:t>
            </a:r>
            <a:r>
              <a:rPr lang="pt-BR" sz="1100" b="1" dirty="0"/>
              <a:t>descarta</a:t>
            </a:r>
            <a:r>
              <a:rPr lang="pt-BR" sz="1100" dirty="0"/>
              <a:t> o signo e a comida favorita, deixando passar APENAS o que o banco precisa: titular e saldo.</a:t>
            </a:r>
          </a:p>
          <a:p>
            <a:br>
              <a:rPr lang="pt-BR" sz="1100" dirty="0"/>
            </a:b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1371600"/>
            <a:ext cx="3749040" cy="1554480"/>
          </a:xfrm>
          <a:prstGeom prst="roundRect">
            <a:avLst>
              <a:gd name="adj" fmla="val 35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508406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26694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44982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102352" y="1700784"/>
            <a:ext cx="3438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só o essencial p/ o banco: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ContaBancaria: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titular):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self.titular = titular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21792" y="310896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No código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 tem idade, cor de cabelo, prato favorito… o banco IGNORA tudo isso e guarda só o relevante: titular e saldo.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2 · Encapsulamento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i="1" dirty="0"/>
              <a:t>Encapsular é trancar o saldo no cofre e só permitir alterações por métodos autorizados.</a:t>
            </a:r>
            <a:endParaRPr lang="pt-BR" sz="11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737360"/>
          </a:xfrm>
          <a:prstGeom prst="roundRect">
            <a:avLst>
              <a:gd name="adj" fmla="val 5294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b="1" dirty="0"/>
              <a:t>Antes × Depois: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828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pt-BR" sz="1100" dirty="0"/>
              <a:t>❌ </a:t>
            </a:r>
            <a:r>
              <a:rPr lang="pt-BR" sz="1100" b="1" dirty="0"/>
              <a:t>Sem Encapsulamento (Cofre Aberto):</a:t>
            </a:r>
          </a:p>
          <a:p>
            <a:pPr lvl="0"/>
            <a:r>
              <a:rPr lang="pt-BR" sz="1100" dirty="0" err="1"/>
              <a:t>conta.saldo</a:t>
            </a:r>
            <a:r>
              <a:rPr lang="pt-BR" sz="1100" dirty="0"/>
              <a:t> = -5000 ➔ Qualquer um mexe no saldo diretamente e coloca o valor que quiser (sem validação).</a:t>
            </a:r>
          </a:p>
          <a:p>
            <a:pPr lvl="0"/>
            <a:r>
              <a:rPr lang="pt-BR" sz="1100" dirty="0"/>
              <a:t>✅ </a:t>
            </a:r>
            <a:r>
              <a:rPr lang="pt-BR" sz="1100" b="1" dirty="0"/>
              <a:t>Com Encapsulamento (Janela do Caixa):</a:t>
            </a:r>
          </a:p>
          <a:p>
            <a:pPr lvl="0"/>
            <a:r>
              <a:rPr lang="pt-BR" sz="1100" dirty="0" err="1"/>
              <a:t>conta.depositar</a:t>
            </a:r>
            <a:r>
              <a:rPr lang="pt-BR" sz="1100" dirty="0"/>
              <a:t>(100) ➔ Você não toca no saldo. Você entrega o dinheiro ao caixa (método), e ele valida se o valor é positivo antes de guardar.</a:t>
            </a:r>
          </a:p>
        </p:txBody>
      </p:sp>
      <p:sp>
        <p:nvSpPr>
          <p:cNvPr id="12" name="Shape 9"/>
          <p:cNvSpPr/>
          <p:nvPr/>
        </p:nvSpPr>
        <p:spPr>
          <a:xfrm>
            <a:off x="4937760" y="1371600"/>
            <a:ext cx="3749040" cy="1965960"/>
          </a:xfrm>
          <a:prstGeom prst="roundRect">
            <a:avLst>
              <a:gd name="adj" fmla="val 2791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508406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26694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44982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102352" y="1700784"/>
            <a:ext cx="3438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ContaBancaria: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titular):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self._saldo = 0.0   # protegido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depositar(self, valor):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valor &gt; 0: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self._saldo += valor  # via método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40080" y="3108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_ ?
</a:t>
            </a:r>
            <a:r>
              <a:rPr lang="pt-BR" sz="1100" i="1" dirty="0"/>
              <a:t> O _ (</a:t>
            </a:r>
            <a:r>
              <a:rPr lang="pt-BR" sz="1100" i="1" dirty="0" err="1"/>
              <a:t>underline</a:t>
            </a:r>
            <a:r>
              <a:rPr lang="pt-BR" sz="1100" i="1" dirty="0"/>
              <a:t>) antes do nome é o aviso visual de 'PROPRIEDADE PRIVADA — Acesse apenas pelos métodos!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37760" y="352044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102352" y="3520440"/>
            <a:ext cx="3419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Honestidade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_ é uma CONVENÇÃO (combinado), não um cadeado. No projetão manteremos self.saldo simples.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3 · Herança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i="1" dirty="0"/>
              <a:t>Herança é a classe filha herdar toda a riqueza da classe mãe de graça, sem precisar copiar e colar código.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723644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b="1" dirty="0"/>
              <a:t>Trabalho Salvo: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8288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pt-BR" sz="1100" dirty="0"/>
              <a:t>Imagine ter que reescrever titular, saldo, depositar() e sacar() tudo de novo para criar a </a:t>
            </a:r>
            <a:r>
              <a:rPr lang="pt-BR" sz="1100" dirty="0" err="1"/>
              <a:t>ContaPoupanca</a:t>
            </a:r>
            <a:r>
              <a:rPr lang="pt-BR" sz="1100" dirty="0"/>
              <a:t>. Que preguiça!</a:t>
            </a:r>
          </a:p>
          <a:p>
            <a:pPr lvl="0"/>
            <a:r>
              <a:rPr lang="pt-BR" sz="1100" dirty="0"/>
              <a:t>Com Herança: Escrevemos apenas </a:t>
            </a:r>
            <a:r>
              <a:rPr lang="pt-BR" sz="1100" dirty="0" err="1"/>
              <a:t>class</a:t>
            </a:r>
            <a:r>
              <a:rPr lang="pt-BR" sz="1100" dirty="0"/>
              <a:t> </a:t>
            </a:r>
            <a:r>
              <a:rPr lang="pt-BR" sz="1100" dirty="0" err="1"/>
              <a:t>ContaPoupanca</a:t>
            </a:r>
            <a:r>
              <a:rPr lang="pt-BR" sz="1100" dirty="0"/>
              <a:t>(</a:t>
            </a:r>
            <a:r>
              <a:rPr lang="pt-BR" sz="1100" dirty="0" err="1"/>
              <a:t>ContaBancaria</a:t>
            </a:r>
            <a:r>
              <a:rPr lang="pt-BR" sz="1100" dirty="0"/>
              <a:t>): e a poupança ganha </a:t>
            </a:r>
            <a:r>
              <a:rPr lang="pt-BR" sz="1100" b="1" dirty="0"/>
              <a:t>TUDO</a:t>
            </a:r>
            <a:r>
              <a:rPr lang="pt-BR" sz="1100" dirty="0"/>
              <a:t> que a mãe tem de graça!</a:t>
            </a:r>
          </a:p>
          <a:p>
            <a:pPr lvl="0"/>
            <a:r>
              <a:rPr lang="pt-BR" sz="1100" b="1" dirty="0"/>
              <a:t>Trabalho do programador:</a:t>
            </a:r>
            <a:r>
              <a:rPr lang="pt-BR" sz="1100" dirty="0"/>
              <a:t> Escrever apenas a novidade ➔ </a:t>
            </a:r>
            <a:r>
              <a:rPr lang="pt-BR" sz="1100" dirty="0" err="1"/>
              <a:t>render_juros</a:t>
            </a:r>
            <a:r>
              <a:rPr lang="pt-BR" sz="1100" dirty="0"/>
              <a:t>().</a:t>
            </a:r>
          </a:p>
        </p:txBody>
      </p:sp>
      <p:sp>
        <p:nvSpPr>
          <p:cNvPr id="12" name="Shape 9"/>
          <p:cNvSpPr/>
          <p:nvPr/>
        </p:nvSpPr>
        <p:spPr>
          <a:xfrm>
            <a:off x="457200" y="3300984"/>
            <a:ext cx="4206240" cy="1234440"/>
          </a:xfrm>
          <a:prstGeom prst="roundRect">
            <a:avLst>
              <a:gd name="adj" fmla="val 4444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03504" y="339699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86384" y="339699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969264" y="339699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9224" y="3694176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ContaPoupanca(ContaBancaria):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render_juros(self, taxa):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self.saldo += self.saldo*taxa/100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0" y="137160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120640" y="1371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ContaPoupanca(ContaBancaria) HERDA tudo — titular, saldo, depositar, sacar — e ADICIONA render_juros. Não reescrevemos nada!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4 · Polimorfismo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i="1" dirty="0"/>
              <a:t>Polimorfismo significa 'Muitas Formas': é chamar o mesmo método, mas cada classe responde do seu jeito.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2548128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pt-BR" sz="1600" b="1" dirty="0"/>
              <a:t>Botão "LIGAR":</a:t>
            </a:r>
            <a:endParaRPr lang="pt-BR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8"/>
              <p:cNvSpPr/>
              <p:nvPr/>
            </p:nvSpPr>
            <p:spPr>
              <a:xfrm>
                <a:off x="658368" y="1828800"/>
                <a:ext cx="3840480" cy="868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lvl="1"/>
                <a:r>
                  <a:rPr lang="pt-BR" sz="1100" dirty="0"/>
                  <a:t>Você clica no botão "LIGAR" apontando para a </a:t>
                </a:r>
                <a:r>
                  <a:rPr lang="pt-BR" sz="1100" b="1" dirty="0"/>
                  <a:t>TV</a:t>
                </a:r>
                <a:r>
                  <a:rPr lang="pt-BR" sz="1100" dirty="0"/>
                  <a:t> (ela acende a tela).</a:t>
                </a:r>
              </a:p>
              <a:p>
                <a:pPr lvl="1"/>
                <a:r>
                  <a:rPr lang="pt-BR" sz="1100" dirty="0"/>
                  <a:t>Você clica no botão "LIGAR" apontando para o </a:t>
                </a:r>
                <a:r>
                  <a:rPr lang="pt-BR" sz="1100" b="1" dirty="0"/>
                  <a:t>Ar-Condicionado</a:t>
                </a:r>
                <a:r>
                  <a:rPr lang="pt-BR" sz="1100" dirty="0"/>
                  <a:t> (ele sopra ar frio).</a:t>
                </a:r>
              </a:p>
              <a:p>
                <a:pPr lvl="1"/>
                <a:r>
                  <a:rPr lang="pt-BR" sz="1100" b="1" dirty="0"/>
                  <a:t>O comando é o mesmo ("LIGAR"), mas a reação de cada aparelho é diferente!</a:t>
                </a:r>
                <a:endParaRPr lang="pt-BR" sz="1100" dirty="0"/>
              </a:p>
              <a:p>
                <a:pPr lvl="0"/>
                <a:r>
                  <a:rPr lang="pt-BR" sz="1100" b="1" dirty="0"/>
                  <a:t>No Banco:</a:t>
                </a:r>
                <a:endParaRPr lang="pt-BR" sz="1100" dirty="0"/>
              </a:p>
              <a:p>
                <a:pPr lvl="1"/>
                <a:r>
                  <a:rPr lang="pt-BR" sz="1100" dirty="0"/>
                  <a:t>Chamar </a:t>
                </a:r>
                <a:r>
                  <a:rPr lang="pt-BR" sz="1100" dirty="0" err="1"/>
                  <a:t>conta_poupanca.sacar</a:t>
                </a:r>
                <a:r>
                  <a:rPr lang="pt-BR" sz="1100" dirty="0"/>
                  <a:t>(50) ➔ Tira R$ 50 sem taxa.</a:t>
                </a:r>
              </a:p>
              <a:p>
                <a:pPr lvl="1"/>
                <a:r>
                  <a:rPr lang="pt-BR" sz="1100" dirty="0"/>
                  <a:t>Chamar </a:t>
                </a:r>
                <a:r>
                  <a:rPr lang="pt-BR" sz="1100" dirty="0" err="1"/>
                  <a:t>conta_corrente.sacar</a:t>
                </a:r>
                <a:r>
                  <a:rPr lang="pt-BR" sz="1100" dirty="0"/>
                  <a:t>(50) ➔ Tira R</a:t>
                </a:r>
                <a14:m>
                  <m:oMath xmlns:m="http://schemas.openxmlformats.org/officeDocument/2006/math">
                    <m:r>
                      <a:rPr lang="pt-BR" sz="1100"/>
                      <m:t>50+</m:t>
                    </m:r>
                    <m:r>
                      <a:rPr lang="pt-BR" sz="1100" i="1"/>
                      <m:t>𝑅</m:t>
                    </m:r>
                  </m:oMath>
                </a14:m>
                <a:r>
                  <a:rPr lang="pt-BR" sz="1100" dirty="0"/>
                  <a:t> 2.00 de taxa.</a:t>
                </a:r>
              </a:p>
              <a:p>
                <a:pPr lvl="1"/>
                <a:r>
                  <a:rPr lang="pt-BR" sz="1100" b="1" dirty="0"/>
                  <a:t>O nome do método é o mesmo (sacar), mas a reação mudou!</a:t>
                </a:r>
                <a:endParaRPr lang="pt-BR" sz="1100" dirty="0"/>
              </a:p>
            </p:txBody>
          </p:sp>
        </mc:Choice>
        <mc:Fallback>
          <p:sp>
            <p:nvSpPr>
              <p:cNvPr id="11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" y="1828800"/>
                <a:ext cx="3840480" cy="868680"/>
              </a:xfrm>
              <a:prstGeom prst="rect">
                <a:avLst/>
              </a:prstGeom>
              <a:blipFill>
                <a:blip r:embed="rId4"/>
                <a:stretch>
                  <a:fillRect l="-2222" t="-5594" r="-952" b="-140559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4"/>
          <p:cNvSpPr/>
          <p:nvPr/>
        </p:nvSpPr>
        <p:spPr>
          <a:xfrm>
            <a:off x="4937760" y="137160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120640" y="1371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ContaCorrente tem o método sacar com o MESMO nome, mas com comportamento próprio: cobra R$ 2,00 de taxa. Isso é sobrescrever.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37760" y="2971800"/>
            <a:ext cx="3749040" cy="771144"/>
          </a:xfrm>
          <a:prstGeom prst="roundRect">
            <a:avLst>
              <a:gd name="adj" fmla="val 64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266944" y="2734056"/>
            <a:ext cx="3419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Fecho dos pilares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 (só o essencial) · encapsulamento (proteger) · herança (reaproveitar) · polimorfismo (mesma ação, formas diferentes).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BD59C656-6E07-D480-3EC8-CB22222E8051}"/>
              </a:ext>
            </a:extLst>
          </p:cNvPr>
          <p:cNvSpPr/>
          <p:nvPr/>
        </p:nvSpPr>
        <p:spPr>
          <a:xfrm>
            <a:off x="2560320" y="3849624"/>
            <a:ext cx="4206240" cy="1234440"/>
          </a:xfrm>
          <a:prstGeom prst="roundRect">
            <a:avLst>
              <a:gd name="adj" fmla="val 4444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BB7CCC75-54D2-B884-CC4D-7A31BD49CC86}"/>
              </a:ext>
            </a:extLst>
          </p:cNvPr>
          <p:cNvSpPr/>
          <p:nvPr/>
        </p:nvSpPr>
        <p:spPr>
          <a:xfrm>
            <a:off x="2706624" y="3977640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251503A8-BEB4-29E0-126E-35F518314717}"/>
              </a:ext>
            </a:extLst>
          </p:cNvPr>
          <p:cNvSpPr/>
          <p:nvPr/>
        </p:nvSpPr>
        <p:spPr>
          <a:xfrm>
            <a:off x="2889504" y="3977640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91F3436D-F29D-D8F6-916B-A9B2F24FBDB1}"/>
              </a:ext>
            </a:extLst>
          </p:cNvPr>
          <p:cNvSpPr/>
          <p:nvPr/>
        </p:nvSpPr>
        <p:spPr>
          <a:xfrm>
            <a:off x="3072384" y="3977640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4A4DD40F-4197-2135-E33E-BD01A5C72B4B}"/>
              </a:ext>
            </a:extLst>
          </p:cNvPr>
          <p:cNvSpPr/>
          <p:nvPr/>
        </p:nvSpPr>
        <p:spPr>
          <a:xfrm>
            <a:off x="2724912" y="4178808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ContaCorrente(ContaBancaria):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sacar(self, valor):   # REESCRITO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self.saldo -= (valor + 2.00)  # taxa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371600" cy="13716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5798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50592" y="217627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— o coração de todo sistema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2468880" y="2926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Read · Update · Delete. Agora sim: como o banco opera 1000 contas.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sistema CRUD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operações de qualquer software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6583680" cy="27432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nosso banco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— criar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cadastrar uma nova conta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B6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— 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listar/consultar as contas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5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— atualizar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depositar ou sacar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— excluir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encerrar/remover uma conta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223760" y="1463040"/>
            <a:ext cx="1463040" cy="2743200"/>
          </a:xfrm>
          <a:prstGeom prst="roundRect">
            <a:avLst>
              <a:gd name="adj" fmla="val 5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7406640" y="1463040"/>
            <a:ext cx="1097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em TUDO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iFood, banco, escola: todo sistema faz CRUD sobre seus dados.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numa lista de objetos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ao “1000 clientes” — une Aula 9 + hoje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9011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 = []                    # a lista guarda os objetos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 — criar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contas.append(ContaBancaria("Ana"))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 — ler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c in enumerate(contas, 1):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c)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 — atualizar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contas: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c.titular == alvo: c.depositar(100)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 — excluir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contas.remove(encontrada)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52160" y="137160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035040" y="137160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Sacou a jogada?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contas = uma lista de 1000 objetos. É a lista da Aula 9 — só que cada item agora SABE agir (depositar, sacar).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852160" y="31089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016752" y="3108960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 a lista (1, 2, 3…) enquanto percorre — ótimo para menus.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· Banco CRUD no terminal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+ lista de objetos + menu (while)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5084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contas = []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print("1-Criar 2-Listar 3-Depositar 4-Sacar 5-Excluir 0-Sair")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 = input("Opção: ")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op == "1":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contas.append(ContaBancaria(input("Nome: ")))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op == "2":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i, c in enumerate(contas, 1): print(i, c)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3/4 acham a conta e chamam depositar/sacar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op == "0": break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13716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199632" y="1481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 tudo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81344" y="18288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+ objetos (hoje)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+ for (A9/A6)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+ menu (A6)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(A4) + __str__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33375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199632" y="333756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Faça ao vivo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o menu linha a linha com a turma.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e qualidade (Indicador 4)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o sistema funciona sem bugs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8229600" cy="603504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3716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Caminho feliz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83280" y="137160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“Ana”, depositar 100 e listar — aparece com saldo 100?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2084832"/>
            <a:ext cx="8229600" cy="603504"/>
          </a:xfrm>
          <a:prstGeom prst="roundRect">
            <a:avLst>
              <a:gd name="adj" fmla="val 1363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58368" y="20848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Fronteira (limite)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83280" y="208483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sacar EXATAMENTE o saldo todo — zera sem erro?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2798064"/>
            <a:ext cx="8229600" cy="603504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58368" y="279806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🛑 Falha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83280" y="279806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sacar 1000 tendo 10 — o sistema impede e avisa?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3511296"/>
            <a:ext cx="8229600" cy="603504"/>
          </a:xfrm>
          <a:prstGeom prst="roundRect">
            <a:avLst>
              <a:gd name="adj" fmla="val 1363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58368" y="351129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🗑️ Delete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383280" y="351129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“Ana” e listar — a lista ficou sem ela?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21792" y="411480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Print debugging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print(f"DEBUG: saldo = {self.saldo}") dentro do método mostra a variável mudando (Aula 7).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molde ao sistema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58368" y="1481328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58368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— ANATOMIA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8368" y="1920240"/>
            <a:ext cx="3840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molde · objeto = produto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nasce o objeto · self = crachá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(dados) × métodos (ações)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 imprime bonito · objetos conversam (transferir)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956048" y="1481328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956048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+ CRUD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56048" y="1920240"/>
            <a:ext cx="3611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 · Encapsulamento · Herança · Polimorfismo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= Create · Read · Update · Delete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contas = lista de objetos (Aula 9 + hoje)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é qualidade (Indicador 4)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11–12 (Dia 1)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5156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27101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 1 concluído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POO, </a:t>
            </a:r>
            <a:r>
              <a:rPr lang="en-US" sz="1500" dirty="0" err="1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pilares e um sistema CRUD </a:t>
            </a:r>
            <a:r>
              <a:rPr lang="en-US" sz="1500" dirty="0" err="1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2494</Words>
  <Application>Microsoft Office PowerPoint</Application>
  <PresentationFormat>Apresentação na tela (16:9)</PresentationFormat>
  <Paragraphs>314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SENAC · Programação em Python</dc:creator>
  <cp:lastModifiedBy>Mario Alberto Aragao Duarte</cp:lastModifiedBy>
  <cp:revision>4</cp:revision>
  <dcterms:created xsi:type="dcterms:W3CDTF">2026-08-13T12:43:45Z</dcterms:created>
  <dcterms:modified xsi:type="dcterms:W3CDTF">2026-08-13T14:51:37Z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2026-08-13T14:02:31Z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84e2c0c9-0bcd-4e51-a4d6-735fc5c0bd4b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