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9" r:id="rId3"/>
    <p:sldId id="261" r:id="rId4"/>
    <p:sldId id="262" r:id="rId5"/>
    <p:sldId id="263" r:id="rId6"/>
    <p:sldId id="264" r:id="rId7"/>
    <p:sldId id="265" r:id="rId8"/>
    <p:sldId id="266" r:id="rId9"/>
    <p:sldId id="268" r:id="rId10"/>
    <p:sldId id="269" r:id="rId11"/>
    <p:sldId id="270" r:id="rId12"/>
    <p:sldId id="271" r:id="rId13"/>
    <p:sldId id="274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7F7121-F38D-7468-2DDF-569053DADE3F}" v="13" dt="2026-09-11T21:54:18.1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O ALBERTO ARAGAO DUARTE" userId="S::mario.duarte@educacao.senac.rio::06584b50-a4b9-4023-be9b-e5e35e9b7140" providerId="AD" clId="Web-{947F7121-F38D-7468-2DDF-569053DADE3F}"/>
    <pc:docChg chg="delSld modSld">
      <pc:chgData name="MARIO ALBERTO ARAGAO DUARTE" userId="S::mario.duarte@educacao.senac.rio::06584b50-a4b9-4023-be9b-e5e35e9b7140" providerId="AD" clId="Web-{947F7121-F38D-7468-2DDF-569053DADE3F}" dt="2026-09-11T21:54:18.125" v="12"/>
      <pc:docMkLst>
        <pc:docMk/>
      </pc:docMkLst>
      <pc:sldChg chg="delSp">
        <pc:chgData name="MARIO ALBERTO ARAGAO DUARTE" userId="S::mario.duarte@educacao.senac.rio::06584b50-a4b9-4023-be9b-e5e35e9b7140" providerId="AD" clId="Web-{947F7121-F38D-7468-2DDF-569053DADE3F}" dt="2026-09-11T21:42:56.447" v="1"/>
        <pc:sldMkLst>
          <pc:docMk/>
          <pc:sldMk cId="0" sldId="256"/>
        </pc:sldMkLst>
        <pc:spChg chg="del">
          <ac:chgData name="MARIO ALBERTO ARAGAO DUARTE" userId="S::mario.duarte@educacao.senac.rio::06584b50-a4b9-4023-be9b-e5e35e9b7140" providerId="AD" clId="Web-{947F7121-F38D-7468-2DDF-569053DADE3F}" dt="2026-09-11T21:42:56.447" v="1"/>
          <ac:spMkLst>
            <pc:docMk/>
            <pc:sldMk cId="0" sldId="256"/>
            <ac:spMk id="5" creationId="{00000000-0000-0000-0000-000000000000}"/>
          </ac:spMkLst>
        </pc:spChg>
        <pc:spChg chg="del">
          <ac:chgData name="MARIO ALBERTO ARAGAO DUARTE" userId="S::mario.duarte@educacao.senac.rio::06584b50-a4b9-4023-be9b-e5e35e9b7140" providerId="AD" clId="Web-{947F7121-F38D-7468-2DDF-569053DADE3F}" dt="2026-09-11T21:42:54.353" v="0"/>
          <ac:spMkLst>
            <pc:docMk/>
            <pc:sldMk cId="0" sldId="256"/>
            <ac:spMk id="6" creationId="{00000000-0000-0000-0000-000000000000}"/>
          </ac:spMkLst>
        </pc:spChg>
      </pc:sldChg>
      <pc:sldChg chg="del">
        <pc:chgData name="MARIO ALBERTO ARAGAO DUARTE" userId="S::mario.duarte@educacao.senac.rio::06584b50-a4b9-4023-be9b-e5e35e9b7140" providerId="AD" clId="Web-{947F7121-F38D-7468-2DDF-569053DADE3F}" dt="2026-09-11T21:43:09.510" v="2"/>
        <pc:sldMkLst>
          <pc:docMk/>
          <pc:sldMk cId="0" sldId="257"/>
        </pc:sldMkLst>
      </pc:sldChg>
      <pc:sldChg chg="del">
        <pc:chgData name="MARIO ALBERTO ARAGAO DUARTE" userId="S::mario.duarte@educacao.senac.rio::06584b50-a4b9-4023-be9b-e5e35e9b7140" providerId="AD" clId="Web-{947F7121-F38D-7468-2DDF-569053DADE3F}" dt="2026-09-11T21:43:16.119" v="3"/>
        <pc:sldMkLst>
          <pc:docMk/>
          <pc:sldMk cId="0" sldId="258"/>
        </pc:sldMkLst>
      </pc:sldChg>
      <pc:sldChg chg="modSp">
        <pc:chgData name="MARIO ALBERTO ARAGAO DUARTE" userId="S::mario.duarte@educacao.senac.rio::06584b50-a4b9-4023-be9b-e5e35e9b7140" providerId="AD" clId="Web-{947F7121-F38D-7468-2DDF-569053DADE3F}" dt="2026-09-11T21:43:40.573" v="8" actId="20577"/>
        <pc:sldMkLst>
          <pc:docMk/>
          <pc:sldMk cId="0" sldId="259"/>
        </pc:sldMkLst>
        <pc:spChg chg="mod">
          <ac:chgData name="MARIO ALBERTO ARAGAO DUARTE" userId="S::mario.duarte@educacao.senac.rio::06584b50-a4b9-4023-be9b-e5e35e9b7140" providerId="AD" clId="Web-{947F7121-F38D-7468-2DDF-569053DADE3F}" dt="2026-09-11T21:43:40.573" v="8" actId="20577"/>
          <ac:spMkLst>
            <pc:docMk/>
            <pc:sldMk cId="0" sldId="259"/>
            <ac:spMk id="6" creationId="{00000000-0000-0000-0000-000000000000}"/>
          </ac:spMkLst>
        </pc:spChg>
      </pc:sldChg>
      <pc:sldChg chg="del">
        <pc:chgData name="MARIO ALBERTO ARAGAO DUARTE" userId="S::mario.duarte@educacao.senac.rio::06584b50-a4b9-4023-be9b-e5e35e9b7140" providerId="AD" clId="Web-{947F7121-F38D-7468-2DDF-569053DADE3F}" dt="2026-09-11T21:43:49.026" v="9"/>
        <pc:sldMkLst>
          <pc:docMk/>
          <pc:sldMk cId="0" sldId="260"/>
        </pc:sldMkLst>
      </pc:sldChg>
      <pc:sldChg chg="del">
        <pc:chgData name="MARIO ALBERTO ARAGAO DUARTE" userId="S::mario.duarte@educacao.senac.rio::06584b50-a4b9-4023-be9b-e5e35e9b7140" providerId="AD" clId="Web-{947F7121-F38D-7468-2DDF-569053DADE3F}" dt="2026-09-11T21:52:12.483" v="10"/>
        <pc:sldMkLst>
          <pc:docMk/>
          <pc:sldMk cId="0" sldId="267"/>
        </pc:sldMkLst>
      </pc:sldChg>
      <pc:sldChg chg="del">
        <pc:chgData name="MARIO ALBERTO ARAGAO DUARTE" userId="S::mario.duarte@educacao.senac.rio::06584b50-a4b9-4023-be9b-e5e35e9b7140" providerId="AD" clId="Web-{947F7121-F38D-7468-2DDF-569053DADE3F}" dt="2026-09-11T21:54:15.297" v="11"/>
        <pc:sldMkLst>
          <pc:docMk/>
          <pc:sldMk cId="0" sldId="272"/>
        </pc:sldMkLst>
      </pc:sldChg>
      <pc:sldChg chg="del">
        <pc:chgData name="MARIO ALBERTO ARAGAO DUARTE" userId="S::mario.duarte@educacao.senac.rio::06584b50-a4b9-4023-be9b-e5e35e9b7140" providerId="AD" clId="Web-{947F7121-F38D-7468-2DDF-569053DADE3F}" dt="2026-09-11T21:54:18.125" v="12"/>
        <pc:sldMkLst>
          <pc:docMk/>
          <pc:sldMk cId="0" sldId="27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27814E-0A38-42DC-AA3B-7E6C7A0BCDB0}" type="datetimeFigureOut">
              <a:t>11/09/2026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74D19C-1663-4458-ADDD-65C8875101BA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1397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194560"/>
            <a:ext cx="1463040" cy="128016"/>
          </a:xfrm>
          <a:prstGeom prst="rect">
            <a:avLst/>
          </a:prstGeom>
          <a:solidFill>
            <a:srgbClr val="00A88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63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PROGRAMAÇÃO EM PYTHON · SENAC-RJ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106984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 02 — Condicionais e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Desafio da Palavra Secreta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Skills × Soft Skills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conceito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10972800" cy="46634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1E88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Skills — conhecimentos técnicos, avaliáveis: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/>
                <a:ea typeface="Arial" pitchFamily="34" charset="-122"/>
                <a:cs typeface="Arial"/>
              </a:rPr>
              <a:t>Python · SQL · Git · HTML · CSS · ferramentas.</a:t>
            </a:r>
            <a:endParaRPr lang="en-US" sz="2000">
              <a:solidFill>
                <a:srgbClr val="000000"/>
              </a:solidFill>
              <a:latin typeface="Arial"/>
              <a:ea typeface="Calibri" panose="020F0502020204030204"/>
              <a:cs typeface="Arial"/>
            </a:endParaRPr>
          </a:p>
          <a:p>
            <a:pPr>
              <a:lnSpc>
                <a:spcPct val="114999"/>
              </a:lnSpc>
              <a:spcAft>
                <a:spcPts val="1000"/>
              </a:spcAft>
              <a:buSzPct val="100000"/>
            </a:pPr>
            <a:endParaRPr lang="en-US" sz="2000" dirty="0">
              <a:solidFill>
                <a:srgbClr val="13293D"/>
              </a:solidFill>
              <a:latin typeface="Arial"/>
              <a:ea typeface="Arial" pitchFamily="34" charset="-122"/>
              <a:cs typeface="Arial"/>
            </a:endParaRPr>
          </a:p>
          <a:p>
            <a:pPr>
              <a:lnSpc>
                <a:spcPct val="114999"/>
              </a:lnSpc>
              <a:spcAft>
                <a:spcPts val="1000"/>
              </a:spcAft>
              <a:buSzPct val="100000"/>
            </a:pPr>
            <a:r>
              <a:rPr lang="en-US" sz="2000" b="1" dirty="0">
                <a:solidFill>
                  <a:srgbClr val="00A88F"/>
                </a:solidFill>
                <a:latin typeface="Arial"/>
                <a:ea typeface="Arial" pitchFamily="34" charset="-122"/>
                <a:cs typeface="Arial"/>
              </a:rPr>
              <a:t>Soft Skills — </a:t>
            </a:r>
            <a:r>
              <a:rPr lang="en-US" sz="2000" b="1" dirty="0" err="1">
                <a:solidFill>
                  <a:srgbClr val="00A88F"/>
                </a:solidFill>
                <a:latin typeface="Arial"/>
                <a:ea typeface="Arial" pitchFamily="34" charset="-122"/>
                <a:cs typeface="Arial"/>
              </a:rPr>
              <a:t>competências</a:t>
            </a:r>
            <a:r>
              <a:rPr lang="en-US" sz="2000" b="1" dirty="0">
                <a:solidFill>
                  <a:srgbClr val="00A88F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2000" b="1" dirty="0" err="1">
                <a:solidFill>
                  <a:srgbClr val="00A88F"/>
                </a:solidFill>
                <a:latin typeface="Arial"/>
                <a:ea typeface="Arial" pitchFamily="34" charset="-122"/>
                <a:cs typeface="Arial"/>
              </a:rPr>
              <a:t>comportamentais</a:t>
            </a:r>
            <a:r>
              <a:rPr lang="en-US" sz="2000" b="1" dirty="0">
                <a:solidFill>
                  <a:srgbClr val="00A88F"/>
                </a:solidFill>
                <a:latin typeface="Arial"/>
                <a:ea typeface="Arial" pitchFamily="34" charset="-122"/>
                <a:cs typeface="Arial"/>
              </a:rPr>
              <a:t>:</a:t>
            </a:r>
            <a:endParaRPr lang="en-US" sz="2000">
              <a:latin typeface="Arial"/>
              <a:ea typeface="Calibri"/>
              <a:cs typeface="Arial"/>
            </a:endParaRPr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comunicação · trabalho em equipe · organização · adaptabilidade · resolução de problemas.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02 — Condicionais e Palavra Secreta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88920"/>
            <a:ext cx="1280160" cy="109728"/>
          </a:xfrm>
          <a:prstGeom prst="rect">
            <a:avLst/>
          </a:prstGeom>
          <a:solidFill>
            <a:srgbClr val="00A8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Decisões em Python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rápida e condicionais if / elif / else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Revisão relâmpago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revisão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 = "Ana"; idade = 25          # variaveis
nome = input("Digite seu nome: ") # entrada (texto)
idade = int(input("Idade: "))     # conversao
print(f"Ola, {nome}!")            # f-string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para hoje: variáveis, entrada, conversão e f-string.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02 — Condicionais e Palavra Secreta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Condicionais: if / elif / else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if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 = 6
if nota &gt;= 7:
    print("Aprovado")
elif nota &gt;= 5:
    print("Recuperacao")
else:
    print("Reprovado")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testa uma condição · elif testa outra · else é o 'senão' final.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02 — Condicionais e Palavra Secreta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Comparadores, lógicos e in / not in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7C9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comparadores:  ==  !=  &gt;  &lt;  &gt;=  &lt;=
# logicos:       and   or   not
</a:t>
            </a:r>
            <a:r>
              <a:rPr lang="en-US" sz="17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letra = "a"
if letra in "banana":
    print("A letra esta na palavra")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verifica se algo pertence a um texto/coleção — peça-chave do desafio de hoje.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02 — Condicionais e Palavra Secreta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88920"/>
            <a:ext cx="1280160" cy="109728"/>
          </a:xfrm>
          <a:prstGeom prst="rect">
            <a:avLst/>
          </a:prstGeom>
          <a:solidFill>
            <a:srgbClr val="00A8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Exercícios de condicionais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Aquecendo antes do desafio principal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Exercício 1 — Par ou ímpar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🧑‍💻 exercício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 = int(input("Digite um numero: "))
if numero % 2 == 0:
    print("Par")
else:
    print("Impar")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dá o resto: se o resto por 2 é 0, o número é par.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02 — Condicionais e Palavra Secreta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88920"/>
            <a:ext cx="1280160" cy="109728"/>
          </a:xfrm>
          <a:prstGeom prst="rect">
            <a:avLst/>
          </a:prstGeom>
          <a:solidFill>
            <a:srgbClr val="00A88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48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BLOCO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 da palavra secreta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4526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EBE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jogo da forca — o desafio principal da Aula 02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 — regras (o código-base do PTD)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desafio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programa deve: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definir uma palavra secreta e pedir uma letra ao usuário;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aceitar apenas UMA letra por vez;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mostrar a letra quando acertar e * quando não houver;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contar as tentativas.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02 — Condicionais e Palavra Secreta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1 — estrutura, entrada e validação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demo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palavra_secreta = "perfume"
letras_acertadas = ""
numero_tentativas = 0
letra = input("Digite uma letra: ")
numero_tentativas += 1
if len(letra) &gt; 1:
    print("Digite apenas uma letra.")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len() mede o tamanho do texto — aqui garante que veio só uma letra.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02 — Condicionais e Palavra Secreta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Passo 2 — verificar e montar a palavra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10972800" cy="3566160"/>
          </a:xfrm>
          <a:prstGeom prst="roundRect">
            <a:avLst>
              <a:gd name="adj" fmla="val 2564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37360"/>
            <a:ext cx="10424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E8EE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letra in palavra_secreta:
    letras_acertadas += letra
palavra_formada = ""
for letra_secreta in palavra_secreta:
    if letra_secreta in letras_acertadas:
        palavra_formada += letra_secreta
    else:
        palavra_formada += "*"
print("Palavra formada:", palavra_formada)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5257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decide se a letra existe; o for percorre a palavra montando acertos e *.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02 — Condicionais e Palavra Secreta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9418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 &amp; próximos passos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0" y="4572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0A88F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fecho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64240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087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Skills × Hard Skills — técnica e comportamento contam.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/ elif / else, comparadores, lógicos e in / not in.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len() para validar a entrada; for para percorrer a palavra.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329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 da palavra secreta funcionando — decisões numa aplicação real.</a:t>
            </a:r>
            <a:endParaRPr lang="en-US" sz="20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00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➡️ Próxima aula: fazer o programa repetir com for e while.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· Aula 02 — Condicionais e Palavra Secreta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D51460BBB3BD64989C0AF0085EB7E4E" ma:contentTypeVersion="42" ma:contentTypeDescription="Crie um novo documento." ma:contentTypeScope="" ma:versionID="d9ea4bfe24da9323925474f8e7a5d9c2">
  <xsd:schema xmlns:xsd="http://www.w3.org/2001/XMLSchema" xmlns:xs="http://www.w3.org/2001/XMLSchema" xmlns:p="http://schemas.microsoft.com/office/2006/metadata/properties" xmlns:ns2="86243fb6-e625-4153-bf24-3dbb8808cb3e" xmlns:ns3="29c85e31-c0e5-4fba-ab60-4fce8ca17cbc" targetNamespace="http://schemas.microsoft.com/office/2006/metadata/properties" ma:root="true" ma:fieldsID="96066f67e9ef9d03c561a9b1a7d8b26b" ns2:_="" ns3:_="">
    <xsd:import namespace="86243fb6-e625-4153-bf24-3dbb8808cb3e"/>
    <xsd:import namespace="29c85e31-c0e5-4fba-ab60-4fce8ca17cbc"/>
    <xsd:element name="properties">
      <xsd:complexType>
        <xsd:sequence>
          <xsd:element name="documentManagement">
            <xsd:complexType>
              <xsd:all>
                <xsd:element ref="ns2:_Flow_SignoffStatus" minOccurs="0"/>
                <xsd:element ref="ns2:AULASESCRITAS" minOccurs="0"/>
                <xsd:element ref="ns2:Indentidadevisualaula4" minOccurs="0"/>
                <xsd:element ref="ns3:SharedWithUsers" minOccurs="0"/>
                <xsd:element ref="ns3:SharedWithDetails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  <xsd:element ref="ns2:_ApprovalAssignedTo" minOccurs="0"/>
                <xsd:element ref="ns2:_ApprovalRespondedBy" minOccurs="0"/>
                <xsd:element ref="ns2:_ApprovalSentBy" minOccurs="0"/>
                <xsd:element ref="ns2:_ApprovalStatus" minOccurs="0"/>
                <xsd:element ref="ns2:Guiadeservi_x00e7_o" minOccurs="0"/>
                <xsd:element ref="ns2:entrevista" minOccurs="0"/>
                <xsd:element ref="ns2:Eduarda_x002c_Lohanaevilma" minOccurs="0"/>
                <xsd:element ref="ns2:emmanuelG" minOccurs="0"/>
                <xsd:element ref="ns2:Como_x0020_esse_x0020_problema_x0020_aparece_x0020_entre_x0020_os_x0020_jovens_x003f_"/>
                <xsd:element ref="ns2:Como_x0020_a_x0020_Sociologia_x0020_poderia_x0020_explicar_x0020_isso_x003f_"/>
                <xsd:element ref="ns2:Nomes"/>
                <xsd:element ref="ns2:TEXTO_x002d_BASE_x0020_DO_x0020_ESTUDO" minOccurs="0"/>
                <xsd:element ref="ns2: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/>
                <xsd:element ref="ns2: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/>
                <xsd:element ref="ns2: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/>
                <xsd:element ref="ns2:Explique_x0020_por_x0020_que_x0020_uma_x0020_mesma_x0020_pessoa_x0020_pode_x0020_desempenhar_x0020_v_x00e1_rios_x0020_pap_x00e9_is_x0020_sociais_x0020_diferentes_x0020_ao_x0020_longo_x0020_de_x0020_um_x0020_mesmo_x0020_dia_x002e_"/>
                <xsd:element ref="ns2: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/>
                <xsd:element ref="ns2: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/>
                <xsd:element ref="ns2:Explique_x0020_a_x0020_rela_x00e7__x00e3_o_x0020_entre_x0020_institui_x00e7__x00f5_es_x0020_sociais_x0020_e_x0020_processos_x0020_de_x0020_socializa_x00e7__x00e3_o_x0020_na_x0020_forma_x00e7__x00e3_o_x0020_dos_x0020_comportamentos_x0020_observados_x0020_no_x0020_texto_x002e_"/>
                <xsd:element ref="ns2: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/>
                <xsd:element ref="ns2:A_x0020_partir_x0020_do_x0020_caso_x0020_analisado_x002c__x0020_explique_x0020_como_x0020_os_x0020_conceitos_x0020_de_x0020_institui_x00e7__x00e3_o_x0020_social_x002c__x0020_socializa_x00e7__x00e3_o_x0020_e_x0020_papel_x0020_social_x0020_est_x00e3_o_x0020_interligados_x002e_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243fb6-e625-4153-bf24-3dbb8808cb3e" elementFormDefault="qualified">
    <xsd:import namespace="http://schemas.microsoft.com/office/2006/documentManagement/types"/>
    <xsd:import namespace="http://schemas.microsoft.com/office/infopath/2007/PartnerControls"/>
    <xsd:element name="_Flow_SignoffStatus" ma:index="3" nillable="true" ma:displayName="Status de liberação" ma:internalName="Status_x0020_de_x0020_libera_x00e7__x00e3_o">
      <xsd:simpleType>
        <xsd:restriction base="dms:Text"/>
      </xsd:simpleType>
    </xsd:element>
    <xsd:element name="AULASESCRITAS" ma:index="4" nillable="true" ma:displayName="AULAS ESCRITAS" ma:description="Descrição" ma:indexed="true" ma:internalName="AULASESCRITAS">
      <xsd:simpleType>
        <xsd:restriction base="dms:Text">
          <xsd:maxLength value="255"/>
        </xsd:restriction>
      </xsd:simpleType>
    </xsd:element>
    <xsd:element name="Indentidadevisualaula4" ma:index="5" nillable="true" ma:displayName="Indentidade visual aula 4" ma:internalName="Indentidadevisualaula4">
      <xsd:simpleType>
        <xsd:restriction base="dms:Unknown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Marcações de imagem" ma:readOnly="false" ma:fieldId="{5cf76f15-5ced-4ddc-b409-7134ff3c332f}" ma:taxonomyMulti="true" ma:sspId="e9a2855a-918e-4771-8d49-1fa7ae9a9e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hidden="true" ma:internalName="MediaServiceOCR" ma:readOnly="true">
      <xsd:simpleType>
        <xsd:restriction base="dms:Note"/>
      </xsd:simpleType>
    </xsd:element>
    <xsd:element name="MediaServiceLocation" ma:index="22" nillable="true" ma:displayName="Location" ma:hidden="true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_ApprovalAssignedTo" ma:index="27" nillable="true" ma:displayName="Aprovadores" ma:list="UserInfo" ma:internalName="_ApprovalAssignedTo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RespondedBy" ma:index="28" nillable="true" ma:displayName="Respostas" ma:list="UserInfo" ma:internalName="_ApprovalRespondedBy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entBy" ma:index="29" nillable="true" ma:displayName="Criador de Aprovação" ma:list="UserInfo" ma:internalName="_ApprovalSentBy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tatus" ma:index="30" nillable="true" ma:displayName="Estado da aprovação" ma:internalName="_ApprovalStatus" ma:readOnly="true">
      <xsd:simpleType>
        <xsd:restriction base="dms:Unknown"/>
      </xsd:simpleType>
    </xsd:element>
    <xsd:element name="Guiadeservi_x00e7_o" ma:index="31" nillable="true" ma:displayName="Guia de serviço " ma:description="Hotel Histórico - Centro &#10;Hotel era uma mansão de um grande Duque &#10;&#10;Serviços básicos &#10;* Wi-fi &#10;* Ar condicionado &#10;* Televisão &#10;* Lavanderia &#10;* Recepção &#10;* Serviço de quarto &#10;* Concierge &#10;&#10;Serviço diferencial&#10;* Eventos imersivos simulando a época do estabelecimento -1 vez por semana, agendado na recepção ou reserva, parceria com o restaurante na recriação de um baile. &#10;* Visitas as dependências preservadas do hotel: escritório do duque, jardins, salas de jantar, alguns quartos - diariamente entre 13 às 17, agendamento mediante disponibilidade.&#10;* Menu inspirado nos ingredientes encontrados nesse período - todos os dias. &#10;* Passeio turístico pelos lugares históricos - Finais de semana , agendamento na recepção.&#10; &#10;Eduardo,Helena,Any" ma:format="Dropdown" ma:internalName="Guiadeservi_x00e7_o">
      <xsd:simpleType>
        <xsd:restriction base="dms:Text">
          <xsd:maxLength value="255"/>
        </xsd:restriction>
      </xsd:simpleType>
    </xsd:element>
    <xsd:element name="entrevista" ma:index="32" nillable="true" ma:displayName="entrevista" ma:format="Dropdown" ma:internalName="entrevista">
      <xsd:simpleType>
        <xsd:restriction base="dms:Choice">
          <xsd:enumeration value="1"/>
          <xsd:enumeration value="2"/>
          <xsd:enumeration value="3"/>
          <xsd:enumeration value="4 ou mais"/>
        </xsd:restriction>
      </xsd:simpleType>
    </xsd:element>
    <xsd:element name="Eduarda_x002c_Lohanaevilma" ma:index="33" nillable="true" ma:displayName="Eduarda ,Lohana e vilma" ma:description="Tabelafluxo de atendimento via whatsapp aula 9" ma:format="Thumbnail" ma:internalName="Eduarda_x002c_Lohanaevilma">
      <xsd:simpleType>
        <xsd:restriction base="dms:Unknown"/>
      </xsd:simpleType>
    </xsd:element>
    <xsd:element name="emmanuelG" ma:index="34" nillable="true" ma:displayName="emmanuel G" ma:format="Thumbnail" ma:internalName="emmanuelG">
      <xsd:simpleType>
        <xsd:restriction base="dms:Unknown"/>
      </xsd:simpleType>
    </xsd:element>
    <xsd:element name="Como_x0020_esse_x0020_problema_x0020_aparece_x0020_entre_x0020_os_x0020_jovens_x003f_" ma:index="35" ma:displayName="Como esse problema aparece entre os jovens?" ma:internalName="Como_x0020_esse_x0020_problema_x0020_aparece_x0020_entre_x0020_os_x0020_jovens_x003f_">
      <xsd:simpleType>
        <xsd:restriction base="dms:Note">
          <xsd:maxLength value="255"/>
        </xsd:restriction>
      </xsd:simpleType>
    </xsd:element>
    <xsd:element name="Como_x0020_a_x0020_Sociologia_x0020_poderia_x0020_explicar_x0020_isso_x003f_" ma:index="36" ma:displayName="Como a Sociologia poderia explicar isso?" ma:internalName="Como_x0020_a_x0020_Sociologia_x0020_poderia_x0020_explicar_x0020_isso_x003f_">
      <xsd:simpleType>
        <xsd:restriction base="dms:Note">
          <xsd:maxLength value="255"/>
        </xsd:restriction>
      </xsd:simpleType>
    </xsd:element>
    <xsd:element name="Nomes" ma:index="37" ma:displayName="Nomes" ma:internalName="Nomes">
      <xsd:simpleType>
        <xsd:restriction base="dms:Note">
          <xsd:maxLength value="255"/>
        </xsd:restriction>
      </xsd:simpleType>
    </xsd:element>
    <xsd:element name="TEXTO_x002d_BASE_x0020_DO_x0020_ESTUDO" ma:index="38" nillable="true" ma:displayName="TEXTO-BASE DO ESTUDO" ma:internalName="TEXTO_x002d_BASE_x0020_DO_x0020_ESTUDO">
      <xsd:simpleType>
        <xsd:restriction base="dms:Text">
          <xsd:maxLength value="255"/>
        </xsd:restriction>
      </xsd:simpleType>
    </xsd:element>
    <xsd:element 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 ma:index="39" ma:displayName="Identifique três instituições sociais presentes no caso descrito e explique brevemente qual é o papel de cada uma na organização da vida social." ma:internal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>
      <xsd:simpleType>
        <xsd:restriction base="dms:Note">
          <xsd:maxLength value="255"/>
        </xsd:restriction>
      </xsd:simpleType>
    </xsd:element>
    <xsd:element 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 ma:index="40" ma:displayName="Explique, a partir do texto, como o processo de socialização contribui para que Camila consiga agir de maneiras diferentes em cada ambiente social." ma:internal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>
      <xsd:simpleType>
        <xsd:restriction base="dms:Note">
          <xsd:maxLength value="255"/>
        </xsd:restriction>
      </xsd:simpleType>
    </xsd:element>
    <xsd:element 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 ma:index="41" ma:displayName="No texto, Camila assume a função de apresentar o trabalho em sala de aula. Explique como essa situação pode ser compreendida a partir do conceito de papel social." ma:internal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>
      <xsd:simpleType>
        <xsd:restriction base="dms:Note">
          <xsd:maxLength value="255"/>
        </xsd:restriction>
      </xsd:simpleType>
    </xsd:element>
    <xsd:element name="Explique_x0020_por_x0020_que_x0020_uma_x0020_mesma_x0020_pessoa_x0020_pode_x0020_desempenhar_x0020_v_x00e1_rios_x0020_pap_x00e9_is_x0020_sociais_x0020_diferentes_x0020_ao_x0020_longo_x0020_de_x0020_um_x0020_mesmo_x0020_dia_x002e_" ma:index="42" ma:displayName="Explique por que uma mesma pessoa pode desempenhar vários papéis sociais diferentes ao longo de um mesmo dia." ma:internalName="Explique_x0020_por_x0020_que_x0020_uma_x0020_mesma_x0020_pessoa_x0020_pode_x0020_desempenhar_x0020_v_x00e1_rios_x0020_pap_x00e9_is_x0020_sociais_x0020_diferentes_x0020_ao_x0020_longo_x0020_de_x0020_um_x0020_mesmo_x0020_dia_x002e_">
      <xsd:simpleType>
        <xsd:restriction base="dms:Note">
          <xsd:maxLength value="255"/>
        </xsd:restriction>
      </xsd:simpleType>
    </xsd:element>
    <xsd:element 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 ma:index="43" ma:displayName="A partir das ideias de Erving Goffman, explique por que Camila controla sua forma de falar e de se comportar em determinados contextos sociais." ma:internal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>
      <xsd:simpleType>
        <xsd:restriction base="dms:Note">
          <xsd:maxLength value="255"/>
        </xsd:restriction>
      </xsd:simpleType>
    </xsd:element>
    <xsd:element 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 ma:index="44" ma:displayName="Utilizando o conceito de apresentação de si, explique como o comportamento de Camila no ambiente de trabalho pode ser interpretado sociologicamente." ma:internal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>
      <xsd:simpleType>
        <xsd:restriction base="dms:Note">
          <xsd:maxLength value="255"/>
        </xsd:restriction>
      </xsd:simpleType>
    </xsd:element>
    <xsd:element 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 ma:index="45" ma:displayName="Explique a relação entre instituições sociais e processos de socialização na formação dos comportamentos observados no texto." ma:internal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>
      <xsd:simpleType>
        <xsd:restriction base="dms:Note">
          <xsd:maxLength value="255"/>
        </xsd:restriction>
      </xsd:simpleType>
    </xsd:element>
    <xsd:element 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 ma:index="46" ma:displayName="O caso apresentado mostra que diferentes ambientes possuem normas e expectativas específicas. Explique por que a existência dessas normas é importante para o funcionamento da vida social." ma:internal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>
      <xsd:simpleType>
        <xsd:restriction base="dms:Note">
          <xsd:maxLength value="255"/>
        </xsd:restriction>
      </xsd:simpleType>
    </xsd:element>
    <xsd:element 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 ma:index="47" ma:displayName="A partir do caso analisado, explique como os conceitos de instituição social, socialização e papel social estão interligados." ma:internal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c85e31-c0e5-4fba-ab60-4fce8ca17cb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hidden="true" ma:internalName="SharedWithDetails" ma:readOnly="true">
      <xsd:simpleType>
        <xsd:restriction base="dms:Note"/>
      </xsd:simpleType>
    </xsd:element>
    <xsd:element name="TaxCatchAll" ma:index="20" nillable="true" ma:displayName="Taxonomy Catch All Column" ma:hidden="true" ma:list="{70672001-ba53-4cf3-bc98-583cff500914}" ma:internalName="TaxCatchAll" ma:readOnly="false" ma:showField="CatchAllData" ma:web="29c85e31-c0e5-4fba-ab60-4fce8ca17c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ú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Guiadeservi_x00e7_o xmlns="86243fb6-e625-4153-bf24-3dbb8808cb3e" xsi:nil="true"/>
    <TEXTO_x002d_BASE_x0020_DO_x0020_ESTUDO xmlns="86243fb6-e625-4153-bf24-3dbb8808cb3e" xsi:nil="true"/>
    <Explique_x0020_a_x0020_rela_x00e7__x00e3_o_x0020_entre_x0020_institui_x00e7__x00f5_es_x0020_sociais_x0020_e_x0020_processos_x0020_de_x0020_socializa_x00e7__x00e3_o_x0020_na_x0020_forma_x00e7__x00e3_o_x0020_dos_x0020_comportamentos_x0020_observados_x0020_no_x0020_texto_x002e_ xmlns="86243fb6-e625-4153-bf24-3dbb8808cb3e"/>
    <Eduarda_x002c_Lohanaevilma xmlns="86243fb6-e625-4153-bf24-3dbb8808cb3e" xsi:nil="true"/>
    <Como_x0020_esse_x0020_problema_x0020_aparece_x0020_entre_x0020_os_x0020_jovens_x003f_ xmlns="86243fb6-e625-4153-bf24-3dbb8808cb3e"/>
    <A_x0020_partir_x0020_do_x0020_caso_x0020_analisado_x002c__x0020_explique_x0020_como_x0020_os_x0020_conceitos_x0020_de_x0020_institui_x00e7__x00e3_o_x0020_social_x002c__x0020_socializa_x00e7__x00e3_o_x0020_e_x0020_papel_x0020_social_x0020_est_x00e3_o_x0020_interligados_x002e_ xmlns="86243fb6-e625-4153-bf24-3dbb8808cb3e"/>
    <Indentidadevisualaula4 xmlns="86243fb6-e625-4153-bf24-3dbb8808cb3e" xsi:nil="true"/>
    <Nomes xmlns="86243fb6-e625-4153-bf24-3dbb8808cb3e"/>
    <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 xmlns="86243fb6-e625-4153-bf24-3dbb8808cb3e"/>
    <entrevista xmlns="86243fb6-e625-4153-bf24-3dbb8808cb3e" xsi:nil="true"/>
    <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 xmlns="86243fb6-e625-4153-bf24-3dbb8808cb3e"/>
    <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 xmlns="86243fb6-e625-4153-bf24-3dbb8808cb3e"/>
    <Como_x0020_a_x0020_Sociologia_x0020_poderia_x0020_explicar_x0020_isso_x003f_ xmlns="86243fb6-e625-4153-bf24-3dbb8808cb3e"/>
    <Explique_x0020_por_x0020_que_x0020_uma_x0020_mesma_x0020_pessoa_x0020_pode_x0020_desempenhar_x0020_v_x00e1_rios_x0020_pap_x00e9_is_x0020_sociais_x0020_diferentes_x0020_ao_x0020_longo_x0020_de_x0020_um_x0020_mesmo_x0020_dia_x002e_ xmlns="86243fb6-e625-4153-bf24-3dbb8808cb3e"/>
    <_Flow_SignoffStatus xmlns="86243fb6-e625-4153-bf24-3dbb8808cb3e" xsi:nil="true"/>
    <lcf76f155ced4ddcb4097134ff3c332f xmlns="86243fb6-e625-4153-bf24-3dbb8808cb3e">
      <Terms xmlns="http://schemas.microsoft.com/office/infopath/2007/PartnerControls"/>
    </lcf76f155ced4ddcb4097134ff3c332f>
    <TaxCatchAll xmlns="29c85e31-c0e5-4fba-ab60-4fce8ca17cbc" xsi:nil="true"/>
    <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 xmlns="86243fb6-e625-4153-bf24-3dbb8808cb3e"/>
    <AULASESCRITAS xmlns="86243fb6-e625-4153-bf24-3dbb8808cb3e" xsi:nil="true"/>
    <emmanuelG xmlns="86243fb6-e625-4153-bf24-3dbb8808cb3e" xsi:nil="true"/>
    <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 xmlns="86243fb6-e625-4153-bf24-3dbb8808cb3e"/>
    <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 xmlns="86243fb6-e625-4153-bf24-3dbb8808cb3e"/>
    <_ApprovalAssignedTo xmlns="86243fb6-e625-4153-bf24-3dbb8808cb3e">
      <UserInfo>
        <DisplayName/>
        <AccountId xsi:nil="true"/>
        <AccountType/>
      </UserInfo>
    </_ApprovalAssignedTo>
    <_ApprovalStatus xmlns="86243fb6-e625-4153-bf24-3dbb8808cb3e">0</_ApprovalStatus>
    <_ApprovalRespondedBy xmlns="86243fb6-e625-4153-bf24-3dbb8808cb3e">
      <UserInfo>
        <DisplayName/>
        <AccountId xsi:nil="true"/>
        <AccountType/>
      </UserInfo>
    </_ApprovalRespondedBy>
  </documentManagement>
</p:properties>
</file>

<file path=customXml/itemProps1.xml><?xml version="1.0" encoding="utf-8"?>
<ds:datastoreItem xmlns:ds="http://schemas.openxmlformats.org/officeDocument/2006/customXml" ds:itemID="{380CEA6A-C257-4A78-8507-4545C3177024}"/>
</file>

<file path=customXml/itemProps2.xml><?xml version="1.0" encoding="utf-8"?>
<ds:datastoreItem xmlns:ds="http://schemas.openxmlformats.org/officeDocument/2006/customXml" ds:itemID="{62E1CBE0-7672-4110-9C5A-709CDAD3C258}"/>
</file>

<file path=customXml/itemProps3.xml><?xml version="1.0" encoding="utf-8"?>
<ds:datastoreItem xmlns:ds="http://schemas.openxmlformats.org/officeDocument/2006/customXml" ds:itemID="{317B987F-46E8-431E-891B-6AA527CD678C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13</Slides>
  <Notes>13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4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12</cp:revision>
  <dcterms:created xsi:type="dcterms:W3CDTF">2026-09-08T19:36:50Z</dcterms:created>
  <dcterms:modified xsi:type="dcterms:W3CDTF">2026-09-11T21:54:25Z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0x010100CD51460BBB3BD64989C0AF0085EB7E4E</vt:lpwstr>
  </property>
</Properties>
</file>