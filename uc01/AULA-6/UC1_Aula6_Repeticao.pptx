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8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2" r:id="rId20"/>
    <p:sldId id="278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61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1E64-15D2-6F81-2098-F67EEAB5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B3AE9-C6CD-5551-93A2-8E7975D9F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A4CC0-007D-BE3C-10C8-DAA404D3F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CE8D7-53B7-F76C-36FE-09FD82366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84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3EA3-BC2C-C947-C864-B4DDDFB7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BB59F-D8EA-E8B1-16D8-B0712B6F7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A6544-6CB9-E154-A4DB-90513C115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C459C-AAC9-D84F-D44A-FA219BF26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4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Repetição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· while · break · continue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66928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 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gancho de hoje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exige tudo ou basta um? (tudo)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opções fixas: if/elif ou match? (qualquer um)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do banco rodava quantas vezes? (uma só!)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280160"/>
            <a:ext cx="3840480" cy="2788920"/>
          </a:xfrm>
          <a:prstGeom prst="roundRect">
            <a:avLst>
              <a:gd name="adj" fmla="val 295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abria, o usuário escolhia UMA opção e o programa ACABAVA.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2606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caixa de verdade fica REPETINDO até você escolher “Sair”. E processar 50 produtos? Dar 3 tentativas de senha?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fazer o programa REPETIR.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loops existem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 acumulador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🏭 A linha de produção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operário não reescreve o manual a cada peça — repete a mesma operação. Imprimir “Olá” 100 vezes: 100 linhas ou 2?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416052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03504" y="29169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6384" y="29169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969264" y="29169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21792" y="3118104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   # conta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+= 1  # a cada volta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     # soma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preco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1325880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20640" y="1325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de ouro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 acumulador começam ANTES do loop (em 0) e são atualizados DENTRO dele.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2788920"/>
            <a:ext cx="374904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tipos de loop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20640" y="3200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  </a:t>
            </a: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QUANTAS vezes
</a:t>
            </a:r>
            <a:r>
              <a:rPr lang="en-US" sz="13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repito ENQUANTO for verdade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você SABE quantas vezes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09188" y="3035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com número conhecido — o for + range.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 e o range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que confunde TODO iniciante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print(f"Número {i}")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3504" y="30083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786384" y="30083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69264" y="30083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21792" y="3209544"/>
            <a:ext cx="3895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saída: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0  1  2  3  4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começa no 0, para no 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13716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0" y="1371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range(5) = 0,1,2,3,4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no 0 e PARA ANTES do 5. São 5 números, mas o último é o 4. Diga em voz alta: “o range para um antes”.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formas do range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stop · step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09261"/>
              </p:ext>
            </p:extLst>
          </p:nvPr>
        </p:nvGraphicFramePr>
        <p:xfrm>
          <a:off x="457200" y="1417320"/>
          <a:ext cx="8107680" cy="26517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Chamada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Gera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range(5)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0, 1, 2, 3, 4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range(1, 6)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1, 2, 3, 4, 5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range(0, 10, 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0, 2, 4, 6, 8  (de 2 em 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range(10, 0, -1)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 9, 8 … 1  (regressiva)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 acumulador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mais importante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219456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       # ANTES do loop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venda = float(input("R$ "))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venda   # acumula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R$ {total:.2f}")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Ponto de ensino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PRECISA existir antes do for. Comente o = 0 de propósito → mostre o NameError.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na prática · tabuada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37160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Escrevam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 for que imprima a tabuada do 7 (de 7×1 a 7×10).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21854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21854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21854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386584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print(f"7 x {i} = {7*i}")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205740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120640" y="2167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range(1, 11)?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248716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de 1 a 10 preciso parar em 11 — o range “para um antes”. Se usasse range(1,10), pararia no 9.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1792" y="37033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Checagem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linhas o loop imprime? (10 — de 7×1 a 7×10)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7543-8CAE-94EE-1376-94D07E62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70518B-6030-E6D0-B1BA-B8D564AD42F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EFD0C1-E12D-FCAC-C06B-E03AADA450D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CC2EE3F-498C-BFA8-9820-1A2E940CE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0701150-77BA-F008-D1ED-A4DAE41ECFD3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</a:t>
            </a: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- 1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81AA79A-A3F1-9294-2A72-3120044504BF}"/>
              </a:ext>
            </a:extLst>
          </p:cNvPr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8AA60B4-2B69-0403-D7B1-A7E0C822D019}"/>
              </a:ext>
            </a:extLst>
          </p:cNvPr>
          <p:cNvSpPr/>
          <p:nvPr/>
        </p:nvSpPr>
        <p:spPr>
          <a:xfrm>
            <a:off x="457200" y="1325880"/>
            <a:ext cx="8176260" cy="2788920"/>
          </a:xfrm>
          <a:prstGeom prst="roundRect">
            <a:avLst>
              <a:gd name="adj" fmla="val 29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0FCFA40-4CCB-6FC8-57D6-6BC3F93847C1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A5F800C-1196-CAE4-28B2-D5D7C3E2373C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0294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2B6CB0"/>
          </a:solidFill>
          <a:ln w="25400">
            <a:solidFill>
              <a:srgbClr val="FFD43B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você repete por CONDIÇÃO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971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enquanto algo for verdadeiro — número de voltas desconhecido.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while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ENQUANTO a condição for True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""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senha != "1234":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senha = input("Senha: ")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print("Liberado!")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3877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Q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uantas vezes roda? Não dá pra saber — depende do usuário. Essa é a diferença para o for.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4630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03504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60920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44768" y="2029968"/>
            <a:ext cx="182880" cy="384048"/>
          </a:xfrm>
          <a:prstGeom prst="downArrow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7790688" y="2029968"/>
            <a:ext cx="182880" cy="384048"/>
          </a:xfrm>
          <a:prstGeom prst="downArrow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440680" y="248716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4068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bloco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60920" y="2487168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60920" y="24871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120640" y="2148840"/>
            <a:ext cx="274320" cy="868680"/>
          </a:xfrm>
          <a:prstGeom prst="up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57200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 testar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O grande perigo: loop infinito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que trava o programa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Esqueceram de mudar o contador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7739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7739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7739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975104"/>
            <a:ext cx="3895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contador &lt;= 5: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print(contador)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🐛 nunca aumenta!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correção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364992"/>
            <a:ext cx="4206240" cy="749808"/>
          </a:xfrm>
          <a:prstGeom prst="roundRect">
            <a:avLst>
              <a:gd name="adj" fmla="val 731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3504" y="3493008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86384" y="3493008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69264" y="3493008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1792" y="369417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+= 1  # sai um dia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37760" y="1645920"/>
            <a:ext cx="3749040" cy="2468880"/>
          </a:xfrm>
          <a:prstGeom prst="roundRect">
            <a:avLst>
              <a:gd name="adj" fmla="val 571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20640" y="16459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Regra de ouro do while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while precisa de algo que torne a condição falsa: um contador, uma resposta ou um break.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na prática · menu e validação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 de quase todo sistema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572000" cy="214884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261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opcao = ""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opcao != "4":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print("1-Dep 2-Saq 3-Saldo 4-Sair")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opcao = input("Escolha: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opcao == "1": ...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opcao == "4": break-equiv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65760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do match/case (Aula 5) agora fica ABERTO — while por fora.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(repete até o dado ser válido):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120640" y="17373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266944" y="18653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449824" y="18653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632704" y="18653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285232" y="2066544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-1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idade &lt; 0: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 = int(input("Idade: "))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120640" y="3337560"/>
            <a:ext cx="3566160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303520" y="33375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até o usuário digitar um valor aceitável.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do...while — e por que Python não 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Honestidade, como no Switch Case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20624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Analogia do café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“SE quiser café, faça um”. do...while: “faça um café e DEPOIS pergunte se quer outro” — sempre toma pelo menos um.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 equivalente em Python (while True + break):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3504" y="33284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786384" y="33284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969264" y="33284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1792" y="3529584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 = input("Opção: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 == "sair": break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749040" cy="1700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 o bloco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 a condição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 não rodar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do…while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1 vez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4937760" y="310896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5120640" y="3108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Muito usado em Python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while True + break resolve menus, validações e “repetir até dar certo”.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e continue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o loop por dentro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25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  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do loop  ·  </a:t>
            </a:r>
            <a:r>
              <a:rPr lang="en-US" sz="13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da fila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416052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8368" y="23774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 p/ a próxima volta  ·  </a:t>
            </a:r>
            <a:r>
              <a:rPr lang="en-US" sz="13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passar a vez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3429000"/>
            <a:ext cx="3831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Desafio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números até o usuário digitar 0 (while True + break + acumulador).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1325880"/>
            <a:ext cx="3749040" cy="1965960"/>
          </a:xfrm>
          <a:prstGeom prst="roundRect">
            <a:avLst>
              <a:gd name="adj" fmla="val 2791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084064" y="14538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266944" y="14538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449824" y="14538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102352" y="1655064"/>
            <a:ext cx="3438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 11):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 != 0: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# pula ímpar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       # 2 4 6 8 10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342900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102352" y="3429000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Previsão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código imprime? Deixe tentarem antes.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integradora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com loop: contador + acumulador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; qtd = 0   # ANTES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input("Preço (ou fim):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e.lower() == "fim":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float(e)   # acumula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qtd += 1            # conta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print(f"Itens: {qtd}")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R$ {total:.2f}")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33872" y="1371600"/>
            <a:ext cx="2688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Faça ao vivo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3–4 itens e digite “fim”. Mostre contador e acumulador crescendo.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28803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28803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Por que começam em 0 ANTES?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estivessem dentro do while, zerariam a cada volta.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</a:t>
            </a: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8176260" cy="2788920"/>
          </a:xfrm>
          <a:prstGeom prst="roundRect">
            <a:avLst>
              <a:gd name="adj" fmla="val 29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· Caixa JWC Market com loop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condicional + acumulador + contador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; qtd = 0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input("Preço (ou fim):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e.lower() == "fim": break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float(e) ; qtd += 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total &gt; 100:   # desconto (Aula 4)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-= total * 0.05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print(f"TOTAL: R$ {total:.2f}")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600200"/>
          </a:xfrm>
          <a:prstGeom prst="roundRect">
            <a:avLst>
              <a:gd name="adj" fmla="val 514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481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33872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break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+ acumulador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com if (Aula 4)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30632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52160" y="30632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(Aulas 3–4)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→ commit → push. Extra: 3 tentativas de senha no início.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D765-EB33-56A6-5391-0E87E7E2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E459BC-9885-E7CD-1F56-873DEF7300B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F66AAC-E010-A39C-82EA-6683E8817BA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22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111D231-8CAB-831C-2959-67F76181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25AE403-E488-F3E2-039E-1CFC6181635B}"/>
              </a:ext>
            </a:extLst>
          </p:cNvPr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</a:t>
            </a: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</a:t>
            </a: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 + </a:t>
            </a:r>
            <a:r>
              <a:rPr lang="en-US" sz="220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5C891A3-A9E6-A5C1-3978-8871EA3AED9B}"/>
              </a:ext>
            </a:extLst>
          </p:cNvPr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138641B-1D6B-8337-7435-8850D065CACE}"/>
              </a:ext>
            </a:extLst>
          </p:cNvPr>
          <p:cNvSpPr/>
          <p:nvPr/>
        </p:nvSpPr>
        <p:spPr>
          <a:xfrm>
            <a:off x="457200" y="1325880"/>
            <a:ext cx="8176260" cy="2788920"/>
          </a:xfrm>
          <a:prstGeom prst="roundRect">
            <a:avLst>
              <a:gd name="adj" fmla="val 29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165D676-4558-DFBF-97EF-FBD0CC51949F}"/>
              </a:ext>
            </a:extLst>
          </p:cNvPr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2EB54B4-C4C6-8137-7247-CCCA363A5B51}"/>
              </a:ext>
            </a:extLst>
          </p:cNvPr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720382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nº conhecido (com range)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enquanto a condição for True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range(a, b): b é exclusivo (“para um antes”)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conta · acumulador soma — inicialize ANTES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5544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do...while não existe → while True + break (roda ≥ 1 vez)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sai · continue pula a volta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loop infinito: todo while precisa de saída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 destrava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5648" y="786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mesa e depuração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programas estão maiores — e maiores significam mais bugs. Como descobrir POR QUE um cálculo deu errado dentro de um loop, se ele não trava, só entrega o resultado errado?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7: teste de mesa + depuração (debugging)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o valor das variáveis passo a passo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 é onde mais aparecem bugs sutis (contador que não incrementa, range errado)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· while · break · continue — o computador que nunca cansa.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esqueça: recolher o Desafio 1 · Próxima: Aula 7 — Teste de Mesa e Depuração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1709</Words>
  <Application>Microsoft Office PowerPoint</Application>
  <PresentationFormat>Apresentação na tela (16:9)</PresentationFormat>
  <Paragraphs>274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4</cp:revision>
  <dcterms:created xsi:type="dcterms:W3CDTF">2026-07-16T17:22:32Z</dcterms:created>
  <dcterms:modified xsi:type="dcterms:W3CDTF">2026-07-17T11:40:20Z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2026-07-16T19:13:15Z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cc24b20a-b607-46c3-805e-5ab1d43ee93c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