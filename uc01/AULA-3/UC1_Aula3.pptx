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8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05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55171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212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Expressões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Git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66928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A: calcular  ·  Bloco B: versionar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48640" cy="54864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534010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— 2 blocos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58368" y="150876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508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74520" y="1508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e Expressões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19659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expressões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· // · % · precedência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troco em notas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· exercícios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Mini-projeto: Caixa JWC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56048" y="150876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508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220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74336" y="1965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Git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init · add · commit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Exercício: versionar o código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Aulas 1 e 2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ativo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algoritmo?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Computador: inteligente ou </a:t>
            </a:r>
            <a:r>
              <a:rPr lang="en-US" sz="13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obediente</a:t>
            </a: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 Previsão — o que sai?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17373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01184" y="18653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084064" y="18653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66944" y="18653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919472" y="2066544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print("5" + "3")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+ 3)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4912" y="22860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e Expressões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computador avalia a expressão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457200" y="11201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conta até sobrar um número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pt-BR" sz="1400" dirty="0"/>
              <a:t>os valores da conta (2, 3, 4)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40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pt-BR" sz="1400" dirty="0"/>
              <a:t>o símbolo da operação (+, *)</a:t>
            </a:r>
            <a:endParaRPr lang="en-US" sz="1400" dirty="0">
              <a:solidFill>
                <a:srgbClr val="5B6B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</a:t>
            </a: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pt-BR" sz="1400" dirty="0"/>
              <a:t>a conta inteira, que será avaliada até virar um valor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2194560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10 - 4 * 2, o que vem primeiro?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3063240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Ideia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= simplificar até sobrar 1 número.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0" y="155448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486400" y="1554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2200" y="2029968"/>
            <a:ext cx="237744" cy="164592"/>
          </a:xfrm>
          <a:prstGeom prst="down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486400" y="221284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486400" y="2212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 12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86600" y="2212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primeiro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2688336"/>
            <a:ext cx="237744" cy="164592"/>
          </a:xfrm>
          <a:prstGeom prst="down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486400" y="287121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2B6CB0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486400" y="2871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86600" y="28712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+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aritméticos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operadores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273282"/>
              </p:ext>
            </p:extLst>
          </p:nvPr>
        </p:nvGraphicFramePr>
        <p:xfrm>
          <a:off x="457200" y="1280160"/>
          <a:ext cx="5212080" cy="307238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5 - 3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*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divisão inteira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7 %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0" y="14630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126480" y="1463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sempre dá float
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 = 5.0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inteiro, use //.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08192" y="297180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“estranhos”: // e %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da escola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🥚 20 ovos, caixa de 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// 6 = 3  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caixas cheias
</a:t>
            </a: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20 % 6  = 2  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 que sobra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3063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“quantos cabem”      </a:t>
            </a:r>
            <a:r>
              <a:rPr lang="en-US" sz="15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 sobra”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371600"/>
            <a:ext cx="2926080" cy="2697480"/>
          </a:xfrm>
          <a:prstGeom prst="roundRect">
            <a:avLst>
              <a:gd name="adj" fmla="val 2712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25312" y="1371600"/>
            <a:ext cx="25968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R$ 47, quantas notas de 10 e quanto sobra?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troco em notas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// e % brilham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261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troco = int(troco)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n10 = troco // 10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 = troco % 10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n5 = resto // 5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moedas = resto % 5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print(f"{n10} de R$10")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print(f"{n5} de R$5")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137160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394960" y="1499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· troco = 27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94960" y="1874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// 10 = 2  (resto 7)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27 % 10  = 7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// 5   = 1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5    = 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9496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de R$10 · 1 de R$5 · R$2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· Bloco 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16183" y="1298448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317351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Juntos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17351" y="1801368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operações (e o .0 da divisão)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ou ímpar com 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Troco em notas (com trace)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operadores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🚗 </a:t>
            </a:r>
            <a:r>
              <a:rPr lang="en-US" sz="150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</a:t>
            </a: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50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Viagem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Calcule quantos litros serão necessários e o custo total da viagem.</a:t>
            </a:r>
          </a:p>
          <a:p>
            <a:pPr marL="0" indent="0">
              <a:buNone/>
            </a:pPr>
            <a:endParaRPr lang="en-US" sz="800" dirty="0">
              <a:solidFill>
                <a:srgbClr val="1F2A3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distância</a:t>
            </a: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050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</a:t>
            </a:r>
            <a:r>
              <a:rPr lang="en-US" sz="10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× </a:t>
            </a:r>
            <a:r>
              <a:rPr lang="en-US" sz="1050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10712" y="1563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🚘 </a:t>
            </a:r>
            <a:r>
              <a:rPr lang="en-US" sz="150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1071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Calcule o consumo médio do veículo em quilômetros por litro.</a:t>
            </a:r>
          </a:p>
          <a:p>
            <a:pPr marL="0" indent="0">
              <a:buNone/>
            </a:pPr>
            <a:endParaRPr lang="pt-BR" sz="800" dirty="0">
              <a:solidFill>
                <a:srgbClr val="1F2A37"/>
              </a:solidFill>
              <a:latin typeface="Courier New" pitchFamily="34" charset="0"/>
              <a:cs typeface="Courier New" pitchFamily="34" charset="-120"/>
            </a:endParaRPr>
          </a:p>
          <a:p>
            <a:pPr algn="ctr"/>
            <a:r>
              <a:rPr lang="pt-B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distância / litros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035040" y="14173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199632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</a:t>
            </a:r>
            <a:r>
              <a:rPr lang="en-US" sz="150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99632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Calcule o valor total do frete considerando uma taxa fixa.</a:t>
            </a:r>
          </a:p>
          <a:p>
            <a:pPr marL="0" indent="0">
              <a:buNone/>
            </a:pPr>
            <a:endParaRPr lang="pt-BR" sz="800" dirty="0">
              <a:solidFill>
                <a:srgbClr val="1F2A37"/>
              </a:solidFill>
              <a:latin typeface="Courier New" pitchFamily="34" charset="0"/>
              <a:cs typeface="Courier New" pitchFamily="34" charset="-120"/>
            </a:endParaRPr>
          </a:p>
          <a:p>
            <a:pPr algn="ctr"/>
            <a:r>
              <a:rPr lang="pt-B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(peso × </a:t>
            </a:r>
            <a:r>
              <a:rPr lang="pt-B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preco_kg</a:t>
            </a:r>
            <a:r>
              <a:rPr lang="pt-B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 + taxa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Text 16"/>
          <p:cNvSpPr/>
          <p:nvPr/>
        </p:nvSpPr>
        <p:spPr>
          <a:xfrm>
            <a:off x="62179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Investimento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331666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Calcule os juros simples e o valor total da aplicação.</a:t>
            </a:r>
          </a:p>
          <a:p>
            <a:endParaRPr lang="pt-BR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pt-BR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capital + (capital × taxa × meses)</a:t>
            </a:r>
          </a:p>
          <a:p>
            <a:endParaRPr lang="pt-BR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4612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41071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🏡 </a:t>
            </a:r>
            <a:r>
              <a:rPr lang="en-US" sz="1500" b="1" dirty="0" err="1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Terreno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410712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Calcule a área de um terreno quadrado.</a:t>
            </a:r>
          </a:p>
          <a:p>
            <a:endParaRPr lang="pt-B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pt-B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Lado ** 2</a:t>
            </a:r>
          </a:p>
          <a:p>
            <a:endParaRPr lang="pt-B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35040" y="278892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19963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Semanas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199632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900" dirty="0">
                <a:latin typeface="Courier New" panose="02070309020205020404" pitchFamily="49" charset="0"/>
                <a:cs typeface="Courier New" panose="02070309020205020404" pitchFamily="49" charset="0"/>
              </a:rPr>
              <a:t>Converta dias em semanas completas e dias restantes.</a:t>
            </a:r>
          </a:p>
          <a:p>
            <a:endParaRPr lang="pt-BR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7 · dias % 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· dicas · curiosidades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mercado &amp; dicas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470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e-commerce, dashboards vivem de cálculo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= quantos cabem · % = quanto sobra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é float · // é inteiro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em MAIÚSCULAS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Curiosidades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847088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tira raiz: 9 ** 0.5 = 3.0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0 → ZeroDivisionError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sem limite de tamanho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Mini-projeto · Caixa JWC Market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Bloco A (sem Git)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754880" cy="2377440"/>
          </a:xfrm>
          <a:prstGeom prst="roundRect">
            <a:avLst>
              <a:gd name="adj" fmla="val 230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443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= float(input("Preço: "))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 = int(input("Qtd: "))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= preco * qtd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DESCONTO = 0.10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subtotal*(1-DESCONTO)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R$ {total:.2f}")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94960" y="137160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778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(25 × 5)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0" y="179222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125.00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112.50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94960" y="26974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559552" y="2697480"/>
            <a:ext cx="2962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Pergunte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p/ todo mundo é justo? Salve como caixa.py.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Revisão-relâmpago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Bloco 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// 2 = 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075688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85800" y="20756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 2 = 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2734056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85800" y="27340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dá inteiro ou decimal?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3392424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85800" y="33924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+ 2 * 2 = ?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Fechou o Bloco A → agora só Git.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554480" cy="155448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4912" y="22860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Git: versionando o código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fechado — agora protegemos o código.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 Git resolve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Quem já teve arquivos assim?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4297680" cy="18288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9110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9110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9110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2112264"/>
            <a:ext cx="3986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trabalho.docx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trabalho_v2.docx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trabalho_FINAL.docx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..._agora_vai_ESSE.docx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20640" y="1499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Git = save point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120640" y="187452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uma “foto” salva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= linha do tempo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 qualquer versão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 sem conflito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áreas do Git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que destrava tudo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Diretório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trabalho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Staging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9659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3550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Repositório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926080" y="2450592"/>
            <a:ext cx="365760" cy="274320"/>
          </a:xfrm>
          <a:prstGeom prst="rightArrow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670048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06440" y="2450592"/>
            <a:ext cx="365760" cy="274320"/>
          </a:xfrm>
          <a:prstGeom prst="rightArrow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550408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21792" y="356616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Pergunte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move p/ a preparação? (add)  ·  p/ o histórico? (commit)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versionar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antes e depois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480560" cy="2377440"/>
          </a:xfrm>
          <a:prstGeom prst="roundRect">
            <a:avLst>
              <a:gd name="adj" fmla="val 230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169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caixa.py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"Cria caixa"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137160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303520" y="1499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status mostra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303520" y="18745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</a:t>
            </a:r>
            <a:r>
              <a:rPr lang="en-US" sz="14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</a:t>
            </a:r>
            <a:r>
              <a:rPr lang="en-US" sz="14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salvo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84048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um 2º commit → dois pontos na linha do tempo.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· dicas · curiosidades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é ELIMINATÓRIO em vagas. 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Recrutadores olham o seu GitHub.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836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" y="2724912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pequenos e frequentes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claras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sempre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.gitignore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286000"/>
            <a:ext cx="3931920" cy="178308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604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Curiosidades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56048" y="272491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Microsoft, 2018, US$ 7,5 bi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Torvalds em 2005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Descentralizado (cópia completa)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· Bloco B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7EA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Juntos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o caixa.py com a turma, vendo o git status a cada passo.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269748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804672" y="28254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87552" y="28254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170432" y="28254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22960" y="3026664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caixa.py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"..."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956048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🧑‍💻 Sozinho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56048" y="187452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o programa da Aula 2 (1º commit)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 e faça um 2º commit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log: veja os </a:t>
            </a:r>
            <a:r>
              <a:rPr lang="en-US" sz="13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integrador · Caixa + Git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sim, os dois juntos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real do dev: escreveu → testou → versionou.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389120" cy="1554480"/>
          </a:xfrm>
          <a:prstGeom prst="roundRect">
            <a:avLst>
              <a:gd name="adj" fmla="val 5294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Entrega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2834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 caixa.py e pelo menos 2 commits com mensagens claras.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175504" y="15453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358384" y="15453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41264" y="15453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93792" y="1746504"/>
            <a:ext cx="33467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caixa.py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"Cria caixa"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após melhorias: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caixa.py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"..."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geral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blocos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" y="149961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14996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19659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- * / // % **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é float · // é inteiro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→ parênteses na dúvida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quantos cabem · % quanto sobra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56048" y="149961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6048" y="14996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56048" y="196596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guarda commits (linha do tempo)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áreas: trabalho → staging → repo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add → commit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 log o tempo todo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4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+ decisão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desconto deveria valer só acima de R$ 100 → o programa precisa DECIDIR.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condicionais  if · elif · else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remoto: push · clone · pull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operadores voltam dentro das condições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A: calcular  ·  Bloco B: versionar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4 — Condicionais e Git Remoto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1523</Words>
  <Application>Microsoft Office PowerPoint</Application>
  <PresentationFormat>Apresentação na tela (16:9)</PresentationFormat>
  <Paragraphs>355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10</cp:revision>
  <dcterms:created xsi:type="dcterms:W3CDTF">2026-07-09T18:23:48Z</dcterms:created>
  <dcterms:modified xsi:type="dcterms:W3CDTF">2026-07-09T22:48:23Z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2026-07-09T18:58:50Z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502d991e-b05e-40a0-a83a-ef5a9023a61f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