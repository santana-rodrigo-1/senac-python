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2EA0D-FEE9-42DE-9353-2064036AA861}" v="2" dt="2026-07-08T11:15:32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a1fa1215-9303-47e9-8a35-409838d5fc84" providerId="ADAL" clId="{F37CF76F-DDD9-47A5-86AF-5CB8C488BF33}"/>
    <pc:docChg chg="delSld modSld">
      <pc:chgData name="Mario Alberto Aragao Duarte" userId="a1fa1215-9303-47e9-8a35-409838d5fc84" providerId="ADAL" clId="{F37CF76F-DDD9-47A5-86AF-5CB8C488BF33}" dt="2026-07-08T11:15:39.213" v="6"/>
      <pc:docMkLst>
        <pc:docMk/>
      </pc:docMkLst>
      <pc:sldChg chg="modSp mod">
        <pc:chgData name="Mario Alberto Aragao Duarte" userId="a1fa1215-9303-47e9-8a35-409838d5fc84" providerId="ADAL" clId="{F37CF76F-DDD9-47A5-86AF-5CB8C488BF33}" dt="2026-07-06T17:23:33.350" v="2" actId="20577"/>
        <pc:sldMkLst>
          <pc:docMk/>
          <pc:sldMk cId="0" sldId="265"/>
        </pc:sldMkLst>
        <pc:spChg chg="mod">
          <ac:chgData name="Mario Alberto Aragao Duarte" userId="a1fa1215-9303-47e9-8a35-409838d5fc84" providerId="ADAL" clId="{F37CF76F-DDD9-47A5-86AF-5CB8C488BF33}" dt="2026-07-06T17:23:33.350" v="2" actId="20577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Mario Alberto Aragao Duarte" userId="a1fa1215-9303-47e9-8a35-409838d5fc84" providerId="ADAL" clId="{F37CF76F-DDD9-47A5-86AF-5CB8C488BF33}" dt="2026-07-08T11:15:39.213" v="6"/>
        <pc:sldMkLst>
          <pc:docMk/>
          <pc:sldMk cId="0" sldId="267"/>
        </pc:sldMkLst>
        <pc:spChg chg="mod">
          <ac:chgData name="Mario Alberto Aragao Duarte" userId="a1fa1215-9303-47e9-8a35-409838d5fc84" providerId="ADAL" clId="{F37CF76F-DDD9-47A5-86AF-5CB8C488BF33}" dt="2026-07-08T11:15:39.213" v="6"/>
          <ac:spMkLst>
            <pc:docMk/>
            <pc:sldMk cId="0" sldId="267"/>
            <ac:spMk id="24" creationId="{00000000-0000-0000-0000-000000000000}"/>
          </ac:spMkLst>
        </pc:spChg>
      </pc:sldChg>
      <pc:sldChg chg="del">
        <pc:chgData name="Mario Alberto Aragao Duarte" userId="a1fa1215-9303-47e9-8a35-409838d5fc84" providerId="ADAL" clId="{F37CF76F-DDD9-47A5-86AF-5CB8C488BF33}" dt="2026-07-08T11:12:34.116" v="3" actId="47"/>
        <pc:sldMkLst>
          <pc:docMk/>
          <pc:sldMk cId="2650261953" sldId="272"/>
        </pc:sldMkLst>
      </pc:sldChg>
      <pc:sldChg chg="del">
        <pc:chgData name="Mario Alberto Aragao Duarte" userId="a1fa1215-9303-47e9-8a35-409838d5fc84" providerId="ADAL" clId="{F37CF76F-DDD9-47A5-86AF-5CB8C488BF33}" dt="2026-07-08T11:12:40.072" v="4" actId="47"/>
        <pc:sldMkLst>
          <pc:docMk/>
          <pc:sldMk cId="27204231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46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do modelo. Substitua o número/tema da aula ao duplicar o bloco. Este deck é um TEMPLATE: os slides 5 a 18 correspondem às 12 seções obrigatórias de cada aula, preenchidos com a Aula 1 como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09EAB-B04E-23D6-6862-D8B33372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E7514-C238-E3D3-E9F0-C62E22C94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08E79-4D1C-97A6-8F41-8BF3202D4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do modelo. Substitua o número/tema da aula ao duplicar o bloco. Este deck é um TEMPLATE: os slides 5 a 18 correspondem às 12 seções obrigatórias de cada aula, preenchidos com a Aula 1 como exemplo.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8379B-59F1-8C49-E5E4-EFE71E1A69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12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1 — INTRODUÇÃO. Deve conter: objetivo da aula, onde o conhecimento é usado, aplicações reais, uma curiosidade e um pequeno contexto/história para engajar. Abra perguntando à turma como fazem um café/sanduíche — introduz a ideia de algoritmo.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2 — FUNDAMENTOS. Explique a teoria de forma simples, sempre com analogia (cozinha, banco, supermercado...). Aqui: algoritmo = receita; 4 pilares; por que Python. Lembre: sempre usar Python 3 (Python 2 foi descontinuado em 2020).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3 — DEMONSTRAÇÃO. Construa o código incrementalmente; explique cada linha, cada função, cada parâmetro e a saída esperada. Mostre os erros possíveis e como corrigir. Rode ao vivo no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4 — EXEMPLOS. Apresente vários exemplos misturando pessoal e corporativo (estoque, cadastro, RH, relatórios, automação...). Para a Aula 1, foco em print e formatação de saída.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5 — MERCADO. Mostre onde o assunto aparece em startups, bancos, indústria, hospitais, governo, comércio, logística, educação. Sempre cite boas práticas de mercado. Aqui: pensamento computacional e por que ele é testado em entrevistas.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SEÇÕES 6 e 7 — DICAS + CURIOSIDADES (combináveis num slide). Dicas: atalhos, nomenclatura, clean code, erros de iniciante. Curiosidades: origem, evolução, uso por grandes empresas, diferenças entre versões.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8 — COMPARAÇÕES. Sempre que possível, compare (lista x tupla, for x while, compilada x interpretada...). Explique QUANDO usar cada uma. Aqui: compilada x interpretada e tipagem estática x dinâmica.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9 — EXERCÍCIOS. Sempre em dificuldade crescente: básico, intermediário, avançado, desafio, lógica e problema real. Entregue a lista da UC1 correspondente ao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10 — PROJETO DA AULA. Pequeno projeto que integra o conteúdo (calculadora, agenda, sistema bancário, crachá...). Peça para o aluno personalizar e versionar no Git a partir da Aula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SEÇÕES 11 e 12 — RESUMO + PRÓXIMOS PASSOS. Reforce os pontos-chave e as boas práticas; crie a ponte natural com o próximo tema. Faça revisão espaçada no início da aula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Recado: este é o gabarito visual. Cada aula nova = duplicar o bloco de 12 seções e refazer textos, códigos, exemplos e exercícios.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39074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39989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7223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600427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Computacional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o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Python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66928" y="3977640"/>
            <a:ext cx="2926080" cy="0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Departamento Regional Rio de Janeiro  |  Curso que desenvolve competência</a:t>
            </a:r>
            <a:endParaRPr lang="en-US" sz="105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5F4A8D1-2BF0-7301-0F38-199E1E8852D9}"/>
              </a:ext>
            </a:extLst>
          </p:cNvPr>
          <p:cNvSpPr txBox="1"/>
          <p:nvPr/>
        </p:nvSpPr>
        <p:spPr>
          <a:xfrm>
            <a:off x="465667" y="2160025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0F25A-65AD-EAD7-FF68-68A13D633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D4E612-26FB-B774-3BD9-1AC8B0E3C664}"/>
              </a:ext>
            </a:extLst>
          </p:cNvPr>
          <p:cNvSpPr/>
          <p:nvPr/>
        </p:nvSpPr>
        <p:spPr>
          <a:xfrm>
            <a:off x="813816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A4D551F9-2E83-9E8E-8850-ED6868E25CE3}"/>
              </a:ext>
            </a:extLst>
          </p:cNvPr>
          <p:cNvSpPr/>
          <p:nvPr/>
        </p:nvSpPr>
        <p:spPr>
          <a:xfrm>
            <a:off x="548640" y="13716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Computacional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o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Python</a:t>
            </a:r>
            <a:endParaRPr lang="en-US" sz="28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9771565A-EB45-DB83-959F-C30898228E0C}"/>
              </a:ext>
            </a:extLst>
          </p:cNvPr>
          <p:cNvSpPr/>
          <p:nvPr/>
        </p:nvSpPr>
        <p:spPr>
          <a:xfrm>
            <a:off x="566928" y="2880360"/>
            <a:ext cx="2377440" cy="0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1D7F5E7A-5AAC-5FE9-2A4E-5E84393CC185}"/>
              </a:ext>
            </a:extLst>
          </p:cNvPr>
          <p:cNvSpPr/>
          <p:nvPr/>
        </p:nvSpPr>
        <p:spPr>
          <a:xfrm>
            <a:off x="548640" y="30632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4B07CFD-BC0E-DBCD-BF23-B1752063559C}"/>
              </a:ext>
            </a:extLst>
          </p:cNvPr>
          <p:cNvSpPr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B1BD3FB6-117E-2809-0792-17957E97B64E}"/>
              </a:ext>
            </a:extLst>
          </p:cNvPr>
          <p:cNvSpPr/>
          <p:nvPr/>
        </p:nvSpPr>
        <p:spPr>
          <a:xfrm>
            <a:off x="7132320" y="1691640"/>
            <a:ext cx="1280160" cy="128016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9FD1FB6D-D3AA-1BBE-3EB9-4F9CB0FB8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558" y="1998878"/>
            <a:ext cx="665683" cy="665683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4E19529F-44F9-2E15-0660-FBF438C81451}"/>
              </a:ext>
            </a:extLst>
          </p:cNvPr>
          <p:cNvSpPr/>
          <p:nvPr/>
        </p:nvSpPr>
        <p:spPr>
          <a:xfrm>
            <a:off x="548640" y="960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2431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aplicações reais · contexto que desperta interesse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35240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b="1" dirty="0">
              <a:solidFill>
                <a:srgbClr val="2B6C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Objetivo da aula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70078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que é programar, aprender a “pensar como um computador” e deixar o ambiente Python pronto para trabalhar.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se aplica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2944368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decide se há saldo; iFood calcula rota; Netflix recomenda.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= dar instruções tão precisas que a máquina executa.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entrevista técnica avalia esse raciocínio antes do código.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23560" y="1234440"/>
            <a:ext cx="3063240" cy="3154680"/>
          </a:xfrm>
          <a:prstGeom prst="roundRect">
            <a:avLst>
              <a:gd name="adj" fmla="val 2388"/>
            </a:avLst>
          </a:prstGeom>
          <a:solidFill>
            <a:srgbClr val="1B2A4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33872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Contexto &amp; curiosidade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33872" y="17830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1º dia na JWC Tech o recrutador pede: “descreva, passo a passo, como você faz um café.” É exatamente a habilidade central do programador.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33872" y="30632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Lovelace escreveu o 1º algoritmo em 1843 — quase 100 anos antes de existir um computador. Lógica independe da máquina.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Teóricos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simples + analogia do cotidiano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🍰 Analogia: a receita de bolo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1737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importa (não asse antes de misturar).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sem ambiguidade (“bata 5 min”, não “um pouco”).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fim garantido (não roda para sempre).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pilares do pensamento computacional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1947672" cy="1234440"/>
          </a:xfrm>
          <a:prstGeom prst="roundRect">
            <a:avLst>
              <a:gd name="adj" fmla="val 5185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85216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03504" y="3639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Decomposição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03504" y="3950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quebrar em partes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542032" y="3108960"/>
            <a:ext cx="1947672" cy="1234440"/>
          </a:xfrm>
          <a:prstGeom prst="roundRect">
            <a:avLst>
              <a:gd name="adj" fmla="val 5185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670048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688336" y="3639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Padrões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688336" y="3950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que se repete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26864" y="3108960"/>
            <a:ext cx="1947672" cy="1234440"/>
          </a:xfrm>
          <a:prstGeom prst="roundRect">
            <a:avLst>
              <a:gd name="adj" fmla="val 5185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754880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773168" y="3639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773168" y="3950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o irrelevante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11696" y="3108960"/>
            <a:ext cx="1947672" cy="1234440"/>
          </a:xfrm>
          <a:prstGeom prst="roundRect">
            <a:avLst>
              <a:gd name="adj" fmla="val 5185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839712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858000" y="3639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858000" y="3950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a passo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54880" y="12344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B2A4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4956048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Python?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956048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próxima do inglês, menos “cerimônia” que outras linguagens. Interpretada, popular e usada por Google, Netflix e Instagram.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Passo a Passo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o código aos poucos, explicando cada linha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892040" cy="2148840"/>
          </a:xfrm>
          <a:prstGeom prst="roundRect">
            <a:avLst>
              <a:gd name="adj" fmla="val 25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3716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68096" y="13716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32688" y="13716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03504" y="1563624"/>
            <a:ext cx="45994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Meu primeiro programa em Python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print("Olá! Bem-vindo à JWC Tech.")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saída esperada: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Olá! Bem-vindo à JWC Tech.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32120" y="1234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Explicação linha a linha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577840" y="1536192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→  comentário (o Python ignora).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 →  função que exibe na tela.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"texto"  →  string, sempre entre aspas.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FCEBE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6732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367588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comuns: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(maiúsculo) → NameError  ·  esquecer as aspas → SyntaxError. </a:t>
            </a: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diferencia maiúsculas de minúsculas.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Práticos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Misture aplicações pessoais e corporativas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pessoal / estudante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103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visitas em texto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de anotações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ideias em passos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2801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42900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Pequeno negócio / autônomo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47288" y="2103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 automático da padaria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de promoção repetida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agradecimento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2801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21792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Corporativo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36208" y="2103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de relatório de vendas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saída de dados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automação de rotinas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Trabalho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tema aparece nas empresas + boas práticas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0080" y="161848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7647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Startups &amp; techs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18562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Prototipagem rápida; pensamento computacional em toda entrevista técnica.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32588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4846320" y="161848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17647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Bancos &amp; fintechs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669280" y="18562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processos e análise de risco (Itaú, Nubank, Stone).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40080" y="308152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22783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Indústria &amp; IoT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63040" y="33192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controle e coleta de dados de máquinas.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63440" y="278892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846320" y="308152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32278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Governo &amp; educação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69280" y="33192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rotinas administrativas e ensino.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6·7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 &amp; Curiosidades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+ origem/evolução do recurso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14800" cy="3063240"/>
          </a:xfrm>
          <a:prstGeom prst="roundRect">
            <a:avLst>
              <a:gd name="adj" fmla="val 2388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44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Dicas profissionais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" y="1828800"/>
            <a:ext cx="39136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sem espaço/acento: relatorio_vendas.py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Comente o porquê, não o óbvio.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/ comenta/descomenta no VS Code.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documentação é normal — não decore.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pasta por aula: organização desde o dia 1.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54880" y="128016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1B2A4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56048" y="1444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Curiosidades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56048" y="18288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vem do grupo de comédia Monty Python — não da cobra.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Instagram e no Spotify em escala de </a:t>
            </a:r>
            <a:r>
              <a:rPr lang="en-US" sz="1250" dirty="0" err="1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</a:t>
            </a:r>
            <a:r>
              <a:rPr lang="en-US" sz="125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 foi descontinuado em 2020 — sempre use o 3.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alternativa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Compilada (C, Java)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Interpretada (Python)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roda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Traduz tudo antes de executar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Traduz linha a linha ao executar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rápida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pouco mais lenta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complexa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simples de aprender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Altíssima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Web, dados, automação,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para ~95% das tarefas do mercado, a diferença de velocidade é irrelevante — a produtividade do Python compensa.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9" name="Text 8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crescente: básico → desafio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8229600" cy="676656"/>
          </a:xfrm>
          <a:prstGeom prst="roundRect">
            <a:avLst>
              <a:gd name="adj" fmla="val 9459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21792" y="148132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21792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331720" y="132588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 nome, cidade e sonho profissional em 3 linhas.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112264"/>
            <a:ext cx="8229600" cy="676656"/>
          </a:xfrm>
          <a:prstGeom prst="roundRect">
            <a:avLst>
              <a:gd name="adj" fmla="val 9459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21792" y="22677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2267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Intermediário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331720" y="2112264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algoritmo de “trocar um pneu” em pseudocódigo.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2898648"/>
            <a:ext cx="8229600" cy="676656"/>
          </a:xfrm>
          <a:prstGeom prst="roundRect">
            <a:avLst>
              <a:gd name="adj" fmla="val 9459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621792" y="305409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21792" y="30540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Avançado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331720" y="2898648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“sacar no caixa” tratando senha errada.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57200" y="3685032"/>
            <a:ext cx="8229600" cy="676656"/>
          </a:xfrm>
          <a:prstGeom prst="roundRect">
            <a:avLst>
              <a:gd name="adj" fmla="val 9459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21792" y="3840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21792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331720" y="3685032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loja precisa imprimir a mesma etiqueta de promoção 5 vezes. Escreva um</a:t>
            </a:r>
          </a:p>
          <a:p>
            <a:pPr marL="0" indent="0">
              <a:buNone/>
            </a:pPr>
            <a:r>
              <a:rPr lang="pt-BR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faça isso com print 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da Aula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todo o conteúdo em algo prático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1207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Crachá Digital da JWC Tech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15727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um crachá formatado usando print e o operador "-" * n. Depois, refaça com os seus dados e um cargo dos sonhos.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40080" y="26883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projeto exercita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3504" y="2999232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print() e comentários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e o operador de repetição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legibilidade do código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0" y="1207008"/>
            <a:ext cx="3200400" cy="2926080"/>
          </a:xfrm>
          <a:prstGeom prst="roundRect">
            <a:avLst>
              <a:gd name="adj" fmla="val 1875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632704" y="1344168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797296" y="1344168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961888" y="1344168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632704" y="1536192"/>
            <a:ext cx="2907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Crachá Digital - JWC Tech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print("+" + "-"*20 + "+")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print("| JWC TECH SOLUTIONS |")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print("+" + "-"*20 + "+")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print("| Nome: Ana Souza    |")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print("| Cargo: Dev Python  |")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print("+" + "-"*20 + "+")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crie o SEU crachá!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11·12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572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&amp; Próximos Passos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737360" y="7863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Fixação + ligação com a próxima aula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937760" cy="3063240"/>
          </a:xfrm>
          <a:prstGeom prst="roundRect">
            <a:avLst>
              <a:gd name="adj" fmla="val 2388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44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Resumo da aula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" y="1828800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= sequência finita e ordenada de passos.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computacional: decompor, padrões, abstração, algoritmo.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é simples e interpretado — use sempre a versão 3.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exibe; # comenta; texto entre aspas.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prática: pense o algoritmo antes de codificar.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577840" y="1280160"/>
            <a:ext cx="3108960" cy="3063240"/>
          </a:xfrm>
          <a:prstGeom prst="roundRect">
            <a:avLst>
              <a:gd name="adj" fmla="val 2388"/>
            </a:avLst>
          </a:prstGeom>
          <a:solidFill>
            <a:srgbClr val="1B2A4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463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aula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79008" y="1965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crachá com dados fixos é limitado. E se o programa pudesse perguntar o nome e guardar a resposta?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79008" y="3108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→ Variáveis, tipos de dados, entrada (input) e saída. Transformar programas “fixos” em interativos.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32104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96012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179576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0" y="3429000"/>
            <a:ext cx="2743200" cy="0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— Lógica de Programação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F55A9BA-8440-9471-18DA-25F88906E7F7}"/>
              </a:ext>
            </a:extLst>
          </p:cNvPr>
          <p:cNvSpPr/>
          <p:nvPr/>
        </p:nvSpPr>
        <p:spPr>
          <a:xfrm>
            <a:off x="91440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Fim da Aula 1</a:t>
            </a:r>
            <a:endParaRPr lang="en-US" sz="24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63A2006-D392-5CD3-432B-140CB33A6A52}"/>
              </a:ext>
            </a:extLst>
          </p:cNvPr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Aula 2 — </a:t>
            </a:r>
            <a:r>
              <a:rPr lang="pt-BR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Variáveis, Tipos de Dados, Entrada e Saída</a:t>
            </a:r>
          </a:p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1656</Words>
  <Application>Microsoft Office PowerPoint</Application>
  <PresentationFormat>Apresentação na tela (16:9)</PresentationFormat>
  <Paragraphs>203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UC1 — Modelo de Aula (Aulas 1 a 8)</dc:title>
  <dc:subject>PptxGenJS Presentation</dc:subject>
  <dc:creator>SENAC · Programação em Python</dc:creator>
  <cp:lastModifiedBy>Mario Alberto Aragao Duarte</cp:lastModifiedBy>
  <cp:revision>4</cp:revision>
  <dcterms:created xsi:type="dcterms:W3CDTF">2026-07-02T19:26:04Z</dcterms:created>
  <dcterms:modified xsi:type="dcterms:W3CDTF">2026-07-08T11:15:47Z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2026-07-04T20:23:12Z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60a44387-2fda-44c7-9270-de7104564d60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