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BAB3B-707F-4BCA-9C33-71DA3EFB3934}" v="1" dt="2026-07-08T11:33:04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a1fa1215-9303-47e9-8a35-409838d5fc84" providerId="ADAL" clId="{F37CF76F-DDD9-47A5-86AF-5CB8C488BF33}"/>
    <pc:docChg chg="modSld">
      <pc:chgData name="Mario Alberto Aragao Duarte" userId="a1fa1215-9303-47e9-8a35-409838d5fc84" providerId="ADAL" clId="{F37CF76F-DDD9-47A5-86AF-5CB8C488BF33}" dt="2026-07-08T11:33:22.161" v="9" actId="20577"/>
      <pc:docMkLst>
        <pc:docMk/>
      </pc:docMkLst>
      <pc:sldChg chg="modSp mod">
        <pc:chgData name="Mario Alberto Aragao Duarte" userId="a1fa1215-9303-47e9-8a35-409838d5fc84" providerId="ADAL" clId="{F37CF76F-DDD9-47A5-86AF-5CB8C488BF33}" dt="2026-07-08T11:33:22.161" v="9" actId="20577"/>
        <pc:sldMkLst>
          <pc:docMk/>
          <pc:sldMk cId="0" sldId="258"/>
        </pc:sldMkLst>
        <pc:spChg chg="mod">
          <ac:chgData name="Mario Alberto Aragao Duarte" userId="a1fa1215-9303-47e9-8a35-409838d5fc84" providerId="ADAL" clId="{F37CF76F-DDD9-47A5-86AF-5CB8C488BF33}" dt="2026-07-08T11:33:22.161" v="9" actId="20577"/>
          <ac:spMkLst>
            <pc:docMk/>
            <pc:sldMk cId="0" sldId="25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69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pdhqwbUWf4U&amp;t=7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457200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183880" y="84124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183880" y="1225296"/>
            <a:ext cx="128016" cy="128016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7223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2029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Variáveis, Tipos de Dados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Entrada/Saída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66928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zero: como o computador pensa, guarda e conversa com o usuário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43342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47000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Departamento Regional Rio de Janeiro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espaçada — Aula 1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 antes de avançar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937760" cy="288036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sabemos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" y="1627632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= sequência finita e ordenada de passos (como uma receita).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= decompor + achar padrões + abstrair + criar o algoritmo.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mostra algo na tela; # é comentário; texto vai entre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2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2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2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endParaRPr lang="en-US" sz="1200" dirty="0">
              <a:solidFill>
                <a:srgbClr val="1F2A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pt-BR" sz="1200" dirty="0">
                <a:hlinkClick r:id="rId4"/>
              </a:rPr>
              <a:t>Como linguagem de programação - YouTube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32120" y="1188720"/>
            <a:ext cx="315468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678424" y="131673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861304" y="131673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044184" y="131673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696712" y="1517904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print("Bem-vindo")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print("Escondido")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print("à JWC Tech")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32120" y="2697480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6D6"/>
          </a:solidFill>
          <a:ln w="12700">
            <a:solidFill>
              <a:srgbClr val="E8C766"/>
            </a:solidFill>
            <a:prstDash val="solid"/>
          </a:ln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8" name="Text 15"/>
          <p:cNvSpPr/>
          <p:nvPr/>
        </p:nvSpPr>
        <p:spPr>
          <a:xfrm>
            <a:off x="5678424" y="2788920"/>
            <a:ext cx="29550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err="1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“Bem-</a:t>
            </a:r>
            <a:r>
              <a:rPr lang="en-US" sz="1400" i="1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vindo</a:t>
            </a: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e “à JWC Tech”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96712" y="3081528"/>
            <a:ext cx="2825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96712" y="3685032"/>
            <a:ext cx="2825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tudo: o que é programar?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segue </a:t>
            </a:r>
            <a:r>
              <a:rPr lang="en-US" sz="1200" i="1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</a:t>
            </a: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é “burro”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160520" cy="288036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mais libertadora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627632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computador não é inteligente. Ele é rápido e obediente: faz exatamente o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mandamus, nem mais, nem menos. Por isso o “bug” quase nunca é culpa dele; está na ordem que nós escrevemos.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00600" y="1188720"/>
            <a:ext cx="3886200" cy="288036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3" name="Text 10"/>
          <p:cNvSpPr/>
          <p:nvPr/>
        </p:nvSpPr>
        <p:spPr>
          <a:xfrm>
            <a:off x="498348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dirty="0"/>
              <a:t>Primeira vez fazendo café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83480" y="160934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“faça um café” e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sabe os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diga: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0" y="2139696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a xícara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uma colher de pó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ferva 200 ml de água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983480" y="3401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 ele </a:t>
            </a:r>
            <a:r>
              <a:rPr lang="en-US" sz="1150" i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r>
              <a:rPr lang="en-US" sz="11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repetiria 10 mil vezes sem reclamar. </a:t>
            </a:r>
          </a:p>
          <a:p>
            <a:pPr marL="0" indent="0">
              <a:buNone/>
            </a:pPr>
            <a:r>
              <a:rPr lang="en-US" sz="1150" i="1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r>
              <a:rPr lang="en-US" sz="11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escrever essas ordens detalhadas.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programa e “rodar”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406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lê de cima para baixo, linha por linha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965960" y="1170432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programa é um arquivo de texto com uma lista de ordens. “Rodar” é pedir ao computador para ler essa lista e cumprir cada ordem, uma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ordem, sem pular, sem voltar.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57400" y="2514600"/>
            <a:ext cx="2267712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2167128" y="25146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1:  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print("Olá")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16552" y="2587752"/>
            <a:ext cx="457200" cy="237744"/>
          </a:xfrm>
          <a:prstGeom prst="right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92040" y="25146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57400" y="2990088"/>
            <a:ext cx="2267712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167128" y="29900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2:  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"Ana"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16552" y="3063240"/>
            <a:ext cx="457200" cy="237744"/>
          </a:xfrm>
          <a:prstGeom prst="right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892040" y="29900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057400" y="3465576"/>
            <a:ext cx="2267712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167128" y="346557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3:  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print(nome)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16552" y="3538728"/>
            <a:ext cx="457200" cy="237744"/>
          </a:xfrm>
          <a:prstGeom prst="right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892040" y="346557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memória do computador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variáveis “vivem” enquanto o programa roda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023360" cy="2697480"/>
          </a:xfrm>
          <a:prstGeom prst="roundRect">
            <a:avLst>
              <a:gd name="adj" fmla="val 3051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🗂️ Mesa de trabalho = RAM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166420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Rápida, mas limitada, e esvaziada quando o programa termina. Tudo que a variável guarda vive aqui, enquanto o programa roda.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8803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 trabalhamos só na “mesa”: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criamos variáveis, usamos e, ao fim, some tudo.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234440"/>
            <a:ext cx="402336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8463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🗄️ Armário = disco (HD/SSD)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46320" y="166420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as coisas de forma permanente (arquivos, fotos, o próprio programa), mesmo com o computador desligado.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28803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em arquivo (no “armário”) </a:t>
            </a: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assunto de aulas mais adiante.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programa “congelado” ao programa interativo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892040" cy="1417320"/>
          </a:xfrm>
          <a:prstGeom prst="roundRect">
            <a:avLst>
              <a:gd name="adj" fmla="val 5806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58368" y="1298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Objetivo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1591056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informações (variáveis), classificá-las por tipo e fazer o programa conversar com o usuário (entrada e saída). É o que transforma dados fixos em um programa interativo.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24912"/>
            <a:ext cx="4892040" cy="1536192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58368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Contexto — JWC Tech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3127248"/>
            <a:ext cx="4572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"Seu crachá é bonito, mas os dados são fixos. Preciso de um programa que pergunte o nome e monte o crachá. Um sistema que não recebe dados do usuário não serve para nada."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532120" y="1188720"/>
            <a:ext cx="3154680" cy="3072384"/>
          </a:xfrm>
          <a:prstGeom prst="roundRect">
            <a:avLst>
              <a:gd name="adj" fmla="val 267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733288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é usado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15000" y="1609344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tela de cadastro, login e formulário.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supermercado (preço × quantidade).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transporte (origem e destino).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15000" y="2971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  </a:t>
            </a: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“variável” vem da matemática, mas aqui é uma “memória com </a:t>
            </a:r>
            <a:r>
              <a:rPr lang="en-US" sz="1050" dirty="0" err="1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”, ideia tão antiga quanto os computadores dos anos 1940.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· Variável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 (etiqueta) que aponta para um valor na memória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🏷️ Caixa etiquetada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21792" y="23317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caixa guarda algo; a etiqueta é o nome pelo qual você a chama.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64592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410712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🛅 Guarda-volumes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10712" y="23317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guarda a mochila e recebe uma senha (o nome). Apresenta a senha e recebe a mochila de volta.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164592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99632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📇 Contato no celular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99632" y="23317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salva um número como “Mãe” e liga sem lembrar o número. O nome aponta para a informação.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· Como funciona por dentro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Python faz ao ler  nome = "Ana"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Avalia o lado direito ("Ana") e guarda o texto numa gaveta livre da memória.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Cria a etiqueta nome.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Liga a etiqueta à gaveta. A partir daí, nome significa “vá à gaveta e traga Ana”.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48640" y="3063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37360" y="3163824"/>
            <a:ext cx="502920" cy="219456"/>
          </a:xfrm>
          <a:prstGeom prst="right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377440" y="3063240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377440" y="306324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630168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48640" y="36301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737360" y="3730752"/>
            <a:ext cx="502920" cy="219456"/>
          </a:xfrm>
          <a:prstGeom prst="rightArrow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2377440" y="3630168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377440" y="36301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           memória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57800" y="1188720"/>
            <a:ext cx="3429000" cy="3072384"/>
          </a:xfrm>
          <a:prstGeom prst="roundRect">
            <a:avLst>
              <a:gd name="adj" fmla="val 2679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440680" y="13167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“=” não é o igual da matemática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440680" y="1874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da direita para a esquerda: “pegue o valor da direita e guarde na etiqueta da esquerda”. É receba, não igualdade.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40680" y="2834640"/>
            <a:ext cx="3108960" cy="128016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5586984" y="29626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5769864" y="29626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952744" y="29626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605272" y="3163824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contador + 1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pega 0, soma 1, guarda -&gt; 1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· Constante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que não deve mudar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937760" cy="2697480"/>
          </a:xfrm>
          <a:prstGeom prst="roundRect">
            <a:avLst>
              <a:gd name="adj" fmla="val 3051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7160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é: um valor fixo durante o programa (taxa de juros, PI, alíquota de imposto).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não tem constante “de verdade”: usa-se a convenção de escrever o nome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MAIÚSCULAS é um combinado que significa “não mexa aqui”.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usar: centraliza valores fixos. Mudou a taxa? Você altera em um lugar só, não em dez.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32120" y="1234440"/>
            <a:ext cx="3154680" cy="1828800"/>
          </a:xfrm>
          <a:prstGeom prst="roundRect">
            <a:avLst>
              <a:gd name="adj" fmla="val 3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678424" y="13624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861304" y="13624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044184" y="13624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696712" y="1563624"/>
            <a:ext cx="2843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TAXA_JUROS = 0.02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SALARIO_MINIMO = 1518.00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MAIÚSCULAS = não mexa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tipos existem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mais importante da aula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1704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Se, por baixo, tudo é número, o computador precisa saber como interpretar aquilo. O tipo é o rótulo que diz: “trate isto como texto” ou “como número”.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87452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008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🧂 Potes idênticos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230428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e açúcar são dois pós brancos em potes iguais. Sem o rótulo, você não sabe qual é qual  e se trocar estraga o prato. O tipo é o rótulo do valor.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87452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84632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📞 </a:t>
            </a:r>
            <a:r>
              <a:rPr lang="en-US" sz="1350" b="1" dirty="0" err="1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</a:t>
            </a:r>
            <a:r>
              <a:rPr lang="en-US" sz="135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telefone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46320" y="230428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21987654321 parece número, mas ninguém soma dois telefones nem tira a média. Na prática é texto. Nem tudo que tem dígitos é número.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tipos fundamentais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· int · float · bool  (e o momento “aha”)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074920" cy="2057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"João"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nomes, endereços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 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contagens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preços, médias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decisões (Aula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0" y="1234440"/>
            <a:ext cx="3017520" cy="1600200"/>
          </a:xfrm>
          <a:prstGeom prst="roundRect">
            <a:avLst>
              <a:gd name="adj" fmla="val 3429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5815584" y="13624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5998464" y="13624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6181344" y="13624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10"/>
          <p:cNvSpPr/>
          <p:nvPr/>
        </p:nvSpPr>
        <p:spPr>
          <a:xfrm>
            <a:off x="5833872" y="1563624"/>
            <a:ext cx="2706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F7C9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"3"  -&gt; "53"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COLA os textos!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+  3   -&gt; 8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SOMA os números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0" y="297180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5833872" y="29718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+ faz coisas diferentes conforme o tipo.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Descubra o tipo com type().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 </a:t>
            </a: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com ponto: 19.90 (nunca 19,90 — a vírgula gera bug silencioso).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Saída de dados · f-string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moderna de misturar texto e variáveis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 “liga o modo f-string”. O Python acha tudo entre { }, calcula e encaixa no texto.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fazer conta dentro: f"Ano que vem: {idade + 1}".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Dinheiro: :.2f mostra duas casas — f"R$ {preco:.2f}" -&gt; R$ 19.90.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12080" y="128016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358384" y="140817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541264" y="140817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5724144" y="140817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376672" y="1609344"/>
            <a:ext cx="3163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"Ana"; idade = 30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print(f"{nome} tem {idade} anos.")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tem 30 anos.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= 19.9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print(f"R$ {preco:.2f}")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R$ 19.90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de dados · input()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que o usuário digita — e a regra de ouro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do input("Nome: "), passo a passo: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Mostra a mensagem “Nome: ”.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PAUSA e espera o usuário digitar + Enter.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Captura o que foi digitado como TEXTO.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Guarda na variável e o programa continua.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49240" y="1188720"/>
            <a:ext cx="3337560" cy="3072384"/>
          </a:xfrm>
          <a:prstGeom prst="roundRect">
            <a:avLst>
              <a:gd name="adj" fmla="val 2679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5532120" y="13350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REGRA DE OURO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32120" y="170078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SEMPRE devolve texto (str), mesmo que o usuário digite um número.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2651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calcular, é preciso converter antes. É o erro nº 1 desta aula  e veremos acontecer ao vivo na demonstração.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Conversão de tipos · casting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 valor de um tipo em outro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4206240" cy="1874520"/>
          </a:xfrm>
          <a:prstGeom prst="roundRect">
            <a:avLst>
              <a:gd name="adj" fmla="val 292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3624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3624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3624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563624"/>
            <a:ext cx="3895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int("30")     # -&gt; 30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float("19.9") # -&gt; 19.9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str(30)       # -&gt; "30"</a:t>
            </a: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endParaRPr lang="en-US" sz="11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int("abc")    # ValueError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40080" y="32461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int("30") funciona: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lê os caracteres 3 e 0, reconhece um inteiro e cria o valor 30.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46320" y="1234440"/>
            <a:ext cx="3840480" cy="288036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02920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/ evitar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10912" y="1682496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logo após um input() que vai virar conta.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se o dado é texto (um </a:t>
            </a:r>
            <a:r>
              <a:rPr lang="en-US" sz="120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deixe como str.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int("abc") falha porque “abc” não representa um número.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o erro ao vivo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Provocamos o erro de propósito para entendê-lo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Capturar o nome funciona: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1481328"/>
            <a:ext cx="4206240" cy="1051560"/>
          </a:xfrm>
          <a:prstGeom prst="roundRect">
            <a:avLst>
              <a:gd name="adj" fmla="val 521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160934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160934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160934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1810512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input("Nome: ")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print(f"Bem-vinda, {nome}!")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Bem-vinda, Ana!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Agora o erro clássico: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2990088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603504" y="311810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786384" y="311810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69264" y="311810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21792" y="3319272"/>
            <a:ext cx="3895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input("Idade: 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print(idade + 1)   # erro!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F6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concatenate str...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1234440"/>
            <a:ext cx="3840480" cy="2880360"/>
          </a:xfrm>
          <a:prstGeom prst="roundRect">
            <a:avLst>
              <a:gd name="adj" fmla="val 2857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deu erro?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0" y="1700784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devolveu o texto "30", não o número 30.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não sabe somar texto com </a:t>
            </a:r>
            <a:r>
              <a:rPr lang="en-US" sz="1250" dirty="0" err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seria como juntar a palavra “trinta” com o número 1.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0" y="30632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can only concatenate str é o Python dizendo: “eu só sei colar texto com texto”.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a correção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resolve — e formatando dinheiro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1887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de dentro para fora: input() captura "30" (texto) → int(...) transforma em 30 (número) → guarda em idade. Agora a conta funciona.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3504" y="2505456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86384" y="2505456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969264" y="2505456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21792" y="2706624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int(input("Idade: "))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print(f"Ano que vem: {idade+1}")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Ano que vem: 31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383280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 a entrada na origem: int(input(...)) já resolve.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Trabalhando com dinheiro (float + :.2f):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846320" y="148132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992624" y="160934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5175504" y="160934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5358384" y="160934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010912" y="1810512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salario = float(input("R$ "))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print(f"R$ {salario:.2f}")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digita 2500.5 -&gt; R$ 2500.50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2971800"/>
            <a:ext cx="3840480" cy="1143000"/>
          </a:xfrm>
          <a:prstGeom prst="roundRect">
            <a:avLst>
              <a:gd name="adj" fmla="val 72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029200" y="308152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R$ 2500.5 para um valor em dinheiro é sinal de amadorismo. O :.2f garante sempre as duas casas.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· crachá completo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junto — e uma tabela de erros comuns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07008"/>
            <a:ext cx="4160520" cy="2926080"/>
          </a:xfrm>
          <a:prstGeom prst="roundRect">
            <a:avLst>
              <a:gd name="adj" fmla="val 187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33502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33502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33502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536192"/>
            <a:ext cx="38496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print("=== Cadastro JWC ===")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input("Nome: 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= input("Cargo: 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int(input("Idade: "))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print(f"| Nome:  {nome}")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print(f"| Cargo: {cargo}")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print(f"| Idade: {idade} anos")</a:t>
            </a:r>
            <a:endParaRPr lang="en-US" sz="1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print(f"| Em 5 anos: {idade+5}")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207008"/>
          <a:ext cx="3840480" cy="2743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+ 1 sem int()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int(input(...))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digitar abc na idade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(Aula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escrever 19,90 (vírgula)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ponto: 19.90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esquecer o f na f-string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pôr f antes das aspas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Práticos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pessoal ao corporativo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85216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🧾 Cadastro CRM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" y="19385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CPF e e-mail de um cliente.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42032" y="13716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2670048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💵 Troco (varejo)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70048" y="19385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− total, formatado em R$.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3716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75488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🌡️ Temperatura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19385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 → °F, com uma casa decimal.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11696" y="13716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839712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Comissão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39712" y="19385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× 5% (constante) → autônomo.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85216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🧮 Holerite (RH)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85216" y="33101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 − INSS (11%) → líquido.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42032" y="27432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2670048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Média escolar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70048" y="33101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(n1+n2+n3)/3 com :.1f.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26864" y="27432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754880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💱 Conversor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54880" y="33101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÷ cotação → dólares.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11696" y="274320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839712" y="2852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IMC (saúde)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39712" y="33101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/ (altura ** 2).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perfil: estudante (notas/unidades) · autônomo (comissões/recibos) · pequeno negócio (troco/cadastro) · corporativo (holerite/CRM).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Trabalho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 usar dados é o coração de todo sistema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Comércio/varejo: o PDV lê preço e quantidade a cada item.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RH: a folha captura salário-base e calcula descontos (INSS, IR, VT).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Bancos/fintechs: cada valor digitado vira uma variável validada antes de virar transação.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dados: todo dataset é variável com tipo — confundir int/float/str corrompe análises.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automação/ETL: cada campo de formulário e cada célula de planilha vira variável.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FFF6D6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  </a:t>
            </a: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confie cegamente na entrada. Sistemas reais validam os dados — a validação vem com condicionais (Aula 4), mas o profissional já sabe que é obrigatória.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outra pessoa entende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descritivos: preco_produto, não p, x ou pp. O código deve se ler como frase.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(PEP 8): minúsculas com underline — total_vendas, nome_completo.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em MAIÚSCULAS: TAXA_JUROS, SALARIO_MINIMO.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nomes reservados (print, input, list, type, str) — você “quebra” o comando.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acento/espaço no nome: use preco_medio.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Converta a entrada assim que recebê-la e formate dinheiro sempre com :.2f.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que ajudam a fixar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362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f-string é recente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165506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(pré-2016) formatava-se com % ou .format(); a f-string é a forma recomendada hoje.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23444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846320" y="1362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 é int por baixo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165506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vale 1 e False vale 0. Teste: print(True + True) -&gt; 2.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40080" y="2871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Inteiros sem limite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316382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calcula 2 ** 1000 sem “estourar” — em C/Java isso daria overflow.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2743200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846320" y="28712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Tipagem dinâmica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16382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variável pode guardar número e depois texto. Flexível, mas exige cuidado.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cada coisa se aplica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114800" cy="20116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"30"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(caracteres)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 → erro/concatena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 → soma (31)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vem de input()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vem de int(input())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201168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→ programa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→ tela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retorna sempre str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retorna (só exibe)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resultado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× concatenação:  </a:t>
            </a:r>
            <a:r>
              <a:rPr lang="en-US" sz="11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f"Idade: {idade}"  é mais legível que  "Idade: " + str(idade) + " anos"  (que exige converter tudo em str).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44140" y="1682496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37760" y="1682496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da Aula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Cadastro JWC Tech — tudo integrado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07008"/>
            <a:ext cx="4709160" cy="2926080"/>
          </a:xfrm>
          <a:prstGeom prst="roundRect">
            <a:avLst>
              <a:gd name="adj" fmla="val 1875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3504" y="1335024"/>
            <a:ext cx="91440" cy="91440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786384" y="1335024"/>
            <a:ext cx="91440" cy="91440"/>
          </a:xfrm>
          <a:prstGeom prst="ellipse">
            <a:avLst/>
          </a:prstGeom>
          <a:solidFill>
            <a:srgbClr val="FFD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969264" y="1335024"/>
            <a:ext cx="91440" cy="91440"/>
          </a:xfrm>
          <a:prstGeom prst="ellipse">
            <a:avLst/>
          </a:prstGeom>
          <a:solidFill>
            <a:srgbClr val="2F85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1536192"/>
            <a:ext cx="43982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print("=== FICHA JWC ===")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input("Nome: ")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int(input("Idade: "))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= input("Cargo: ")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 = int(input("Exp (anos): "))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 = float(input("Pretensão: "))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ANO_ATUAL = 2026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 = ANO_ATUAL - exp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print(f"{nome} | {cargo}")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print(f"Em 5 anos: {idade+5}")</a:t>
            </a:r>
            <a:endParaRPr lang="en-US" sz="9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9CE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print(f"R$ {pret:.2f}")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49240" y="1207008"/>
            <a:ext cx="3337560" cy="2926080"/>
          </a:xfrm>
          <a:prstGeom prst="roundRect">
            <a:avLst>
              <a:gd name="adj" fmla="val 2813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532120" y="1335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integra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513832" y="1664208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dos 4 tipos.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+ casting (int, float).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(ANO_ATUAL) e um cálculo derivado.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com conta dentro (idade + 5).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:.2f.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53212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11·12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5648" y="329184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&amp; Próximos Passos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755648" y="795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+ ponte para a Aula 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0920" y="4754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7360920" y="4754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UC1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280160"/>
            <a:ext cx="4114800" cy="2971800"/>
          </a:xfrm>
          <a:prstGeom prst="roundRect">
            <a:avLst>
              <a:gd name="adj" fmla="val 2769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40080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Resumo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1792" y="173736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= etiqueta que aponta para um valor; = é receba (direita → esquerda).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= valor fixo, em MAIÚSCULAS.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str, int, float, bool; descubra com type().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sempre devolve texto → converta (casting) para calcular.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 monta mensagens; :.2f para dinheiro.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3931920" cy="2971800"/>
          </a:xfrm>
          <a:prstGeom prst="roundRect">
            <a:avLst>
              <a:gd name="adj" fmla="val 2769"/>
            </a:avLst>
          </a:prstGeom>
          <a:solidFill>
            <a:srgbClr val="EAF2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937760" y="1408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➡ Próximos passos — Aula 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173736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sabemos guardar e exibir dados, mas fizemos só contas simples. Na Aula 3 dominamos todos os operadores aritméticos — incluindo // (divisão inteira), % (resto) e ** (potência) — e a precedência, para cálculos de verdade (troco em notas, juros, médias). E aprendemos Git, que versiona e protege o seu código.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· Programação em Python · UC1 · Aula 2 (conceitual)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0" y="4828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2B6CB0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25296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2 concluída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tipos e entrada/saída: a matéria-prima de todo cálculo e toda decisão.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Próxima: Aula 3 — Operadores Aritméticos, Expressões e Git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3228</Words>
  <Application>Microsoft Office PowerPoint</Application>
  <PresentationFormat>Apresentação na tela (16:9)</PresentationFormat>
  <Paragraphs>431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SENAC · Programação em Python</dc:creator>
  <cp:lastModifiedBy>Mario Alberto Aragao Duarte</cp:lastModifiedBy>
  <cp:revision>10</cp:revision>
  <dcterms:created xsi:type="dcterms:W3CDTF">2026-07-07T16:18:15Z</dcterms:created>
  <dcterms:modified xsi:type="dcterms:W3CDTF">2026-07-08T11:33:29Z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2026-07-07T16:41:39Z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9925e798-9abf-4ece-9676-488585de4f78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