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3" r:id="rId15"/>
    <p:sldId id="274" r:id="rId16"/>
    <p:sldId id="275" r:id="rId17"/>
    <p:sldId id="276" r:id="rId18"/>
    <p:sldId id="277" r:id="rId19"/>
    <p:sldId id="278" r:id="rId20"/>
    <p:sldId id="282" r:id="rId21"/>
    <p:sldId id="283" r:id="rId22"/>
    <p:sldId id="280" r:id="rId23"/>
    <p:sldId id="281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369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2D6EC-20B3-9107-F134-989A95D27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C9808-5B53-0FC0-7530-8DC3CDD3A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12C63-060B-9744-295D-8E35FCC7D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2B56E-3B30-F881-A65C-362DFB287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289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BC25-94FB-1F87-5F9B-922311E64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33DFE-8143-1348-0120-E34217E3F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47C6E-B38A-D274-6581-EC03B4855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406DA-65B0-58AB-95C5-6283D566B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56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103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Funções, Parâmetros e Retorno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e · Import de Bibliotecas</a:t>
            </a:r>
            <a:endParaRPr lang="en-US"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esta aula está organizada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partes encadeadas — sem sair e voltar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148840"/>
          </a:xfrm>
          <a:prstGeom prst="roundRect">
            <a:avLst>
              <a:gd name="adj" fmla="val 383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58368" y="1499616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8368" y="14996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874520" y="1499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" y="192024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as SUAS próprias funções: def, parâmetros e return.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3931920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956048" y="1499616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956048" y="14996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72200" y="14996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de bibliotecas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956048" y="192024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funções que outros já escreveram: random, math, datetime.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3657600"/>
            <a:ext cx="8229600" cy="800100"/>
          </a:xfrm>
          <a:prstGeom prst="roundRect">
            <a:avLst>
              <a:gd name="adj" fmla="val 13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40080" y="37566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2 é a consequência da Parte 1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uma função é um bloco reutilizável, uma biblioteca é um pacote cheio de funções prontas — e import é como você as pega emprestado.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— Aula 7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gancho de hoje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60520" cy="2788920"/>
          </a:xfrm>
          <a:prstGeom prst="roundRect">
            <a:avLst>
              <a:gd name="adj" fmla="val 29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Pergunte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7373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teste de mesa?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tipos de erro?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mais perigoso? (lógica)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espiar uma variável no meio do código? (print de rastreio)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46320" y="1280160"/>
            <a:ext cx="3840480" cy="2788920"/>
          </a:xfrm>
          <a:prstGeom prst="roundRect">
            <a:avLst>
              <a:gd name="adj" fmla="val 2951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folha de pagamento (Aula 7), o cálculo do INSS estava “solto” no meio do código.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0" y="26060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precisássemos dele em 5 lugares? Copiar 5 vezes — e, se a alíquota mudar, caçar as 5 cópias.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3566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escrever uma vez e reutilizar — as FUNÇÕES.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371600" cy="13716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50592" y="217627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468880" y="2926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as suas próprias funções: def, parâmetros e return.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funções existem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DRY — não se repita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O botão “expresso”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repete moer, esquentar e pressionar toda vez — aperta UM botão. Alguém programou uma vez; você só CHAMA.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40080" y="283464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DRY = Don't Repeat Yourself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repetido é a fonte nº 1 de bugs difíceis de manter. Um dos mandamentos da engenharia de software.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937760" y="1325880"/>
            <a:ext cx="3749040" cy="2788920"/>
          </a:xfrm>
          <a:prstGeom prst="roundRect">
            <a:avLst>
              <a:gd name="adj" fmla="val 29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120640" y="1435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Vocês já usam funções desde a Aula 1!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20640" y="1965960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 input()  int()
float()  type()  range()
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são funções PRONTAS do Python. Vocês já são usuários há 7 aulas — hoje aprendem a CRIAR as suas.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uma função com def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anatomia — e o detalhe que confunde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1737360"/>
          </a:xfrm>
          <a:prstGeom prst="roundRect">
            <a:avLst>
              <a:gd name="adj" fmla="val 315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saudacao(nome):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"""Exibe uma saudação."""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print(f"Olá, {nome}!")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saudacao("Ana")   # CHAMADA → Olá, Ana!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246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= define · nome em snake_case (verbo)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(nome) = parâmetro (a entrada)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 indentação = corpo (como no if/for)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”””...””” = docstring (documenta)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0" y="137160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852160" y="137160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Definir ≠ executar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do def só roda quando você CHAMA a função. Definir = escrever a receita; chamar = cozinhar.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69280" y="310896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833872" y="3108960"/>
            <a:ext cx="2688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Ao vivo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só o def → nada. Adicione a chamada → aparece. Esse contraste fixa.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 × argumento · e padrão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 e os parâmetros opcionais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17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na DEFINIÇÃO
</a:t>
            </a:r>
            <a:r>
              <a:rPr lang="en-US" sz="11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saudacao(nome)
</a:t>
            </a: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 na CHAMADA
</a:t>
            </a:r>
            <a:r>
              <a:rPr lang="en-US" sz="11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saudacao("Ana")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= campo do formulário · argumento = o que você preenche.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3375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03504" y="346557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86384" y="346557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969264" y="346557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21792" y="3666744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somar(a, b): print(a + b)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somar(3, 5)   # a=3, b=5 (ordem!)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com valor padrão (opcional):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937760" y="169164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084064" y="181965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266944" y="181965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449824" y="181965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102352" y="2020824"/>
            <a:ext cx="3438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preco(valor, desc=0):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valor - valor*desc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preco(100)      # 100 (padrão)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preco(100, 0.1) # 90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× print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mais importante da aula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MOSTRA na tela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1572768"/>
            <a:ext cx="4206240" cy="1691640"/>
          </a:xfrm>
          <a:prstGeom prst="roundRect">
            <a:avLst>
              <a:gd name="adj" fmla="val 324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700784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700784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700784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1901952"/>
            <a:ext cx="3895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dobro_print(n):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 * 2)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dobro_print(5)  # imprime 10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 # None!  😱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o valor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937760" y="1572768"/>
            <a:ext cx="3749040" cy="1691640"/>
          </a:xfrm>
          <a:prstGeom prst="roundRect">
            <a:avLst>
              <a:gd name="adj" fmla="val 324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084064" y="1700784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266944" y="1700784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449824" y="1700784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02352" y="1901952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dobro_return(n):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2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dobro_return(5)  # nada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print(y)   # 10!  ✅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4290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40080" y="34290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 prática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REAPROVEITAR o resultado (guardar, somar, comparar)? Use return. print é só para MOSTRAR ao usuário. Função de cálculo quase sempre usa return.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Encadear funções = modularização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de uma vira a entrada de outra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029200" cy="2377440"/>
          </a:xfrm>
          <a:prstGeom prst="roundRect">
            <a:avLst>
              <a:gd name="adj" fmla="val 230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718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calcular_media(n1, n2):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(n1 + n2) / 2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situacao(media):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media &gt;= 7: return "Aprovado"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media &gt;= 5: return "Recup."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return "Reprovado"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calcular_media(8, 6)   # 7.0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print(situacao(m))   # Aprovado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3716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Ponto de ensino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situacao usa o RETORNO de calcular_media. Isso é modularização: cada função com UMA responsabilidade, trabalhando juntas.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· e procedimento × função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variável “existe”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95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calcular():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10   # só existe aqui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print(calcular())  # 10 ✅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# NameError 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108960"/>
            <a:ext cx="3877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Sala de reunião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combinado na sala fica na sala. A variável local vive só durante a execução da função.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937760" y="1371600"/>
            <a:ext cx="374904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12064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é BOM?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20640" y="18105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que uma função estrague as variáveis de outra. Cada uma tem seu espaço isolado → código seguro e previsível.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repetição para a função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na prática — o “antes e depois”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Antes — repetido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755648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755648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755648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1956816"/>
            <a:ext cx="3895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200 - (200 * 0.10)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350 - (350 * 0.10)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= 80 - (80 * 0.10)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2971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o desconto? Altera em 3 lugares (e esquece um).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93776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Depois — com função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937760" y="1627632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084064" y="1755648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266944" y="1755648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449824" y="1755648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102352" y="1956816"/>
            <a:ext cx="3438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desconto(v, taxa=0.10):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 - (v * taxa)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desconto(200)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desconto(350)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21792" y="365760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Desafio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desconto virar 15%, quantas linhas você muda na versão com função? (uma!)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práticos (funções)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responsabilidade cada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21792" y="1499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🏦 Banco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1792" y="19019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depositar(saldo, valor) → return saldo+valor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37160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828032" y="1499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💱 Câmbio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828032" y="19019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real_para_dolar(v, cot=5.20)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21792" y="2871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IMC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21792" y="32735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calcular_imc(peso, altura)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274320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828032" y="2871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💵 Formatador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828032" y="32735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formatar_reais(v) → f"R$ {v:.2f}"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 · </a:t>
            </a:r>
            <a:r>
              <a:rPr lang="pt-BR" sz="2400" b="1" dirty="0"/>
              <a:t>Sistema Bancário</a:t>
            </a:r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4770329-09CF-E7B1-1ADE-D6A97677A368}"/>
              </a:ext>
            </a:extLst>
          </p:cNvPr>
          <p:cNvSpPr txBox="1"/>
          <p:nvPr/>
        </p:nvSpPr>
        <p:spPr>
          <a:xfrm>
            <a:off x="457200" y="1298448"/>
            <a:ext cx="8465820" cy="403187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1400" b="1" dirty="0"/>
              <a:t>Etapa 1 – Criar a função depositar()</a:t>
            </a:r>
          </a:p>
          <a:p>
            <a:r>
              <a:rPr lang="pt-BR" sz="1400" dirty="0"/>
              <a:t>Receber o saldo atual e o valor do depósito. </a:t>
            </a:r>
          </a:p>
          <a:p>
            <a:r>
              <a:rPr lang="pt-BR" sz="1400" dirty="0"/>
              <a:t>Retornar o novo saldo após o depósito. </a:t>
            </a:r>
            <a:br>
              <a:rPr lang="pt-BR" sz="1400" dirty="0"/>
            </a:br>
            <a:endParaRPr lang="pt-BR" sz="1400" dirty="0"/>
          </a:p>
          <a:p>
            <a:r>
              <a:rPr lang="pt-BR" sz="1400" b="1" dirty="0"/>
              <a:t>Etapa 2 – Criar a função sacar()</a:t>
            </a:r>
          </a:p>
          <a:p>
            <a:r>
              <a:rPr lang="pt-BR" sz="1400" dirty="0"/>
              <a:t>Receber o saldo atual e o valor do saque. </a:t>
            </a:r>
          </a:p>
          <a:p>
            <a:r>
              <a:rPr lang="pt-BR" sz="1400" dirty="0"/>
              <a:t>Verificar se existe saldo suficiente. </a:t>
            </a:r>
          </a:p>
          <a:p>
            <a:r>
              <a:rPr lang="pt-BR" sz="1400" dirty="0"/>
              <a:t>Caso exista, realizar o saque. </a:t>
            </a:r>
          </a:p>
          <a:p>
            <a:r>
              <a:rPr lang="pt-BR" sz="1400" dirty="0"/>
              <a:t>Caso contrário, informar que o saldo é insuficiente. </a:t>
            </a:r>
          </a:p>
          <a:p>
            <a:endParaRPr lang="pt-BR" sz="1400" dirty="0"/>
          </a:p>
          <a:p>
            <a:r>
              <a:rPr lang="pt-BR" sz="1400" b="1" dirty="0"/>
              <a:t>Etapa 3 – Criar a função extrato()</a:t>
            </a:r>
          </a:p>
          <a:p>
            <a:r>
              <a:rPr lang="pt-BR" sz="1400" dirty="0"/>
              <a:t>Receber o saldo atual. </a:t>
            </a:r>
          </a:p>
          <a:p>
            <a:r>
              <a:rPr lang="pt-BR" sz="1400" dirty="0"/>
              <a:t>Exibir o saldo da conta formatado em reais. </a:t>
            </a:r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  <a:p>
            <a:br>
              <a:rPr lang="pt-BR" sz="1400" dirty="0"/>
            </a:br>
            <a:endParaRPr lang="pt-BR" sz="1400" dirty="0"/>
          </a:p>
          <a:p>
            <a:r>
              <a:rPr lang="pt-BR" sz="1400" b="1" dirty="0"/>
              <a:t>Etapa 4 – Criar o menu principal</a:t>
            </a:r>
          </a:p>
          <a:p>
            <a:r>
              <a:rPr lang="pt-BR" sz="1400" dirty="0"/>
              <a:t>Criar um menu utilizando </a:t>
            </a:r>
            <a:r>
              <a:rPr lang="pt-BR" sz="1400" dirty="0" err="1"/>
              <a:t>while</a:t>
            </a:r>
            <a:r>
              <a:rPr lang="pt-BR" sz="1400" dirty="0"/>
              <a:t> para permitir ao usuário realizar as operações.</a:t>
            </a:r>
          </a:p>
          <a:p>
            <a:r>
              <a:rPr lang="pt-BR" sz="1400" dirty="0"/>
              <a:t>===== BANCO PYTHON =====</a:t>
            </a:r>
          </a:p>
          <a:p>
            <a:endParaRPr lang="pt-BR" sz="1400" dirty="0"/>
          </a:p>
          <a:p>
            <a:r>
              <a:rPr lang="pt-BR" sz="1400" dirty="0"/>
              <a:t>1 - Depositar</a:t>
            </a:r>
          </a:p>
          <a:p>
            <a:r>
              <a:rPr lang="pt-BR" sz="1400" dirty="0"/>
              <a:t>2 - Sacar</a:t>
            </a:r>
          </a:p>
          <a:p>
            <a:r>
              <a:rPr lang="pt-BR" sz="1400" dirty="0"/>
              <a:t>3 - Extrato</a:t>
            </a:r>
          </a:p>
          <a:p>
            <a:r>
              <a:rPr lang="pt-BR" sz="1400" dirty="0"/>
              <a:t>4 - Sair</a:t>
            </a:r>
          </a:p>
          <a:p>
            <a:endParaRPr lang="pt-BR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371600" cy="13716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50592" y="217627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de bibliotecas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468880" y="2926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as milhares de funções prontas que outros já escreveram — é só pegar emprestado.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biblioteca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pacote cheio de funções prontas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1554480"/>
          </a:xfrm>
          <a:prstGeom prst="roundRect">
            <a:avLst>
              <a:gd name="adj" fmla="val 5294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🧰 A caixa de ferramentas emprestada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19659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fabrica uma furadeira toda vez — pega uma pronta. Alguém já construiu, testou e disponibilizou a função. import é pegar a caixa emprestada.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937760" y="1371600"/>
            <a:ext cx="374904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12064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120640" y="18105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você NÃO reescrever o que já existe. É o que torna o Python tão produtivo: há biblioteca para quase tudo.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02352" y="27889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· web · IA · gráficos · jogos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usa; não precisa saber o “como”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comando import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biblioteca.funcao() — e onde colocar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  # traz a caixa “math”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print(math.sqrt(9))  # 3.0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print(math.pi)       # 3.1415...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108960"/>
            <a:ext cx="4608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Por que math.sqrt e não só sqrt?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math. diz de qual caixa a ferramenta vem — evita confusão se duas bibliotecas tiverem funções de mesmo nome.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0" y="13716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52160" y="13716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Onde colocar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no TOPO do arquivo (convenção do mercado).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66928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formas (recomende a básica):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0" y="2788920"/>
            <a:ext cx="3017520" cy="1325880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815584" y="29169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998464" y="29169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181344" y="29169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833872" y="3118104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sqrt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sqrt(9)  # sem “math.”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as m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m.sqrt(9)  # apelido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bibliotecas úteis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· math · datetime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743200" cy="2286000"/>
          </a:xfrm>
          <a:prstGeom prst="roundRect">
            <a:avLst>
              <a:gd name="adj" fmla="val 24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2432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random.randint(1,6)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dado! 🎲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random.choice(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["cara","coroa"])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1371600"/>
            <a:ext cx="2743200" cy="2286000"/>
          </a:xfrm>
          <a:prstGeom prst="roundRect">
            <a:avLst>
              <a:gd name="adj" fmla="val 24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343814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362102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380390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456432" y="1700784"/>
            <a:ext cx="2432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math.sqrt(144) # 12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math.ceil(4.1) # 5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math.floor(4.9)# 4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math.pi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627278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645566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63854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291072" y="1700784"/>
            <a:ext cx="224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\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date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date.today()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h.year  # 2026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8168640" cy="746760"/>
          </a:xfrm>
          <a:prstGeom prst="roundRect">
            <a:avLst>
              <a:gd name="adj" fmla="val 13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1755648" y="3877056"/>
            <a:ext cx="6179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criávamos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ANO_ATUAL = 2026 na mão. Agora o datetime descobre o ano sozinho.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Integrador · Jogo da Adivinhação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+ função + while + if + contador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8912" y="1371600"/>
            <a:ext cx="8083296" cy="3346704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67391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novo_numero():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random.randint(1, 10)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 = novo_numero(); tentativas = 0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palpite = int(input("Palpite: "))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tentativas += 1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palpite == secreto: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print(f"🎉 {tentativas} tentativa(s)"); break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palpite &lt; secreto: print("Mais alto ⬆")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print("Mais baixo ⬇")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final · Mini Banco modularizado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UC1 INTEIRA em ação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065008" cy="329184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7036308" cy="290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depositar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(s, v): return s + v</a:t>
            </a:r>
          </a:p>
          <a:p>
            <a:pPr>
              <a:lnSpc>
                <a:spcPct val="105000"/>
              </a:lnSpc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sacar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(s, v): return s if v &gt; s else s - v</a:t>
            </a:r>
          </a:p>
          <a:p>
            <a:pPr>
              <a:lnSpc>
                <a:spcPct val="105000"/>
              </a:lnSpc>
            </a:pPr>
            <a:endParaRPr lang="en-US" sz="1400" dirty="0">
              <a:solidFill>
                <a:srgbClr val="E6EDF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05000"/>
              </a:lnSpc>
            </a:pP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</a:t>
            </a:r>
          </a:p>
          <a:p>
            <a:pPr>
              <a:lnSpc>
                <a:spcPct val="105000"/>
              </a:lnSpc>
            </a:pPr>
            <a:endParaRPr lang="en-US" sz="1400" dirty="0">
              <a:solidFill>
                <a:srgbClr val="E6EDF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05000"/>
              </a:lnSpc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</a:p>
          <a:p>
            <a:pPr>
              <a:lnSpc>
                <a:spcPct val="105000"/>
              </a:lnSpc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 = input("1-Dep 2-Saq 3-Ext 4-Sair: ")</a:t>
            </a:r>
          </a:p>
          <a:p>
            <a:pPr>
              <a:lnSpc>
                <a:spcPct val="105000"/>
              </a:lnSpc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op == "1": 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depositar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float(input()))</a:t>
            </a:r>
          </a:p>
          <a:p>
            <a:pPr>
              <a:lnSpc>
                <a:spcPct val="105000"/>
              </a:lnSpc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 == "2": 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sacar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float(input()))</a:t>
            </a:r>
          </a:p>
          <a:p>
            <a:pPr>
              <a:lnSpc>
                <a:spcPct val="105000"/>
              </a:lnSpc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 == "3": print(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 == "4": break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5AD8A-8055-2057-BD7B-3C6B8802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AC7BC9-CED3-E611-4F81-358FABA30709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F41AA4-CEB6-ADC8-C3B6-D49130CDB19C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142B50F-5DAB-F21C-B413-8906C0BEE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82B5B6B-435F-C5F3-371D-EAEC60F81A7F}"/>
              </a:ext>
            </a:extLst>
          </p:cNvPr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</a:t>
            </a: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 Sistema Cassino</a:t>
            </a:r>
            <a:endParaRPr lang="en-US" sz="2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167192D-2518-B32C-D1A9-12FA7D203A68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5C7047A-896F-7E69-C2BC-C0F82CF49F1C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87506B1-9CB4-4360-D8E8-C2B45AF05116}"/>
              </a:ext>
            </a:extLst>
          </p:cNvPr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3ADADE4-A52D-8CE2-D450-26533858D72D}"/>
              </a:ext>
            </a:extLst>
          </p:cNvPr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6DE12-52A1-0E77-8BAC-11F6C2B16F8E}"/>
              </a:ext>
            </a:extLst>
          </p:cNvPr>
          <p:cNvSpPr txBox="1"/>
          <p:nvPr/>
        </p:nvSpPr>
        <p:spPr>
          <a:xfrm>
            <a:off x="533400" y="1062674"/>
            <a:ext cx="8671560" cy="418576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1400" b="1" dirty="0"/>
              <a:t>Etapa 1 – Criar a função </a:t>
            </a:r>
            <a:r>
              <a:rPr lang="pt-BR" sz="1400" b="1" dirty="0" err="1"/>
              <a:t>cara_ou_coroa</a:t>
            </a:r>
            <a:r>
              <a:rPr lang="pt-BR" sz="1400" b="1" dirty="0"/>
              <a:t>()</a:t>
            </a:r>
          </a:p>
          <a:p>
            <a:r>
              <a:rPr lang="pt-BR" sz="1400" dirty="0"/>
              <a:t>Importar a biblioteca </a:t>
            </a:r>
            <a:r>
              <a:rPr lang="pt-BR" sz="1400" dirty="0" err="1"/>
              <a:t>random</a:t>
            </a:r>
            <a:r>
              <a:rPr lang="pt-BR" sz="1400" dirty="0"/>
              <a:t> </a:t>
            </a:r>
          </a:p>
          <a:p>
            <a:r>
              <a:rPr lang="pt-BR" sz="1400" dirty="0"/>
              <a:t>Utilizar </a:t>
            </a:r>
            <a:r>
              <a:rPr lang="pt-BR" sz="1400" dirty="0" err="1"/>
              <a:t>random.choice</a:t>
            </a:r>
            <a:r>
              <a:rPr lang="pt-BR" sz="1400" dirty="0"/>
              <a:t>() </a:t>
            </a:r>
          </a:p>
          <a:p>
            <a:r>
              <a:rPr lang="pt-BR" sz="1400" dirty="0"/>
              <a:t>Exibir o resultado (Cara ou Coroa) </a:t>
            </a:r>
          </a:p>
          <a:p>
            <a:endParaRPr lang="pt-BR" sz="1400" dirty="0"/>
          </a:p>
          <a:p>
            <a:r>
              <a:rPr lang="pt-BR" sz="1400" b="1" dirty="0"/>
              <a:t>Etapa 2 – Criar a função </a:t>
            </a:r>
            <a:r>
              <a:rPr lang="pt-BR" sz="1400" b="1" dirty="0" err="1"/>
              <a:t>lancar_dado</a:t>
            </a:r>
            <a:r>
              <a:rPr lang="pt-BR" sz="1400" b="1" dirty="0"/>
              <a:t>()</a:t>
            </a:r>
          </a:p>
          <a:p>
            <a:r>
              <a:rPr lang="pt-BR" sz="1400" dirty="0"/>
              <a:t>Importar a biblioteca </a:t>
            </a:r>
            <a:r>
              <a:rPr lang="pt-BR" sz="1400" dirty="0" err="1"/>
              <a:t>random</a:t>
            </a:r>
            <a:r>
              <a:rPr lang="pt-BR" sz="1400" dirty="0"/>
              <a:t> </a:t>
            </a:r>
          </a:p>
          <a:p>
            <a:r>
              <a:rPr lang="pt-BR" sz="1400" dirty="0"/>
              <a:t>Utilizar </a:t>
            </a:r>
            <a:r>
              <a:rPr lang="pt-BR" sz="1400" dirty="0" err="1"/>
              <a:t>random.randint</a:t>
            </a:r>
            <a:r>
              <a:rPr lang="pt-BR" sz="1400" dirty="0"/>
              <a:t>(1, 6) </a:t>
            </a:r>
          </a:p>
          <a:p>
            <a:r>
              <a:rPr lang="pt-BR" sz="1400" dirty="0"/>
              <a:t>Exibir o número sorteado</a:t>
            </a:r>
          </a:p>
          <a:p>
            <a:endParaRPr lang="pt-BR" sz="1400" dirty="0"/>
          </a:p>
          <a:p>
            <a:r>
              <a:rPr lang="pt-BR" sz="1400" b="1" dirty="0"/>
              <a:t>Etapa 3 – Criar a função </a:t>
            </a:r>
            <a:r>
              <a:rPr lang="pt-BR" sz="1400" b="1" dirty="0" err="1"/>
              <a:t>numero_secreto</a:t>
            </a:r>
            <a:r>
              <a:rPr lang="pt-BR" sz="1400" b="1" dirty="0"/>
              <a:t>()</a:t>
            </a:r>
          </a:p>
          <a:p>
            <a:r>
              <a:rPr lang="pt-BR" sz="1400" dirty="0"/>
              <a:t>Importar a biblioteca </a:t>
            </a:r>
            <a:r>
              <a:rPr lang="pt-BR" sz="1400" dirty="0" err="1"/>
              <a:t>random</a:t>
            </a:r>
            <a:r>
              <a:rPr lang="pt-BR" sz="1400" dirty="0"/>
              <a:t> </a:t>
            </a:r>
          </a:p>
          <a:p>
            <a:r>
              <a:rPr lang="pt-BR" sz="1400" dirty="0"/>
              <a:t>Utilizar </a:t>
            </a:r>
            <a:r>
              <a:rPr lang="pt-BR" sz="1400" dirty="0" err="1"/>
              <a:t>random.randint</a:t>
            </a:r>
            <a:r>
              <a:rPr lang="pt-BR" sz="1400" dirty="0"/>
              <a:t>(1, 20) </a:t>
            </a:r>
          </a:p>
          <a:p>
            <a:r>
              <a:rPr lang="pt-BR" sz="1400" dirty="0"/>
              <a:t>Criar um jogo onde o usuário tenta adivinhar o número </a:t>
            </a:r>
          </a:p>
          <a:p>
            <a:r>
              <a:rPr lang="pt-BR" sz="1400" dirty="0"/>
              <a:t>Informar se o número é maior ou menor </a:t>
            </a:r>
          </a:p>
          <a:p>
            <a:r>
              <a:rPr lang="pt-BR" sz="1400" dirty="0"/>
              <a:t>Contar a quantidade de tentativas </a:t>
            </a:r>
          </a:p>
          <a:p>
            <a:r>
              <a:rPr lang="pt-BR" sz="1400" dirty="0"/>
              <a:t>					</a:t>
            </a:r>
          </a:p>
          <a:p>
            <a:endParaRPr lang="pt-BR" sz="1400" b="1" dirty="0"/>
          </a:p>
          <a:p>
            <a:r>
              <a:rPr lang="pt-BR" sz="1400" b="1" dirty="0"/>
              <a:t>Etapa 4 – Criar a função </a:t>
            </a:r>
            <a:r>
              <a:rPr lang="pt-BR" sz="1400" b="1" dirty="0" err="1"/>
              <a:t>mega_sena</a:t>
            </a:r>
            <a:r>
              <a:rPr lang="pt-BR" sz="1400" b="1" dirty="0"/>
              <a:t>()</a:t>
            </a:r>
          </a:p>
          <a:p>
            <a:r>
              <a:rPr lang="pt-BR" sz="1400" dirty="0"/>
              <a:t>Importar a biblioteca </a:t>
            </a:r>
            <a:r>
              <a:rPr lang="pt-BR" sz="1400" dirty="0" err="1"/>
              <a:t>random</a:t>
            </a:r>
            <a:r>
              <a:rPr lang="pt-BR" sz="1400" dirty="0"/>
              <a:t> </a:t>
            </a:r>
          </a:p>
          <a:p>
            <a:r>
              <a:rPr lang="pt-BR" sz="1400" dirty="0"/>
              <a:t>Utilizar </a:t>
            </a:r>
            <a:r>
              <a:rPr lang="pt-BR" sz="1400" dirty="0" err="1"/>
              <a:t>random.sample</a:t>
            </a:r>
            <a:r>
              <a:rPr lang="pt-BR" sz="1400" dirty="0"/>
              <a:t>() </a:t>
            </a:r>
          </a:p>
          <a:p>
            <a:r>
              <a:rPr lang="pt-BR" sz="1400" dirty="0"/>
              <a:t>Gerar 6 números diferentes entre 1 e 60</a:t>
            </a:r>
          </a:p>
          <a:p>
            <a:r>
              <a:rPr lang="pt-BR" sz="1400" dirty="0"/>
              <a:t>Exibir o jogo sorteado </a:t>
            </a:r>
            <a:br>
              <a:rPr lang="pt-BR" sz="1400" dirty="0"/>
            </a:br>
            <a:endParaRPr lang="pt-BR" sz="1400" dirty="0"/>
          </a:p>
          <a:p>
            <a:r>
              <a:rPr lang="pt-BR" sz="1400" b="1" dirty="0"/>
              <a:t>Etapa 5 – Criar a função </a:t>
            </a:r>
            <a:r>
              <a:rPr lang="pt-BR" sz="1400" b="1" dirty="0" err="1"/>
              <a:t>data_hora</a:t>
            </a:r>
            <a:r>
              <a:rPr lang="pt-BR" sz="1400" b="1" dirty="0"/>
              <a:t>()</a:t>
            </a:r>
          </a:p>
          <a:p>
            <a:r>
              <a:rPr lang="pt-BR" sz="1400" dirty="0"/>
              <a:t>Importar a biblioteca </a:t>
            </a:r>
            <a:r>
              <a:rPr lang="pt-BR" sz="1400" dirty="0" err="1"/>
              <a:t>datetime</a:t>
            </a:r>
            <a:r>
              <a:rPr lang="pt-BR" sz="1400" dirty="0"/>
              <a:t> </a:t>
            </a:r>
          </a:p>
          <a:p>
            <a:r>
              <a:rPr lang="pt-BR" sz="1400" dirty="0"/>
              <a:t>Mostrar a data e a hora da execução do programa</a:t>
            </a:r>
          </a:p>
          <a:p>
            <a:endParaRPr lang="pt-BR" sz="1400" b="1" dirty="0"/>
          </a:p>
          <a:p>
            <a:r>
              <a:rPr lang="pt-BR" sz="1400" b="1" dirty="0"/>
              <a:t>Etapa 6 – Criar o menu principal</a:t>
            </a:r>
            <a:endParaRPr lang="pt-BR" sz="1400" dirty="0"/>
          </a:p>
          <a:p>
            <a:r>
              <a:rPr lang="pt-BR" sz="1400" dirty="0"/>
              <a:t>===== CASSINO PYTHON =====</a:t>
            </a:r>
          </a:p>
          <a:p>
            <a:r>
              <a:rPr lang="pt-BR" sz="1400" dirty="0"/>
              <a:t>1 - Cara ou Coroa</a:t>
            </a:r>
          </a:p>
          <a:p>
            <a:r>
              <a:rPr lang="pt-BR" sz="1400" dirty="0"/>
              <a:t>2 - Lançar Dado</a:t>
            </a:r>
          </a:p>
          <a:p>
            <a:r>
              <a:rPr lang="pt-BR" sz="1400" dirty="0"/>
              <a:t>3 - Número Secreto</a:t>
            </a:r>
          </a:p>
          <a:p>
            <a:r>
              <a:rPr lang="pt-BR" sz="1400" dirty="0"/>
              <a:t>4 - Mega Sena</a:t>
            </a:r>
          </a:p>
          <a:p>
            <a:r>
              <a:rPr lang="pt-BR" sz="1400" dirty="0"/>
              <a:t>5 - Data e Hora</a:t>
            </a:r>
          </a:p>
          <a:p>
            <a:r>
              <a:rPr lang="pt-BR" sz="1400" dirty="0"/>
              <a:t>6 - Sair</a:t>
            </a:r>
          </a:p>
          <a:p>
            <a:endParaRPr lang="pt-BR" sz="9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02C3A3C-AF99-7237-7E63-8723255B3B17}"/>
              </a:ext>
            </a:extLst>
          </p:cNvPr>
          <p:cNvSpPr txBox="1"/>
          <p:nvPr/>
        </p:nvSpPr>
        <p:spPr>
          <a:xfrm>
            <a:off x="4494838" y="950976"/>
            <a:ext cx="224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 </a:t>
            </a: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982560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C1F4-0C4E-E3E0-C9C1-6BEE6ADB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39729E-C45E-D15D-7735-566A3E00F8FA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A205F0-1F60-8F64-75C3-137050B34C3E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662E337-A0D0-7821-2C30-2D059190C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8556892-E044-B829-B62B-994555C247AA}"/>
              </a:ext>
            </a:extLst>
          </p:cNvPr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</a:rPr>
              <a:t>Desafios</a:t>
            </a: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</a:rPr>
              <a:t> aula</a:t>
            </a:r>
            <a:endParaRPr lang="en-US" sz="2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2FE698D-636F-F287-B729-50FC8FF5E9AD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FBF3D8C-1DD7-AEB1-C3EB-75B7205C7268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EE554A1-8915-C828-C7B6-2ED468BDF457}"/>
              </a:ext>
            </a:extLst>
          </p:cNvPr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9DCE1DD-6172-99EA-B4E4-0B18D5BEA957}"/>
              </a:ext>
            </a:extLst>
          </p:cNvPr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162571-8FAD-84F8-F80C-F2493E753892}"/>
              </a:ext>
            </a:extLst>
          </p:cNvPr>
          <p:cNvSpPr txBox="1"/>
          <p:nvPr/>
        </p:nvSpPr>
        <p:spPr>
          <a:xfrm>
            <a:off x="457200" y="1247536"/>
            <a:ext cx="4318811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Desafio do Banco</a:t>
            </a:r>
          </a:p>
          <a:p>
            <a:r>
              <a:rPr lang="pt-BR" sz="1400" dirty="0"/>
              <a:t>Agora complemente o sistema adicionando:</a:t>
            </a:r>
          </a:p>
          <a:p>
            <a:endParaRPr lang="pt-BR" sz="1400" dirty="0"/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Histórico de operações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Limite diário de saques (3 saques)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Não permitir depósito negativo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Mostrar o maior depósito realizado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Mostrar o total depositado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Mostrar o total sacado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Opção "Limpar histórico"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D20730-7548-A04B-ABD3-4DD91BAF9D57}"/>
              </a:ext>
            </a:extLst>
          </p:cNvPr>
          <p:cNvSpPr txBox="1"/>
          <p:nvPr/>
        </p:nvSpPr>
        <p:spPr>
          <a:xfrm>
            <a:off x="4077292" y="1279088"/>
            <a:ext cx="506670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Desafio do Cassino</a:t>
            </a:r>
          </a:p>
          <a:p>
            <a:r>
              <a:rPr lang="pt-BR" sz="1400" dirty="0"/>
              <a:t>Agora complemente o sistema adicionando:</a:t>
            </a:r>
          </a:p>
          <a:p>
            <a:endParaRPr lang="pt-BR" sz="1400" dirty="0"/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Mostrar data e hora da partida utilizando </a:t>
            </a:r>
            <a:r>
              <a:rPr lang="pt-BR" sz="1400" dirty="0" err="1"/>
              <a:t>datetime</a:t>
            </a:r>
            <a:r>
              <a:rPr lang="pt-BR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Criar um sistema de moedas onde o jogador inicia com R$100.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Cada jogo custa R$10.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Se vencer, ganha R$20.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/>
              <a:t>Criar um ranking mostrando quantas partidas foram jogadas</a:t>
            </a:r>
          </a:p>
          <a:p>
            <a:r>
              <a:rPr lang="pt-BR" sz="1400" dirty="0"/>
              <a:t>e quantas foram vencidas.</a:t>
            </a:r>
          </a:p>
        </p:txBody>
      </p:sp>
    </p:spTree>
    <p:extLst>
      <p:ext uri="{BB962C8B-B14F-4D97-AF65-F5344CB8AC3E}">
        <p14:creationId xmlns:p14="http://schemas.microsoft.com/office/powerpoint/2010/main" val="557895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</a:t>
            </a: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passos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 — a fundação está pronta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concluíram a fundação da lógica em Python: escrever algoritmos, guardar dados, decidir, repetir, testar/depurar e organizar em funções reutilizáveis. É o alicerce de tudo o que vem.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9: vetores/listas · Aula 10: matrizes (muitos dados de uma vez)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ordenação e pesquisa · introdução à POO (Aula 11) · projeto integrador (Aula 12)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Ponte: as funções de hoje tornam tudo isso administrável — e na POO elas viram métodos.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8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0584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2529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8 concluída 🎓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 bibliotecas: o tijolo com que todo o resto é construído.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Próxima: Aula 9 — Vetores e Listas (estruturas de dados)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2423</Words>
  <Application>Microsoft Office PowerPoint</Application>
  <PresentationFormat>Apresentação na tela (16:9)</PresentationFormat>
  <Paragraphs>377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7</cp:revision>
  <dcterms:created xsi:type="dcterms:W3CDTF">2026-08-04T12:41:04Z</dcterms:created>
  <dcterms:modified xsi:type="dcterms:W3CDTF">2026-08-04T18:56:00Z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2026-08-04T17:06:49Z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2d174baa-4544-4bfc-9d57-45276b975ec1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