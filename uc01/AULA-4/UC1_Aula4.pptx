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AEC24-BCD0-4DCF-9CB7-75D2F2708F1F}" v="1" dt="2026-07-13T11:39:41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custSel mod delSld modSld">
      <pc:chgData name="Mario Alberto Aragao Duarte" userId="a1fa1215-9303-47e9-8a35-409838d5fc84" providerId="ADAL" clId="{F37CF76F-DDD9-47A5-86AF-5CB8C488BF33}" dt="2026-07-13T12:39:12.017" v="9" actId="478"/>
      <pc:docMkLst>
        <pc:docMk/>
      </pc:docMkLst>
      <pc:sldChg chg="modSp">
        <pc:chgData name="Mario Alberto Aragao Duarte" userId="a1fa1215-9303-47e9-8a35-409838d5fc84" providerId="ADAL" clId="{F37CF76F-DDD9-47A5-86AF-5CB8C488BF33}" dt="2026-07-13T11:39:41.124" v="0"/>
        <pc:sldMkLst>
          <pc:docMk/>
          <pc:sldMk cId="0" sldId="256"/>
        </pc:sldMkLst>
        <pc:spChg chg="mod">
          <ac:chgData name="Mario Alberto Aragao Duarte" userId="a1fa1215-9303-47e9-8a35-409838d5fc84" providerId="ADAL" clId="{F37CF76F-DDD9-47A5-86AF-5CB8C488BF33}" dt="2026-07-13T11:39:41.124" v="0"/>
          <ac:spMkLst>
            <pc:docMk/>
            <pc:sldMk cId="0" sldId="256"/>
            <ac:spMk id="11" creationId="{00000000-0000-0000-0000-000000000000}"/>
          </ac:spMkLst>
        </pc:spChg>
      </pc:sldChg>
      <pc:sldChg chg="del">
        <pc:chgData name="Mario Alberto Aragao Duarte" userId="a1fa1215-9303-47e9-8a35-409838d5fc84" providerId="ADAL" clId="{F37CF76F-DDD9-47A5-86AF-5CB8C488BF33}" dt="2026-07-13T11:39:55.265" v="2" actId="47"/>
        <pc:sldMkLst>
          <pc:docMk/>
          <pc:sldMk cId="0" sldId="258"/>
        </pc:sldMkLst>
      </pc:sldChg>
      <pc:sldChg chg="delSp modSp mod">
        <pc:chgData name="Mario Alberto Aragao Duarte" userId="a1fa1215-9303-47e9-8a35-409838d5fc84" providerId="ADAL" clId="{F37CF76F-DDD9-47A5-86AF-5CB8C488BF33}" dt="2026-07-13T11:40:20.818" v="4" actId="478"/>
        <pc:sldMkLst>
          <pc:docMk/>
          <pc:sldMk cId="0" sldId="261"/>
        </pc:sldMkLst>
        <pc:spChg chg="del">
          <ac:chgData name="Mario Alberto Aragao Duarte" userId="a1fa1215-9303-47e9-8a35-409838d5fc84" providerId="ADAL" clId="{F37CF76F-DDD9-47A5-86AF-5CB8C488BF33}" dt="2026-07-13T11:40:20.818" v="4" actId="478"/>
          <ac:spMkLst>
            <pc:docMk/>
            <pc:sldMk cId="0" sldId="261"/>
            <ac:spMk id="25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7-13T11:40:19.871" v="3" actId="6549"/>
          <ac:spMkLst>
            <pc:docMk/>
            <pc:sldMk cId="0" sldId="261"/>
            <ac:spMk id="26" creationId="{00000000-0000-0000-0000-000000000000}"/>
          </ac:spMkLst>
        </pc:spChg>
      </pc:sldChg>
      <pc:sldChg chg="delSp modSp mod">
        <pc:chgData name="Mario Alberto Aragao Duarte" userId="a1fa1215-9303-47e9-8a35-409838d5fc84" providerId="ADAL" clId="{F37CF76F-DDD9-47A5-86AF-5CB8C488BF33}" dt="2026-07-13T11:45:41.296" v="7" actId="478"/>
        <pc:sldMkLst>
          <pc:docMk/>
          <pc:sldMk cId="0" sldId="267"/>
        </pc:sldMkLst>
        <pc:spChg chg="del">
          <ac:chgData name="Mario Alberto Aragao Duarte" userId="a1fa1215-9303-47e9-8a35-409838d5fc84" providerId="ADAL" clId="{F37CF76F-DDD9-47A5-86AF-5CB8C488BF33}" dt="2026-07-13T11:45:39.372" v="6" actId="478"/>
          <ac:spMkLst>
            <pc:docMk/>
            <pc:sldMk cId="0" sldId="267"/>
            <ac:spMk id="27" creationId="{00000000-0000-0000-0000-000000000000}"/>
          </ac:spMkLst>
        </pc:spChg>
        <pc:spChg chg="del mod">
          <ac:chgData name="Mario Alberto Aragao Duarte" userId="a1fa1215-9303-47e9-8a35-409838d5fc84" providerId="ADAL" clId="{F37CF76F-DDD9-47A5-86AF-5CB8C488BF33}" dt="2026-07-13T11:45:41.296" v="7" actId="478"/>
          <ac:spMkLst>
            <pc:docMk/>
            <pc:sldMk cId="0" sldId="267"/>
            <ac:spMk id="28" creationId="{00000000-0000-0000-0000-000000000000}"/>
          </ac:spMkLst>
        </pc:spChg>
      </pc:sldChg>
      <pc:sldChg chg="delSp modSp mod">
        <pc:chgData name="Mario Alberto Aragao Duarte" userId="a1fa1215-9303-47e9-8a35-409838d5fc84" providerId="ADAL" clId="{F37CF76F-DDD9-47A5-86AF-5CB8C488BF33}" dt="2026-07-13T12:39:12.017" v="9" actId="478"/>
        <pc:sldMkLst>
          <pc:docMk/>
          <pc:sldMk cId="0" sldId="275"/>
        </pc:sldMkLst>
        <pc:spChg chg="del">
          <ac:chgData name="Mario Alberto Aragao Duarte" userId="a1fa1215-9303-47e9-8a35-409838d5fc84" providerId="ADAL" clId="{F37CF76F-DDD9-47A5-86AF-5CB8C488BF33}" dt="2026-07-13T12:39:12.017" v="9" actId="478"/>
          <ac:spMkLst>
            <pc:docMk/>
            <pc:sldMk cId="0" sldId="275"/>
            <ac:spMk id="18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7-13T12:39:10.613" v="8" actId="20577"/>
          <ac:spMkLst>
            <pc:docMk/>
            <pc:sldMk cId="0" sldId="275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00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212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Condicionais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e depois · Git Remoto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66928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A: decidir  ·  Bloco B: publicar na nuvem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48640" cy="54864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534010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— 2 blocos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58368" y="150876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1508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874520" y="15087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" y="19659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 decidir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Relacionais · if / elif / else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Demonstração: caixa que decide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· exercícios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Mini-projeto: Caixa JWC Bank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956048" y="150876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956048" y="1508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7220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Remoto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74336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× nuvem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clone · pull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Demonstração: enviar ao GitHub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Exercício: publicar o código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74336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Revisão-relâmpago fecha o A. Unimos tudo só no projeto final.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Aulas 1, 2 e 3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 ativo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Pergunte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devolve o quê?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converto p/ número?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10 % 3?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os 3 passos?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4632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✍️ Previsão — quanto sai?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173736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901184" y="18653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084064" y="18653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266944" y="18653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919472" y="2066544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 = 150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subtotal * 0.90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135.0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2461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937760" y="32461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o desconto valesse SÓ acima de R$ 100?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precisa DECIDIR.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554480" cy="15544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24912" y="22860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Condicionais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total em decisões — nada de Git até o fim do bloco.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programa que decide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linha reta à escolha de caminhos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🏧 O caixa eletrônico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libera o dinheiro SE a senha estiver certa e SE houver saldo.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58368" y="2926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chover, levo guarda-chuva; SENÃO, levo óculos de sol.”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89320" y="14173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893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77840" y="2103120"/>
            <a:ext cx="0" cy="45720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8229600" y="2103120"/>
            <a:ext cx="0" cy="45720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577840" y="2103120"/>
            <a:ext cx="26517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166360" y="260604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66360" y="2606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(True)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06640" y="260604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7406640" y="2606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(False)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66360" y="3108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caminho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06640" y="3108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caminho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85232" y="36118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relacionais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 e devolvem True / False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281635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==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diferente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!=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&lt;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ou igual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&gt;=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ou igual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&lt;=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806440" y="137160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989320" y="1371600"/>
            <a:ext cx="2560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 ERRO Nº 1
</a:t>
            </a:r>
            <a:r>
              <a:rPr lang="en-US" sz="15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  (x = 5)
</a:t>
            </a:r>
            <a:r>
              <a:rPr lang="en-US" sz="150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(x == 5)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806440" y="352044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5971032" y="3520440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Checagem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devolve qual tipo? (bool)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comando if · e a sintaxe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Dois-pontos e indentação são obrigatórios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663440" cy="1691640"/>
          </a:xfrm>
          <a:prstGeom prst="roundRect">
            <a:avLst>
              <a:gd name="adj" fmla="val 324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352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saldo &gt;= valor: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print("Saque liberado")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print("Obrigado!")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dentro do if (só se True)  ·  amarelo: fora (roda sempre)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4663440" cy="502920"/>
          </a:xfrm>
          <a:prstGeom prst="roundRect">
            <a:avLst>
              <a:gd name="adj" fmla="val 1636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" y="3611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dois-pontos :   </a:t>
            </a: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indentar 4 espaços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94960" y="1371600"/>
            <a:ext cx="329184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577840" y="1481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Python executa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577840" y="18745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chega no if
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avalia a condição
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  → executa o bloco
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False → pula o bloco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57784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erros: SyntaxError · IndentationError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· elif · else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caminhos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2103120"/>
          </a:xfrm>
          <a:prstGeom prst="roundRect">
            <a:avLst>
              <a:gd name="adj" fmla="val 260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nota &gt;= 7: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print("APROVADO")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nota &gt;= 5: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print("RECUPERAÇÃO")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print("REPROVADO")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11880"/>
            <a:ext cx="4206240" cy="502920"/>
          </a:xfrm>
          <a:prstGeom prst="roundRect">
            <a:avLst>
              <a:gd name="adj" fmla="val 1636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008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· </a:t>
            </a:r>
            <a:r>
              <a:rPr lang="en-US" sz="13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 se · </a:t>
            </a:r>
            <a:r>
              <a:rPr lang="en-US" sz="13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52160" y="13716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5216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&gt;= 7 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0" y="21488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02920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03720" y="21488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90372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&gt;= 5 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72200" y="29260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17220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26680" y="292608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726680" y="292608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de cima p/ baixo e PARA no 1º True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A ordem dos elif importa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bug que roda sem dar erro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Ordem errada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88366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88366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88366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2084832"/>
            <a:ext cx="3895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nota &gt;= 5: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print("RECUPERAÇÃO")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nota &gt;= 7: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print("APROVADO")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= 8  →  </a:t>
            </a: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“RECUPERAÇÃO”!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137160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21208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quê?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21208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&gt;= 5 já é True → o Python PARA ali e nem olha o elif de baixo.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212080" y="28803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394960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Regra
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 do mais restritivo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mais amplo.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o caixa que decide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só acima de R$ 100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846320" cy="2468880"/>
          </a:xfrm>
          <a:prstGeom prst="roundRect">
            <a:avLst>
              <a:gd name="adj" fmla="val 2222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535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 = float(input("Valor: "))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subtotal &gt; 100: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subtotal * 0.90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print("10% de desconto!")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subtotal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print(f"Total: R$ {total:.2f}")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931920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Ao vivo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150 (→135.00) e com 50 (→50.00).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577840" y="1371600"/>
            <a:ext cx="3108960" cy="301752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760720" y="1508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Ponto-chave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760720" y="18745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total aparece nos DOIS caminhos?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760720" y="26060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print final sempre usa total. Se ela só existisse dentro do if, o outro caminho daria NameError.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práticos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condicionais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21792" y="1563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🧑‍💼 Maioridade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1792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&gt;= 18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4173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10712" y="1563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🚚 Frete grátis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410712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&gt;= 200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4173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199632" y="1563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Faixas de IMC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199632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encadeado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7889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21792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Alerta de estoque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21792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 == 0 / &lt; 10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46120" y="27889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410712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Par ou ímpar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3410712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% 2 == 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27889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199632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Senha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199632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== SENHA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· dicas · curiosidades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mercado &amp; dicas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470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regra de negócio é if: crédito, frete, triagem, login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compara · = atribui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Faixas: do mais restritivo ao mais amplo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variáveis em TODOS os caminhos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5604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Curiosidades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56048" y="1847088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é exclusivo do Python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existe desde Turing (1936)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árvore de decisão = milhares de if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“”, [] e None contam como falso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A6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· Bloco 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🧑‍🏫 Juntos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7452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Positivo, negativo ou zero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por média (fluxograma antes)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só acima de R$ 100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5604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🧑‍💻 Sozinho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56048" y="187452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votar? (16 / 18)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ou ímpar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frio / agradável / quente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Passagem: gratuito, meia, inteira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de três números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Triângulo: equilátero / isósceles / escaleno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A7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Mini-projeto · Caixa Eletrônico JWC Bank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Bloco A (sem Git)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84632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535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 = 1000.00 ; SENHA = "senac2026"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 input("Senha: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senha == SENHA: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 = float(input("Saque: "))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valor &lt;= 0: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print("Valor inválido.")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valor &gt; SALDO: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print("Saldo insuficiente.")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valor % 10 != 0: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print("Só notas de R$10.")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print("Saque realizado!")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1371600"/>
            <a:ext cx="3108960" cy="1737360"/>
          </a:xfrm>
          <a:prstGeom prst="roundRect">
            <a:avLst>
              <a:gd name="adj" fmla="val 473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760720" y="1481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Pergunte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760720" y="18288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ordem das verificações importa? Cada elif supõe que o anterior passou.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577840" y="32461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742432" y="3246120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⏸️ Guarde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como banco.py — vai para a nuvem no Bloco B.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Revisão-relâmpago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Bloco 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1417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Comparar: = ou ==?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151790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400800" y="15179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075688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85800" y="20756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para no primeiro...?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0" y="217627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0" y="2176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734056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85800" y="273405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define o “dentro” do if?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283464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400800" y="2834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indentação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392424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85800" y="339242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&gt;= 18: quem tem 18 entra?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0" y="349300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400800" y="3493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Fechou o Bloco A → agora só Git remoto.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554480" cy="155448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D4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24912" y="22860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Remoto: o código na nuvem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fechadas — agora publicamos o código.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× Remoto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o seu PC quebrar hoje à noite?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0080" y="182880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828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LOCAL
</a:t>
            </a: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máquina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seu caderno)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77840" y="182880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577840" y="1828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REMOTO
</a:t>
            </a: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na nuvem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Drive do time)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794760" y="2011680"/>
            <a:ext cx="1554480" cy="365760"/>
          </a:xfrm>
          <a:prstGeom prst="rightArrow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794760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794760" y="2670048"/>
            <a:ext cx="1554480" cy="365760"/>
          </a:xfrm>
          <a:prstGeom prst="leftArrow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79476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703320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40080" y="3703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na nuvem  ·  colaboração sem sobrescrever  ·  portfólio (currículo vivo)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comandos novos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init · add · commit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26771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 seus commits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p/ o Drive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 o repo (1ª vez)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baixar a pasta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 as atualizações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atualizar sua cópia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 do time:  </a:t>
            </a:r>
            <a:r>
              <a:rPr lang="en-US" sz="13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ANTES de começar  ·  git push AO TERMINAR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enviar ao GitHub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Publicando o banco.py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GitHub: New repository (vazio) → copie a URL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9110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9110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9110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2112264"/>
            <a:ext cx="4809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&lt;URL&gt;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depois: git clone / git pull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1783080"/>
            <a:ext cx="2834640" cy="2103120"/>
          </a:xfrm>
          <a:prstGeom prst="roundRect">
            <a:avLst>
              <a:gd name="adj" fmla="val 391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035040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cada um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35040" y="22402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add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nuvem
</a:t>
            </a: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-M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= main
</a:t>
            </a: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empurra p/ o GitHub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" y="402336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B4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· dicas · curiosidades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 / clone é o dia a dia de qualquer equipe.  </a:t>
            </a: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Recrutadores olham o seu GitHub.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58368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" y="272491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antes, push depois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versione senhas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bom README.md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286000"/>
            <a:ext cx="3931920" cy="178308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956048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Curiosidades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56048" y="272491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Microsoft, 2018, US$ 7,5 bi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é só um apelido da URL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Alternativas: GitLab e Bitbucket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B5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· Bloco B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🧑‍🏫 Juntos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74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banco.py no GitHub e confirmar no site que o arquivo apareceu.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269748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804672" y="28254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87552" y="28254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1170432" y="28254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22960" y="3026664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&lt;URL&gt;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95604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🧑‍💻 Sozinho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56048" y="187452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conta + repositório no GitHub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o banco.py com push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 o código → novo commit + push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dupla: um colega faz clone do seu repo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integrador · decide + na nuvem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sim, os dois juntos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real do dev: escreveu a lógica → testou → versionou → publicou.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4389120" cy="1554480"/>
          </a:xfrm>
          <a:prstGeom prst="roundRect">
            <a:avLst>
              <a:gd name="adj" fmla="val 5294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Entrega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" y="28346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banco.py (com as validações) publicado no GitHub, com commit e mensagem clara.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175504" y="15453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358384" y="15453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541264" y="15453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193792" y="1746504"/>
            <a:ext cx="33467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banco.py com commits feitos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&lt;URL&gt;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geral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blocos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697480"/>
          </a:xfrm>
          <a:prstGeom prst="roundRect">
            <a:avLst>
              <a:gd name="adj" fmla="val 30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8368" y="149961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14996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" y="19659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Relacionais devolvem True/False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· elif · else escolhem caminhos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 1º True → a ordem importa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Dois-pontos e indentação · == não é =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956048" y="149961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956048" y="14996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56048" y="196596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(máquina) × remoto (GitHub)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envia · clone copia · pull atualiza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pull antes, push depois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= backup + portfólio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&gt;&gt;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Aula 5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condições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cada regra é checada isoladamente. E se precisarmos de senha correta E saldo suficiente E valor válido — numa decisão só?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5: operadores lógicos  and · or · not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aninhadas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Projeto: motor de aprovação de crédito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4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 concluída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A: decidir  ·  Bloco B: publicar na nuvem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Aula 5 — Operadores Lógicos (and / or / not)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1886</Words>
  <Application>Microsoft Office PowerPoint</Application>
  <PresentationFormat>Apresentação na tela (16:9)</PresentationFormat>
  <Paragraphs>399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1</cp:revision>
  <dcterms:created xsi:type="dcterms:W3CDTF">2026-07-12T18:48:20Z</dcterms:created>
  <dcterms:modified xsi:type="dcterms:W3CDTF">2026-07-13T12:39:21Z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2026-07-13T11:39:51Z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1c511f19-440f-459b-adfb-d64fdffb30b7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