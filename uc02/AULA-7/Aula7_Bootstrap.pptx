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59" r:id="rId7"/>
    <p:sldId id="260" r:id="rId8"/>
    <p:sldId id="279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6" r:id="rId24"/>
    <p:sldId id="277" r:id="rId25"/>
    <p:sldId id="278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8CE519-364C-9589-15C9-D7093048B111}" v="1" dt="2026-09-02T23:21:46.344"/>
    <p1510:client id="{781161F1-3EEF-7DC4-599F-975682C62718}" v="4" dt="2026-09-02T23:23:48.250"/>
    <p1510:client id="{8EFBA03E-E25F-211A-5CD0-5C41D5ED9EFB}" v="4" dt="2026-09-02T23:21:15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O BARBOSA DE SANTANA" userId="S::santana.rodrigo@aluno.senac.rio::4d44011a-a1d2-4c2a-9c64-65c8c9d879ca" providerId="AD" clId="Web-{8EFBA03E-E25F-211A-5CD0-5C41D5ED9EFB}"/>
    <pc:docChg chg="addSld">
      <pc:chgData name="RODRIGO BARBOSA DE SANTANA" userId="S::santana.rodrigo@aluno.senac.rio::4d44011a-a1d2-4c2a-9c64-65c8c9d879ca" providerId="AD" clId="Web-{8EFBA03E-E25F-211A-5CD0-5C41D5ED9EFB}" dt="2026-09-02T23:21:15.788" v="3"/>
      <pc:docMkLst>
        <pc:docMk/>
      </pc:docMkLst>
      <pc:sldChg chg="new">
        <pc:chgData name="RODRIGO BARBOSA DE SANTANA" userId="S::santana.rodrigo@aluno.senac.rio::4d44011a-a1d2-4c2a-9c64-65c8c9d879ca" providerId="AD" clId="Web-{8EFBA03E-E25F-211A-5CD0-5C41D5ED9EFB}" dt="2026-09-02T23:21:07.819" v="0"/>
        <pc:sldMkLst>
          <pc:docMk/>
          <pc:sldMk cId="3739328715" sldId="279"/>
        </pc:sldMkLst>
      </pc:sldChg>
      <pc:sldChg chg="new">
        <pc:chgData name="RODRIGO BARBOSA DE SANTANA" userId="S::santana.rodrigo@aluno.senac.rio::4d44011a-a1d2-4c2a-9c64-65c8c9d879ca" providerId="AD" clId="Web-{8EFBA03E-E25F-211A-5CD0-5C41D5ED9EFB}" dt="2026-09-02T23:21:10.569" v="1"/>
        <pc:sldMkLst>
          <pc:docMk/>
          <pc:sldMk cId="1561838258" sldId="280"/>
        </pc:sldMkLst>
      </pc:sldChg>
      <pc:sldChg chg="new">
        <pc:chgData name="RODRIGO BARBOSA DE SANTANA" userId="S::santana.rodrigo@aluno.senac.rio::4d44011a-a1d2-4c2a-9c64-65c8c9d879ca" providerId="AD" clId="Web-{8EFBA03E-E25F-211A-5CD0-5C41D5ED9EFB}" dt="2026-09-02T23:21:13.226" v="2"/>
        <pc:sldMkLst>
          <pc:docMk/>
          <pc:sldMk cId="925732196" sldId="281"/>
        </pc:sldMkLst>
      </pc:sldChg>
      <pc:sldChg chg="new">
        <pc:chgData name="RODRIGO BARBOSA DE SANTANA" userId="S::santana.rodrigo@aluno.senac.rio::4d44011a-a1d2-4c2a-9c64-65c8c9d879ca" providerId="AD" clId="Web-{8EFBA03E-E25F-211A-5CD0-5C41D5ED9EFB}" dt="2026-09-02T23:21:15.788" v="3"/>
        <pc:sldMkLst>
          <pc:docMk/>
          <pc:sldMk cId="2079131701" sldId="282"/>
        </pc:sldMkLst>
      </pc:sldChg>
    </pc:docChg>
  </pc:docChgLst>
  <pc:docChgLst>
    <pc:chgData name="RODRIGO BARBOSA DE SANTANA" userId="S::santana.rodrigo@aluno.senac.rio::4d44011a-a1d2-4c2a-9c64-65c8c9d879ca" providerId="AD" clId="Web-{781161F1-3EEF-7DC4-599F-975682C62718}"/>
    <pc:docChg chg="delSld">
      <pc:chgData name="RODRIGO BARBOSA DE SANTANA" userId="S::santana.rodrigo@aluno.senac.rio::4d44011a-a1d2-4c2a-9c64-65c8c9d879ca" providerId="AD" clId="Web-{781161F1-3EEF-7DC4-599F-975682C62718}" dt="2026-09-02T23:23:48.250" v="3"/>
      <pc:docMkLst>
        <pc:docMk/>
      </pc:docMkLst>
      <pc:sldChg chg="del">
        <pc:chgData name="RODRIGO BARBOSA DE SANTANA" userId="S::santana.rodrigo@aluno.senac.rio::4d44011a-a1d2-4c2a-9c64-65c8c9d879ca" providerId="AD" clId="Web-{781161F1-3EEF-7DC4-599F-975682C62718}" dt="2026-09-02T23:23:46.937" v="1"/>
        <pc:sldMkLst>
          <pc:docMk/>
          <pc:sldMk cId="1561838258" sldId="280"/>
        </pc:sldMkLst>
      </pc:sldChg>
      <pc:sldChg chg="del">
        <pc:chgData name="RODRIGO BARBOSA DE SANTANA" userId="S::santana.rodrigo@aluno.senac.rio::4d44011a-a1d2-4c2a-9c64-65c8c9d879ca" providerId="AD" clId="Web-{781161F1-3EEF-7DC4-599F-975682C62718}" dt="2026-09-02T23:23:47.375" v="2"/>
        <pc:sldMkLst>
          <pc:docMk/>
          <pc:sldMk cId="925732196" sldId="281"/>
        </pc:sldMkLst>
      </pc:sldChg>
      <pc:sldChg chg="del">
        <pc:chgData name="RODRIGO BARBOSA DE SANTANA" userId="S::santana.rodrigo@aluno.senac.rio::4d44011a-a1d2-4c2a-9c64-65c8c9d879ca" providerId="AD" clId="Web-{781161F1-3EEF-7DC4-599F-975682C62718}" dt="2026-09-02T23:23:48.250" v="3"/>
        <pc:sldMkLst>
          <pc:docMk/>
          <pc:sldMk cId="2079131701" sldId="282"/>
        </pc:sldMkLst>
      </pc:sldChg>
      <pc:sldChg chg="del">
        <pc:chgData name="RODRIGO BARBOSA DE SANTANA" userId="S::santana.rodrigo@aluno.senac.rio::4d44011a-a1d2-4c2a-9c64-65c8c9d879ca" providerId="AD" clId="Web-{781161F1-3EEF-7DC4-599F-975682C62718}" dt="2026-09-02T23:23:45.375" v="0"/>
        <pc:sldMkLst>
          <pc:docMk/>
          <pc:sldMk cId="2333035344" sldId="283"/>
        </pc:sldMkLst>
      </pc:sldChg>
    </pc:docChg>
  </pc:docChgLst>
  <pc:docChgLst>
    <pc:chgData name="RODRIGO BARBOSA DE SANTANA" userId="S::santana.rodrigo@aluno.senac.rio::4d44011a-a1d2-4c2a-9c64-65c8c9d879ca" providerId="AD" clId="Web-{298CE519-364C-9589-15C9-D7093048B111}"/>
    <pc:docChg chg="addSld">
      <pc:chgData name="RODRIGO BARBOSA DE SANTANA" userId="S::santana.rodrigo@aluno.senac.rio::4d44011a-a1d2-4c2a-9c64-65c8c9d879ca" providerId="AD" clId="Web-{298CE519-364C-9589-15C9-D7093048B111}" dt="2026-09-02T23:21:46.344" v="0"/>
      <pc:docMkLst>
        <pc:docMk/>
      </pc:docMkLst>
      <pc:sldChg chg="new">
        <pc:chgData name="RODRIGO BARBOSA DE SANTANA" userId="S::santana.rodrigo@aluno.senac.rio::4d44011a-a1d2-4c2a-9c64-65c8c9d879ca" providerId="AD" clId="Web-{298CE519-364C-9589-15C9-D7093048B111}" dt="2026-09-02T23:21:46.344" v="0"/>
        <pc:sldMkLst>
          <pc:docMk/>
          <pc:sldMk cId="2333035344" sldId="28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18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8778240" y="-1097280"/>
            <a:ext cx="4754880" cy="4754880"/>
          </a:xfrm>
          <a:prstGeom prst="roundRect">
            <a:avLst>
              <a:gd name="adj" fmla="val 7692"/>
            </a:avLst>
          </a:prstGeom>
          <a:solidFill>
            <a:srgbClr val="7952B3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 rot="900000">
            <a:off x="9692640" y="3840480"/>
            <a:ext cx="4206240" cy="4206240"/>
          </a:xfrm>
          <a:prstGeom prst="roundRect">
            <a:avLst>
              <a:gd name="adj" fmla="val 8696"/>
            </a:avLst>
          </a:prstGeom>
          <a:solidFill>
            <a:srgbClr val="1B263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777240" y="777240"/>
            <a:ext cx="3931920" cy="457200"/>
          </a:xfrm>
          <a:prstGeom prst="roundRect">
            <a:avLst>
              <a:gd name="adj" fmla="val 50000"/>
            </a:avLst>
          </a:prstGeom>
          <a:solidFill>
            <a:srgbClr val="FF6B35">
              <a:alpha val="1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7772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SENAC-RJ · UC2 Front-end para Web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7</a:t>
            </a:r>
            <a:endParaRPr lang="en-US" sz="30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2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endParaRPr lang="en-US" sz="30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2400" b="1">
                <a:solidFill>
                  <a:srgbClr val="CDD6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atalho profissional</a:t>
            </a:r>
            <a:endParaRPr lang="en-US" sz="3000"/>
          </a:p>
        </p:txBody>
      </p:sp>
      <p:sp>
        <p:nvSpPr>
          <p:cNvPr id="7" name="Text 5"/>
          <p:cNvSpPr/>
          <p:nvPr/>
        </p:nvSpPr>
        <p:spPr>
          <a:xfrm>
            <a:off x="804672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SneakZone · site profissional em minutos, com classes prontas</a:t>
            </a:r>
            <a:endParaRPr lang="en-US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🎯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acordo com o PTD da UC2 — Aula 7.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1901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1508760" y="1773936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Ligar o Bootstrap ao projeto</a:t>
            </a:r>
            <a:endParaRPr lang="en-US" sz="16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o framework e adicioná-lo pela CDN (1 linha).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548640" y="2779776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777240" y="3035808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3035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1508760" y="2907792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com container e grid</a:t>
            </a:r>
            <a:endParaRPr lang="en-US" sz="16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12 colunas (row + col) — layout profissional e responsivo.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548640" y="3913632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777240" y="4169664"/>
            <a:ext cx="502920" cy="50292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169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/>
          </a:p>
        </p:txBody>
      </p:sp>
      <p:sp>
        <p:nvSpPr>
          <p:cNvPr id="19" name="Text 17"/>
          <p:cNvSpPr/>
          <p:nvPr/>
        </p:nvSpPr>
        <p:spPr>
          <a:xfrm>
            <a:off x="1508760" y="4041648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cores e ícones prontos</a:t>
            </a:r>
            <a:endParaRPr lang="en-US" sz="16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de cor (primary, success...) e os Bootstrap Icons.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77240" y="5303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508760" y="5175504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 cards</a:t>
            </a:r>
            <a:endParaRPr lang="en-US" sz="160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componente pronto de card aplicado aos produtos da loja.</a:t>
            </a:r>
            <a:endParaRPr 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o Bootstrap?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 das classes da Aula 4? O Bootstrap é um kit gigante de classes prontas.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agora você escreveu CSS </a:t>
            </a: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mão</a:t>
            </a:r>
            <a:r>
              <a:rPr lang="en-US" sz="14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Bootstrap é um </a:t>
            </a:r>
            <a:r>
              <a:rPr lang="en-US" sz="1400" b="1">
                <a:solidFill>
                  <a:srgbClr val="7952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r>
              <a:rPr lang="en-US" sz="14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um arquivo pronto, feito por profissionais, cheio de classes que já vêm estilizadas. Você só "pendura" a classe no elemento e o estilo aparece.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548640" y="411480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 melhor: já vem </a:t>
            </a: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</a:t>
            </a:r>
            <a:r>
              <a:rPr lang="en-US" sz="14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que você suou pra fazer com media query, o Bootstrap entrega de graça.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7086600" y="1737360"/>
            <a:ext cx="4526280" cy="4297680"/>
          </a:xfrm>
          <a:prstGeom prst="roundRect">
            <a:avLst>
              <a:gd name="adj" fmla="val 1915"/>
            </a:avLst>
          </a:prstGeom>
          <a:solidFill>
            <a:srgbClr val="F3EEFC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3152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5B3A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🧱  Analogia do LEGO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7315200" y="2377440"/>
            <a:ext cx="4114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na mão = esculpir cada peça no barro.</a:t>
            </a:r>
            <a:endParaRPr lang="en-US" sz="1250"/>
          </a:p>
          <a:p>
            <a:pPr marL="0" indent="0" algn="l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= uma caixa de LEGO com peças prontas: você só encaixa (btn, card, row, col) e monta rápido.</a:t>
            </a:r>
            <a:endParaRPr lang="en-US" sz="125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o mercado ama: entrega bonito e responsivo em muito menos tempo.</a:t>
            </a:r>
            <a:endParaRPr lang="en-US" sz="12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ligar o Bootstrap (é 1 linha!)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baixar nada. Cole o &lt;link&gt; da CDN no &lt;head&gt; — pronto, todas as classes já funcionam.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368296"/>
            <a:ext cx="10735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CSS do Bootstrap (no &lt;head&gt;) --&gt;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href="https://cdn.jsdelivr.net/npm/bootstrap@5.3.3/dist/css/bootstrap.min.css" rel="stylesheet"&gt;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os componentes que "se mexem" (menu, carrossel — Aulas 8 e 9), adicione também o JS, antes do &lt;/body&gt;:</a:t>
            </a:r>
            <a:endParaRPr lang="en-US" sz="1350"/>
          </a:p>
        </p:txBody>
      </p:sp>
      <p:sp>
        <p:nvSpPr>
          <p:cNvPr id="11" name="Shape 9"/>
          <p:cNvSpPr/>
          <p:nvPr/>
        </p:nvSpPr>
        <p:spPr>
          <a:xfrm>
            <a:off x="548640" y="4389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13232" y="4517136"/>
            <a:ext cx="107350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src="https://cdn.jsdelivr.net/npm/bootstrap@5.3.3/dist/js/bootstrap.bundle.min.js"&gt;&lt;/script&gt;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548640" y="5532120"/>
            <a:ext cx="11064240" cy="457200"/>
          </a:xfrm>
          <a:prstGeom prst="roundRect">
            <a:avLst>
              <a:gd name="adj" fmla="val 180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= </a:t>
            </a: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vem pronto da internet. Precisa de conexão para carregar em aula.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9328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mágica: escreveu a classe, apareceu o estilo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FDEEF0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A322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(na mão)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777240" y="2286000"/>
            <a:ext cx="4983480" cy="1188720"/>
          </a:xfrm>
          <a:prstGeom prst="roundRect">
            <a:avLst>
              <a:gd name="adj" fmla="val 6154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41832" y="2414016"/>
            <a:ext cx="46542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style="background:#0d6efd;</a:t>
            </a:r>
            <a:endParaRPr lang="en-US" sz="10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color:#fff; padding:8px 16px;</a:t>
            </a:r>
            <a:endParaRPr lang="en-US" sz="10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0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border:none; border-radius:6px;"&gt;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6172200" y="1783080"/>
            <a:ext cx="5440680" cy="1828800"/>
          </a:xfrm>
          <a:prstGeom prst="roundRect">
            <a:avLst>
              <a:gd name="adj" fmla="val 4500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1920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D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DEPOIS (Bootstrap)</a:t>
            </a:r>
            <a:endParaRPr lang="en-US" sz="1300"/>
          </a:p>
        </p:txBody>
      </p:sp>
      <p:sp>
        <p:nvSpPr>
          <p:cNvPr id="13" name="Shape 11"/>
          <p:cNvSpPr/>
          <p:nvPr/>
        </p:nvSpPr>
        <p:spPr>
          <a:xfrm>
            <a:off x="6400800" y="2286000"/>
            <a:ext cx="4983480" cy="1188720"/>
          </a:xfrm>
          <a:prstGeom prst="roundRect">
            <a:avLst>
              <a:gd name="adj" fmla="val 6154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65392" y="2414016"/>
            <a:ext cx="465429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class="btn btn-primary"&gt;</a:t>
            </a:r>
            <a:endParaRPr lang="en-US" sz="12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Comprar</a:t>
            </a:r>
            <a:endParaRPr lang="en-US" sz="12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&lt;/button&gt;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5577840" y="2377440"/>
            <a:ext cx="502920" cy="548640"/>
          </a:xfrm>
          <a:prstGeom prst="rightArrow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11064240" cy="2103120"/>
          </a:xfrm>
          <a:prstGeom prst="roundRect">
            <a:avLst>
              <a:gd name="adj" fmla="val 3913"/>
            </a:avLst>
          </a:prstGeom>
          <a:solidFill>
            <a:srgbClr val="F3FB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C4D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ideia central de hoje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777240" y="44348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botão, o mesmo resultado — mas em vez de escrever o estilo, você só "pendura" as classes </a:t>
            </a:r>
            <a:r>
              <a:rPr lang="en-US" sz="1350" b="1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 btn-primary</a:t>
            </a: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 Bootstrap já tem esse estilo guardado. Aprender Bootstrap é, na prática, aprender </a:t>
            </a:r>
            <a:r>
              <a:rPr lang="en-US" sz="13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classes existem</a:t>
            </a: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 o site oficial (getbootstrap.com) mostra todas com exemplos.</a:t>
            </a:r>
            <a:endParaRPr lang="en-US" sz="13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 — a moldura central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.container centraliza o conteúdo e dá margens laterais automáticas. Quase tudo no Bootstrap mora dentro de um container.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59736"/>
            <a:ext cx="515721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class="container"&gt;</a:t>
            </a:r>
            <a:endParaRPr lang="en-US" sz="13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 conteúdo da página ...</a:t>
            </a:r>
            <a:endParaRPr lang="en-US" sz="13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30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6309360" y="2331720"/>
            <a:ext cx="5303520" cy="329184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6949440" y="260604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7952B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949440" y="2651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7952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.container</a:t>
            </a:r>
            <a:endParaRPr lang="en-US" sz="1200"/>
          </a:p>
        </p:txBody>
      </p:sp>
      <p:sp>
        <p:nvSpPr>
          <p:cNvPr id="13" name="Text 11"/>
          <p:cNvSpPr/>
          <p:nvPr/>
        </p:nvSpPr>
        <p:spPr>
          <a:xfrm>
            <a:off x="708660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centralizado, com respiro dos lados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6309360" y="5669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as faixas cinza dos lados são as margens automáticas</a:t>
            </a:r>
            <a:endParaRPr lang="en-US"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Grid: o site vira uma grade de 12 colunas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1435608" y="1115568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coração do Bootstrap. É o que organiza tudo lado a lado.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linha (</a:t>
            </a:r>
            <a:r>
              <a:rPr lang="en-US" sz="1350" b="1">
                <a:solidFill>
                  <a:srgbClr val="7952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.row</a:t>
            </a: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tem </a:t>
            </a:r>
            <a:r>
              <a:rPr lang="en-US" sz="13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colunas</a:t>
            </a: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Você diz quantas cada bloco (</a:t>
            </a:r>
            <a:r>
              <a:rPr lang="en-US" sz="1350" b="1">
                <a:solidFill>
                  <a:srgbClr val="7952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.col</a:t>
            </a: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ocupa — e a soma dá 12.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548640" y="20574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blocos iguais:  col-4 + col-4 + col-4 = 12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3596640" cy="640080"/>
          </a:xfrm>
          <a:prstGeom prst="roundRect">
            <a:avLst>
              <a:gd name="adj" fmla="val 8571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2377440"/>
            <a:ext cx="359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col-4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4236720" y="2377440"/>
            <a:ext cx="3596640" cy="640080"/>
          </a:xfrm>
          <a:prstGeom prst="roundRect">
            <a:avLst>
              <a:gd name="adj" fmla="val 8571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236720" y="2377440"/>
            <a:ext cx="359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col-4</a:t>
            </a:r>
            <a:endParaRPr lang="en-US" sz="1200"/>
          </a:p>
        </p:txBody>
      </p:sp>
      <p:sp>
        <p:nvSpPr>
          <p:cNvPr id="14" name="Shape 12"/>
          <p:cNvSpPr/>
          <p:nvPr/>
        </p:nvSpPr>
        <p:spPr>
          <a:xfrm>
            <a:off x="7924800" y="2377440"/>
            <a:ext cx="3596640" cy="640080"/>
          </a:xfrm>
          <a:prstGeom prst="roundRect">
            <a:avLst>
              <a:gd name="adj" fmla="val 8571"/>
            </a:avLst>
          </a:prstGeom>
          <a:solidFill>
            <a:srgbClr val="7952B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924800" y="2377440"/>
            <a:ext cx="359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col-4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548640" y="32461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blocos iguais:  col-6 + col-6 = 12</a:t>
            </a:r>
            <a:endParaRPr lang="en-US" sz="120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48640" y="35661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col-6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6080760" y="3566160"/>
            <a:ext cx="5440680" cy="640080"/>
          </a:xfrm>
          <a:prstGeom prst="roundRect">
            <a:avLst>
              <a:gd name="adj" fmla="val 8571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080760" y="35661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col-6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548640" y="44348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Desigual:  col-8 (conteúdo) + col-4 (lateral) = 12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7284720" cy="640080"/>
          </a:xfrm>
          <a:prstGeom prst="roundRect">
            <a:avLst>
              <a:gd name="adj" fmla="val 8571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548640" y="4754880"/>
            <a:ext cx="728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col-8</a:t>
            </a:r>
            <a:endParaRPr lang="en-US" sz="1200"/>
          </a:p>
        </p:txBody>
      </p:sp>
      <p:sp>
        <p:nvSpPr>
          <p:cNvPr id="24" name="Shape 22"/>
          <p:cNvSpPr/>
          <p:nvPr/>
        </p:nvSpPr>
        <p:spPr>
          <a:xfrm>
            <a:off x="7924800" y="4754880"/>
            <a:ext cx="3596640" cy="640080"/>
          </a:xfrm>
          <a:prstGeom prst="roundRect">
            <a:avLst>
              <a:gd name="adj" fmla="val 8571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924800" y="4754880"/>
            <a:ext cx="359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col-4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13232" y="5751576"/>
            <a:ext cx="10735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class="row"&gt; &lt;div class="col-4"&gt;...&lt;/div&gt; &lt;div class="col-4"&gt;...&lt;/div&gt; &lt;div class="col-4"&gt;...&lt;/div&gt; &lt;/div&gt;</a:t>
            </a:r>
            <a:endParaRPr lang="en-US" sz="10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responsivo: muda sozinho no celular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4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combina os tamanhos por tela: col-lg-4 (desktop) col-md-6 (tablet) col-12 (celular). O Bootstrap troca sozinho.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414016"/>
            <a:ext cx="10735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0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class="col-12 col-md-6 col-lg-4"&gt; ... um card ... &lt;/div&gt;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548640" y="33649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Desktop (lg)  ·  col-lg-4 → 3 por linha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846320" y="3383280"/>
            <a:ext cx="2164080" cy="54864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846320" y="3383280"/>
            <a:ext cx="216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7101840" y="3383280"/>
            <a:ext cx="2164080" cy="54864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101840" y="3383280"/>
            <a:ext cx="216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9357360" y="3383280"/>
            <a:ext cx="2164080" cy="548640"/>
          </a:xfrm>
          <a:prstGeom prst="roundRect">
            <a:avLst>
              <a:gd name="adj" fmla="val 10000"/>
            </a:avLst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357360" y="3383280"/>
            <a:ext cx="216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548640" y="42336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Tablet (md)  ·  col-md-6 → 2 por linha</a:t>
            </a:r>
            <a:endParaRPr lang="en-US" sz="1200"/>
          </a:p>
        </p:txBody>
      </p:sp>
      <p:sp>
        <p:nvSpPr>
          <p:cNvPr id="18" name="Shape 16"/>
          <p:cNvSpPr/>
          <p:nvPr/>
        </p:nvSpPr>
        <p:spPr>
          <a:xfrm>
            <a:off x="4846320" y="42519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84632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8229600" y="4251960"/>
            <a:ext cx="3291840" cy="548640"/>
          </a:xfrm>
          <a:prstGeom prst="roundRect">
            <a:avLst>
              <a:gd name="adj" fmla="val 10000"/>
            </a:avLst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8229600" y="42519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48640" y="51023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Celular  ·  col-12 → 1 por linha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4846320" y="5120640"/>
            <a:ext cx="6675120" cy="548640"/>
          </a:xfrm>
          <a:prstGeom prst="roundRect">
            <a:avLst>
              <a:gd name="adj" fmla="val 10000"/>
            </a:avLst>
          </a:prstGeom>
          <a:solidFill>
            <a:srgbClr val="7952B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46320" y="512064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Demonstração: produtos numa grid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11064240" cy="2743200"/>
          </a:xfrm>
          <a:prstGeom prst="roundRect">
            <a:avLst>
              <a:gd name="adj" fmla="val 266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10735056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class="container"&gt;</a:t>
            </a:r>
            <a:endParaRPr lang="en-US" sz="12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class="row"&gt;</a:t>
            </a:r>
            <a:endParaRPr lang="en-US" sz="12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class="col-12 col-md-4"&gt; ... card AeroRun ... &lt;/div&gt;</a:t>
            </a:r>
            <a:endParaRPr lang="en-US" sz="12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class="col-12 col-md-4"&gt; ... card UrbanStep ... &lt;/div&gt;</a:t>
            </a:r>
            <a:endParaRPr lang="en-US" sz="12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class="col-12 col-md-4"&gt; ... card CourtPro ... &lt;/div&gt;</a:t>
            </a:r>
            <a:endParaRPr lang="en-US" sz="12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5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6667"/>
            </a:avLst>
          </a:prstGeom>
          <a:solidFill>
            <a:srgbClr val="EEFAF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777240" y="470916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350" b="1">
                <a:solidFill>
                  <a:srgbClr val="1D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3 produtos ficam lado a lado no computador e empilhados no celular — sem escrever CSS nem media query. Lembra do trabalho que deu na mão? O Bootstrap resolve com 3 classes.</a:t>
            </a:r>
            <a:endParaRPr lang="en-US" sz="13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Cores prontas do Bootstrap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Bootstrap tem cores com "significado". Use como fundo (bg-), texto (text-) ou botão (btn-).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0D6E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btn-primary</a:t>
            </a:r>
            <a:endParaRPr lang="en-US" sz="15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(azul)</a:t>
            </a:r>
            <a:endParaRPr lang="en-US" sz="1500"/>
          </a:p>
        </p:txBody>
      </p:sp>
      <p:sp>
        <p:nvSpPr>
          <p:cNvPr id="10" name="Shape 8"/>
          <p:cNvSpPr/>
          <p:nvPr/>
        </p:nvSpPr>
        <p:spPr>
          <a:xfrm>
            <a:off x="4279392" y="219456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19875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07992" y="2194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btn-success</a:t>
            </a:r>
            <a:endParaRPr lang="en-US" sz="15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(verde)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8010144" y="219456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DC35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8238744" y="219456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btn-danger</a:t>
            </a:r>
            <a:endParaRPr lang="en-US" sz="15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erro/perigo (vermelho)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FFC10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34290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btn-warning</a:t>
            </a:r>
            <a:endParaRPr lang="en-US" sz="15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(amarelo)</a:t>
            </a:r>
            <a:endParaRPr lang="en-US" sz="1500"/>
          </a:p>
        </p:txBody>
      </p:sp>
      <p:sp>
        <p:nvSpPr>
          <p:cNvPr id="16" name="Shape 14"/>
          <p:cNvSpPr/>
          <p:nvPr/>
        </p:nvSpPr>
        <p:spPr>
          <a:xfrm>
            <a:off x="4279392" y="342900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21252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507992" y="34290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btn-dark</a:t>
            </a:r>
            <a:endParaRPr lang="en-US" sz="15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escuro</a:t>
            </a:r>
            <a:endParaRPr lang="en-US" sz="1500"/>
          </a:p>
        </p:txBody>
      </p:sp>
      <p:sp>
        <p:nvSpPr>
          <p:cNvPr id="18" name="Shape 16"/>
          <p:cNvSpPr/>
          <p:nvPr/>
        </p:nvSpPr>
        <p:spPr>
          <a:xfrm>
            <a:off x="8010144" y="3429000"/>
            <a:ext cx="3520440" cy="1051560"/>
          </a:xfrm>
          <a:prstGeom prst="roundRect">
            <a:avLst>
              <a:gd name="adj" fmla="val 7826"/>
            </a:avLst>
          </a:prstGeom>
          <a:solidFill>
            <a:srgbClr val="6C757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8238744" y="3429000"/>
            <a:ext cx="3108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btn-secondary</a:t>
            </a:r>
            <a:endParaRPr lang="en-US" sz="150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secundário (cinza)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77240" y="484632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palavra, três usos: </a:t>
            </a:r>
            <a:r>
              <a:rPr lang="en-US" sz="1250" b="1">
                <a:solidFill>
                  <a:srgbClr val="19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class="btn btn-success"</a:t>
            </a: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(botão) · </a:t>
            </a:r>
            <a:r>
              <a:rPr lang="en-US" sz="1250" b="1">
                <a:solidFill>
                  <a:srgbClr val="1987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class="bg-success text-white"</a:t>
            </a: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(fundo) · </a:t>
            </a:r>
            <a:r>
              <a:rPr lang="en-US" sz="1250" b="1">
                <a:solidFill>
                  <a:srgbClr val="DC35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class="text-danger"</a:t>
            </a: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(texto).</a:t>
            </a:r>
            <a:endParaRPr lang="en-US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— o componente pronto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6766560" cy="3657600"/>
          </a:xfrm>
          <a:prstGeom prst="roundRect">
            <a:avLst>
              <a:gd name="adj" fmla="val 2000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1865376"/>
            <a:ext cx="6437376" cy="3401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class="card"&gt;</a:t>
            </a:r>
            <a:endParaRPr lang="en-US" sz="12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class="card-img-top"</a:t>
            </a:r>
            <a:endParaRPr lang="en-US" sz="12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src="img/aerorun.jpg"&gt;</a:t>
            </a:r>
            <a:endParaRPr lang="en-US" sz="12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class="card-body"&gt;</a:t>
            </a:r>
            <a:endParaRPr lang="en-US" sz="12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&lt;h5 class="card-title"&gt;AeroRun&lt;/h5&gt;</a:t>
            </a:r>
            <a:endParaRPr lang="en-US" sz="12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&lt;p class="card-text"&gt;R$ 349,90&lt;/p&gt;</a:t>
            </a:r>
            <a:endParaRPr lang="en-US" sz="12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class="btn btn-primary"&gt;Comprar&lt;/a&gt;</a:t>
            </a:r>
            <a:endParaRPr lang="en-US" sz="12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0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7772400" y="1737360"/>
            <a:ext cx="3840480" cy="42062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7772400" y="1737360"/>
            <a:ext cx="3840480" cy="1737360"/>
          </a:xfrm>
          <a:prstGeom prst="roundRect">
            <a:avLst>
              <a:gd name="adj" fmla="val 4737"/>
            </a:avLst>
          </a:prstGeom>
          <a:solidFill>
            <a:srgbClr val="E3E8E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0" y="1737360"/>
            <a:ext cx="3840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>
                <a:solidFill>
                  <a:srgbClr val="000000"/>
                </a:solidFill>
              </a:rPr>
              <a:t>🖼</a:t>
            </a:r>
            <a:endParaRPr lang="en-US" sz="4000"/>
          </a:p>
        </p:txBody>
      </p:sp>
      <p:sp>
        <p:nvSpPr>
          <p:cNvPr id="12" name="Text 10"/>
          <p:cNvSpPr/>
          <p:nvPr/>
        </p:nvSpPr>
        <p:spPr>
          <a:xfrm>
            <a:off x="800100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AeroRun Laranja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8001000" y="4023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R$ 349,90</a:t>
            </a:r>
            <a:endParaRPr lang="en-US" sz="1400"/>
          </a:p>
        </p:txBody>
      </p:sp>
      <p:sp>
        <p:nvSpPr>
          <p:cNvPr id="14" name="Shape 12"/>
          <p:cNvSpPr/>
          <p:nvPr/>
        </p:nvSpPr>
        <p:spPr>
          <a:xfrm>
            <a:off x="8001000" y="457200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0D6EF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001000" y="4572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Comprar</a:t>
            </a:r>
            <a:endParaRPr lang="en-US" sz="1200"/>
          </a:p>
        </p:txBody>
      </p:sp>
      <p:sp>
        <p:nvSpPr>
          <p:cNvPr id="16" name="Text 14"/>
          <p:cNvSpPr/>
          <p:nvPr/>
        </p:nvSpPr>
        <p:spPr>
          <a:xfrm>
            <a:off x="7772400" y="5623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5A6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· card-body · card-title</a:t>
            </a:r>
            <a:endParaRPr lang="en-US" sz="1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Ícones (Bootstrap Icons)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Adicione a linha dos ícones no &lt;head&gt; e use qualquer ícone com uma tag &lt;i&gt;: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3232" y="2322576"/>
            <a:ext cx="1073505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no &lt;head&gt; --&gt;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&lt;link href="https://cdn.jsdelivr.net/npm/bootstrap-icons@1.11.3/font/bootstrap-icons.min.css" rel="stylesheet"&gt;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 class="bi bi-cart"&gt;&lt;/i&gt;   &lt;i class="bi bi-star-fill"&gt;&lt;/i&gt;   &lt;i class="bi bi-truck"&gt;&lt;/i&gt;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737360" cy="182880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🛒</a:t>
            </a:r>
            <a:endParaRPr lang="en-US" sz="2600"/>
          </a:p>
        </p:txBody>
      </p:sp>
      <p:sp>
        <p:nvSpPr>
          <p:cNvPr id="12" name="Text 10"/>
          <p:cNvSpPr/>
          <p:nvPr/>
        </p:nvSpPr>
        <p:spPr>
          <a:xfrm>
            <a:off x="548640" y="4892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bi-cart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carrinho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2404872" y="3977640"/>
            <a:ext cx="1737360" cy="182880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2404872" y="4160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⭐</a:t>
            </a:r>
            <a:endParaRPr lang="en-US" sz="2600"/>
          </a:p>
        </p:txBody>
      </p:sp>
      <p:sp>
        <p:nvSpPr>
          <p:cNvPr id="16" name="Text 14"/>
          <p:cNvSpPr/>
          <p:nvPr/>
        </p:nvSpPr>
        <p:spPr>
          <a:xfrm>
            <a:off x="2404872" y="4892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bi-star-fill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2404872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050"/>
          </a:p>
        </p:txBody>
      </p:sp>
      <p:sp>
        <p:nvSpPr>
          <p:cNvPr id="18" name="Shape 16"/>
          <p:cNvSpPr/>
          <p:nvPr/>
        </p:nvSpPr>
        <p:spPr>
          <a:xfrm>
            <a:off x="4261104" y="3977640"/>
            <a:ext cx="1737360" cy="182880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261104" y="4160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🚚</a:t>
            </a:r>
            <a:endParaRPr lang="en-US" sz="2600"/>
          </a:p>
        </p:txBody>
      </p:sp>
      <p:sp>
        <p:nvSpPr>
          <p:cNvPr id="20" name="Text 18"/>
          <p:cNvSpPr/>
          <p:nvPr/>
        </p:nvSpPr>
        <p:spPr>
          <a:xfrm>
            <a:off x="4261104" y="4892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bi-truck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261104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frete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6117336" y="3977640"/>
            <a:ext cx="1737360" cy="182880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117336" y="4160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❤</a:t>
            </a:r>
            <a:endParaRPr lang="en-US" sz="2600"/>
          </a:p>
        </p:txBody>
      </p:sp>
      <p:sp>
        <p:nvSpPr>
          <p:cNvPr id="24" name="Text 22"/>
          <p:cNvSpPr/>
          <p:nvPr/>
        </p:nvSpPr>
        <p:spPr>
          <a:xfrm>
            <a:off x="6117336" y="4892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bi-heart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6117336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favoritos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7973568" y="3977640"/>
            <a:ext cx="1737360" cy="182880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973568" y="4160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🔍</a:t>
            </a:r>
            <a:endParaRPr lang="en-US" sz="2600"/>
          </a:p>
        </p:txBody>
      </p:sp>
      <p:sp>
        <p:nvSpPr>
          <p:cNvPr id="28" name="Text 26"/>
          <p:cNvSpPr/>
          <p:nvPr/>
        </p:nvSpPr>
        <p:spPr>
          <a:xfrm>
            <a:off x="7973568" y="4892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bi-search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7973568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9829800" y="3977640"/>
            <a:ext cx="1737360" cy="1828800"/>
          </a:xfrm>
          <a:prstGeom prst="roundRect">
            <a:avLst>
              <a:gd name="adj" fmla="val 4737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9829800" y="416052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📱</a:t>
            </a:r>
            <a:endParaRPr lang="en-US" sz="2600"/>
          </a:p>
        </p:txBody>
      </p:sp>
      <p:sp>
        <p:nvSpPr>
          <p:cNvPr id="32" name="Text 30"/>
          <p:cNvSpPr/>
          <p:nvPr/>
        </p:nvSpPr>
        <p:spPr>
          <a:xfrm>
            <a:off x="9829800" y="48920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bi-phone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9829800" y="5212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</a:t>
            </a:r>
            <a:endParaRPr lang="en-US"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Bootstrap resolve na hora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498848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Precisa de...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Bootstrap dá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 responsivo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(row/col) — colunas que viram linhas no celular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Botões e cores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btn btn-primary, bg-success... sem escrever CSS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Cards de produto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pronto, alinhado e bonito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Espaçamentos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m-3 (margem), p-2 (padding) — atalhos rápidos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Ícones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>
                          <a:solidFill>
                            <a:srgbClr val="5A66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milhares prontos com &lt;i class="bi ..."&gt;</a:t>
                      </a:r>
                      <a:endParaRPr lang="en-US" sz="12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isso aparece no mercado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dos frameworks mais usados  ·  </a:t>
            </a:r>
            <a:r>
              <a:rPr lang="en-US" sz="12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está em milhões de sites — saber usar é diferencial em vaga.</a:t>
            </a:r>
            <a:endParaRPr lang="en-US" sz="1500"/>
          </a:p>
        </p:txBody>
      </p:sp>
      <p:sp>
        <p:nvSpPr>
          <p:cNvPr id="9" name="Shape 7"/>
          <p:cNvSpPr/>
          <p:nvPr/>
        </p:nvSpPr>
        <p:spPr>
          <a:xfrm>
            <a:off x="6172200" y="173736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49224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Agilidade = dinheiro  ·  </a:t>
            </a:r>
            <a:r>
              <a:rPr lang="en-US" sz="12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rápido e responsivo é o que empresas e freelancers precisam.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6868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 equipe  ·  </a:t>
            </a:r>
            <a:r>
              <a:rPr lang="en-US" sz="12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usam as mesmas classes — o código fica fácil de manter em time.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6172200" y="2971800"/>
            <a:ext cx="539496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92240" y="29718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outros frameworks  ·  </a:t>
            </a:r>
            <a:r>
              <a:rPr lang="en-US" sz="12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Entendeu classes utilitárias? Tailwind, Material etc. seguem a mesma ideia.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500" b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Protótipos rápidos  ·  </a:t>
            </a:r>
            <a:r>
              <a:rPr lang="en-US" sz="12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para montar uma tela de demonstração para o cliente em minutos.</a:t>
            </a:r>
            <a:endParaRPr lang="en-US" sz="15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Dicas profissionais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documentação</a:t>
            </a:r>
            <a:endParaRPr lang="en-US" sz="140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getbootstrap.com tem TUDO com exemplo. Copie, cole e ajuste.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6400800" y="210312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40080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6995160" y="169164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em .container</a:t>
            </a:r>
            <a:endParaRPr lang="en-US" sz="140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Coloque o conteúdo dentro do container para alinhar certo.</a:t>
            </a:r>
            <a:endParaRPr lang="en-US" sz="1400"/>
          </a:p>
        </p:txBody>
      </p:sp>
      <p:sp>
        <p:nvSpPr>
          <p:cNvPr id="15" name="Shape 13"/>
          <p:cNvSpPr/>
          <p:nvPr/>
        </p:nvSpPr>
        <p:spPr>
          <a:xfrm>
            <a:off x="54864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37160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dá 12</a:t>
            </a:r>
            <a:endParaRPr lang="en-US" sz="140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col de uma row somam 12. Passou disso, quebra a linha.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6172200" y="315468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6995160" y="315468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col-12 no celular</a:t>
            </a:r>
            <a:endParaRPr lang="en-US" sz="140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Comece pensando no celular (col-12) e cresça (col-md, col-lg).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54864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77240" y="502920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7724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137160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brigue com o Bootstrap</a:t>
            </a:r>
            <a:endParaRPr lang="en-US" sz="140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as classes dele a reescrever CSS por cima.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6172200" y="461772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6400800" y="5029200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0080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/>
          </a:p>
        </p:txBody>
      </p:sp>
      <p:sp>
        <p:nvSpPr>
          <p:cNvPr id="30" name="Text 28"/>
          <p:cNvSpPr/>
          <p:nvPr/>
        </p:nvSpPr>
        <p:spPr>
          <a:xfrm>
            <a:off x="6995160" y="4617720"/>
            <a:ext cx="4434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Espaçamento com utilitários</a:t>
            </a:r>
            <a:endParaRPr lang="en-US" sz="140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m-3, p-2, mt-4... deixam o ajuste rápido e padronizado.</a:t>
            </a:r>
            <a:endParaRPr 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Curiosidades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749808" y="1792224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49808" y="1792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1371600" y="164592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Bootstrap nasceu dentro do Twitter (2011) para padronizar as telas internas — por isso já foi chamado de "Twitter Bootstrap".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548640" y="2542032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749808" y="268833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749808" y="2688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/>
          </a:p>
        </p:txBody>
      </p:sp>
      <p:sp>
        <p:nvSpPr>
          <p:cNvPr id="14" name="Text 12"/>
          <p:cNvSpPr/>
          <p:nvPr/>
        </p:nvSpPr>
        <p:spPr>
          <a:xfrm>
            <a:off x="1371600" y="254203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open source e gratuito — mantido pela comunidade no GitHub.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548640" y="3438144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749808" y="3584448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749808" y="35844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1371600" y="343814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versão 5 abandonou a dependência do jQuery, ficando mais leve.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548640" y="4334256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749808" y="4480560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749808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/>
          </a:p>
        </p:txBody>
      </p:sp>
      <p:sp>
        <p:nvSpPr>
          <p:cNvPr id="22" name="Text 20"/>
          <p:cNvSpPr/>
          <p:nvPr/>
        </p:nvSpPr>
        <p:spPr>
          <a:xfrm>
            <a:off x="1371600" y="4334256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12 colunas foi escolhido porque 12 divide por 2, 3, 4 e 6 — dá muitas combinações.</a:t>
            </a:r>
            <a:endParaRPr lang="en-US" sz="1200"/>
          </a:p>
        </p:txBody>
      </p:sp>
      <p:sp>
        <p:nvSpPr>
          <p:cNvPr id="23" name="Shape 21"/>
          <p:cNvSpPr/>
          <p:nvPr/>
        </p:nvSpPr>
        <p:spPr>
          <a:xfrm>
            <a:off x="548640" y="5230368"/>
            <a:ext cx="11064240" cy="749808"/>
          </a:xfrm>
          <a:prstGeom prst="roundRect">
            <a:avLst>
              <a:gd name="adj" fmla="val 10976"/>
            </a:avLst>
          </a:prstGeom>
          <a:solidFill>
            <a:srgbClr val="F2F5F9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49808" y="5376672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749808" y="5376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1371600" y="5230368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"Bootstrap" vem da expressão em inglês "se erguer pelos próprios cadarços" — começar do zero com o que se tem.</a:t>
            </a:r>
            <a:endParaRPr lang="en-US"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Comparações: CSS na mão × Bootstrap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4800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Comparação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usar cada um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CSS na mão × Bootstrap</a:t>
                      </a:r>
                      <a:endParaRPr lang="en-US" sz="12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mão = controle total, mais trabalho. Bootstrap = rápido e padronizado.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container × div comum</a:t>
                      </a:r>
                      <a:endParaRPr lang="en-US" sz="12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centraliza e dá margens; div sozinha não faz nada disso.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grid (row/col) × flex na mão</a:t>
                      </a:r>
                      <a:endParaRPr lang="en-US" sz="12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grid é flexbox pronto e responsivo — você só diz o número de colunas.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>
                          <a:solidFill>
                            <a:srgbClr val="FF6B3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classe utilitária × CSS próprio</a:t>
                      </a:r>
                      <a:endParaRPr lang="en-US" sz="125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m-3 (Bootstrap) faz o mesmo que margin:16px — mas sem sair do HTML.</a:t>
                      </a:r>
                      <a:endParaRPr lang="en-US" sz="125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err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Exercício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61264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= framework de CLASSES prontas (a Aula 4 preparou isso).</a:t>
            </a:r>
            <a:endParaRPr lang="en-US" sz="125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Liga-se com 1 &lt;link&gt; da CDN — sem baixar nada.</a:t>
            </a:r>
            <a:endParaRPr lang="en-US" sz="125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centraliza; a row tem 12 colunas; col diz quanto ocupar.</a:t>
            </a:r>
            <a:endParaRPr lang="en-US" sz="125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col-12 col-md-6 col-lg-4 = responsivo de graça.</a:t>
            </a:r>
            <a:endParaRPr lang="en-US" sz="125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por significado: primary, success, danger (btn-, bg-, text-).</a:t>
            </a:r>
            <a:endParaRPr lang="en-US" sz="1250"/>
          </a:p>
          <a:p>
            <a:pPr marL="342900" indent="-342900" algn="l">
              <a:lnSpc>
                <a:spcPct val="112000"/>
              </a:lnSpc>
              <a:spcAft>
                <a:spcPts val="900"/>
              </a:spcAft>
              <a:buSzPct val="100000"/>
              <a:buChar char="✓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monta o produto; bi bi-... coloca ícones.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6949440" y="1783080"/>
            <a:ext cx="4663440" cy="4160520"/>
          </a:xfrm>
          <a:prstGeom prst="roundRect">
            <a:avLst>
              <a:gd name="adj" fmla="val 1758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114032" y="1911096"/>
            <a:ext cx="4334256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FF9E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BOOTSTRAP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(classes prontas)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|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+------+------+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       ESTILO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container    cores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row / col    cards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(12 cols)    ícones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8AA0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|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7FD1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bonito + responsivo</a:t>
            </a:r>
            <a:endParaRPr lang="en-US" sz="115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5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em minutos</a:t>
            </a:r>
            <a:endParaRPr lang="en-US" sz="11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FF6B35"/>
          </a:solidFill>
          <a:ln/>
          <a:effectLst>
            <a:outerShdw blurRad="76200" dist="25400" dir="5400000" algn="bl" rotWithShape="0">
              <a:srgbClr val="0D1B2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1417320" y="45720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500"/>
          </a:p>
        </p:txBody>
      </p:sp>
      <p:sp>
        <p:nvSpPr>
          <p:cNvPr id="5" name="Text 3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· Front-end para Web · Projeto SneakZone · SENAC-RJ</a:t>
            </a:r>
            <a:endParaRPr lang="en-US" sz="85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766560" cy="2331720"/>
          </a:xfrm>
          <a:prstGeom prst="roundRect">
            <a:avLst>
              <a:gd name="adj" fmla="val 3529"/>
            </a:avLst>
          </a:prstGeom>
          <a:solidFill>
            <a:srgbClr val="F5F7FA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8 — Componentes que se mexem</a:t>
            </a:r>
            <a:endParaRPr lang="en-US" sz="1600"/>
          </a:p>
        </p:txBody>
      </p:sp>
      <p:sp>
        <p:nvSpPr>
          <p:cNvPr id="9" name="Text 7"/>
          <p:cNvSpPr/>
          <p:nvPr/>
        </p:nvSpPr>
        <p:spPr>
          <a:xfrm>
            <a:off x="777240" y="2514600"/>
            <a:ext cx="6309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 usar os componentes interativos do Bootstrap: </a:t>
            </a:r>
            <a:r>
              <a:rPr lang="en-US" sz="1300" b="1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navbar</a:t>
            </a:r>
            <a:r>
              <a:rPr lang="en-US" sz="13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(menu responsivo), </a:t>
            </a:r>
            <a:r>
              <a:rPr lang="en-US" sz="1300" b="1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r>
              <a:rPr lang="en-US" sz="13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b="1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</a:t>
            </a:r>
            <a:r>
              <a:rPr lang="en-US" sz="13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o carrinho (offcanvas). Aqui entra o JS do Bootstrap.</a:t>
            </a:r>
            <a:endParaRPr lang="en-US" sz="130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6766560" cy="1645920"/>
          </a:xfrm>
          <a:prstGeom prst="roundRect">
            <a:avLst>
              <a:gd name="adj" fmla="val 5000"/>
            </a:avLst>
          </a:prstGeom>
          <a:solidFill>
            <a:srgbClr val="FFFBE6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D1B2A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8A6D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📌 Lição de casa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777240" y="4828032"/>
            <a:ext cx="6309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o menu "Components" em getbootstrap.com e escolha 1 componente que você gostaria de usar no seu site.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7589520" y="1783080"/>
            <a:ext cx="4023360" cy="4160520"/>
          </a:xfrm>
          <a:prstGeom prst="roundRect">
            <a:avLst>
              <a:gd name="adj" fmla="val 2727"/>
            </a:avLst>
          </a:prstGeom>
          <a:solidFill>
            <a:srgbClr val="0D1B2A"/>
          </a:solidFill>
          <a:ln/>
          <a:effectLst>
            <a:outerShdw blurRad="101600" dist="38100" dir="5400000" algn="bl" rotWithShape="0">
              <a:srgbClr val="0D1B2A">
                <a:alpha val="3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818120" y="20116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F6B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🎟️  Ticket de saída</a:t>
            </a:r>
            <a:endParaRPr lang="en-US" sz="1700"/>
          </a:p>
        </p:txBody>
      </p:sp>
      <p:sp>
        <p:nvSpPr>
          <p:cNvPr id="15" name="Text 13"/>
          <p:cNvSpPr/>
          <p:nvPr/>
        </p:nvSpPr>
        <p:spPr>
          <a:xfrm>
            <a:off x="7818120" y="2487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minutos, por escrito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7818120" y="29260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"Quero 3 cards por linha no desktop: qual classe col eu uso? E por que a row tem que somar 12?"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7818120" y="49834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i="1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Termômetro de quem entendeu o grid.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961120" y="3474720"/>
            <a:ext cx="4572000" cy="4572000"/>
          </a:xfrm>
          <a:prstGeom prst="roundRect">
            <a:avLst>
              <a:gd name="adj" fmla="val 8000"/>
            </a:avLst>
          </a:prstGeom>
          <a:solidFill>
            <a:srgbClr val="7952B3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Profissional em minutos.</a:t>
            </a:r>
            <a:endParaRPr lang="en-US" sz="4000"/>
          </a:p>
        </p:txBody>
      </p:sp>
      <p:sp>
        <p:nvSpPr>
          <p:cNvPr id="4" name="Text 2"/>
          <p:cNvSpPr/>
          <p:nvPr/>
        </p:nvSpPr>
        <p:spPr>
          <a:xfrm>
            <a:off x="841248" y="35204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</a:t>
            </a:r>
            <a:r>
              <a:rPr lang="en-US" sz="1700" b="1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r>
              <a:rPr lang="en-US" sz="170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 site ganhou grid, cards, cores e ícones — bonito e responsivo. Na Aula 8, ele começa a </a:t>
            </a:r>
            <a:r>
              <a:rPr lang="en-US" sz="1700" b="1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mexer</a:t>
            </a:r>
            <a:r>
              <a:rPr lang="en-US" sz="1700">
                <a:solidFill>
                  <a:srgbClr val="CDD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/>
          </a:p>
        </p:txBody>
      </p:sp>
      <p:sp>
        <p:nvSpPr>
          <p:cNvPr id="5" name="Text 3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A66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UC2 Desenvolver Aplicações Front-end para Web · Projeto SneakZone · SENAC-RJ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D51460BBB3BD64989C0AF0085EB7E4E" ma:contentTypeVersion="42" ma:contentTypeDescription="Crie um novo documento." ma:contentTypeScope="" ma:versionID="d9ea4bfe24da9323925474f8e7a5d9c2">
  <xsd:schema xmlns:xsd="http://www.w3.org/2001/XMLSchema" xmlns:xs="http://www.w3.org/2001/XMLSchema" xmlns:p="http://schemas.microsoft.com/office/2006/metadata/properties" xmlns:ns2="86243fb6-e625-4153-bf24-3dbb8808cb3e" xmlns:ns3="29c85e31-c0e5-4fba-ab60-4fce8ca17cbc" targetNamespace="http://schemas.microsoft.com/office/2006/metadata/properties" ma:root="true" ma:fieldsID="96066f67e9ef9d03c561a9b1a7d8b26b" ns2:_="" ns3:_="">
    <xsd:import namespace="86243fb6-e625-4153-bf24-3dbb8808cb3e"/>
    <xsd:import namespace="29c85e31-c0e5-4fba-ab60-4fce8ca17cbc"/>
    <xsd:element name="properties">
      <xsd:complexType>
        <xsd:sequence>
          <xsd:element name="documentManagement">
            <xsd:complexType>
              <xsd:all>
                <xsd:element ref="ns2:_Flow_SignoffStatus" minOccurs="0"/>
                <xsd:element ref="ns2:AULASESCRITAS" minOccurs="0"/>
                <xsd:element ref="ns2:Indentidadevisualaula4" minOccurs="0"/>
                <xsd:element ref="ns3:SharedWithUsers" minOccurs="0"/>
                <xsd:element ref="ns3:SharedWithDetails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  <xsd:element ref="ns2:_ApprovalAssignedTo" minOccurs="0"/>
                <xsd:element ref="ns2:_ApprovalRespondedBy" minOccurs="0"/>
                <xsd:element ref="ns2:_ApprovalSentBy" minOccurs="0"/>
                <xsd:element ref="ns2:_ApprovalStatus" minOccurs="0"/>
                <xsd:element ref="ns2:Guiadeservi_x00e7_o" minOccurs="0"/>
                <xsd:element ref="ns2:entrevista" minOccurs="0"/>
                <xsd:element ref="ns2:Eduarda_x002c_Lohanaevilma" minOccurs="0"/>
                <xsd:element ref="ns2:emmanuelG" minOccurs="0"/>
                <xsd:element ref="ns2:Como_x0020_esse_x0020_problema_x0020_aparece_x0020_entre_x0020_os_x0020_jovens_x003f_"/>
                <xsd:element ref="ns2:Como_x0020_a_x0020_Sociologia_x0020_poderia_x0020_explicar_x0020_isso_x003f_"/>
                <xsd:element ref="ns2:Nomes"/>
                <xsd:element ref="ns2:TEXTO_x002d_BASE_x0020_DO_x0020_ESTUDO" minOccurs="0"/>
                <xsd:element ref="ns2: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/>
                <xsd:element ref="ns2: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/>
                <xsd:element ref="ns2: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/>
                <xsd:element ref="ns2:Explique_x0020_por_x0020_que_x0020_uma_x0020_mesma_x0020_pessoa_x0020_pode_x0020_desempenhar_x0020_v_x00e1_rios_x0020_pap_x00e9_is_x0020_sociais_x0020_diferentes_x0020_ao_x0020_longo_x0020_de_x0020_um_x0020_mesmo_x0020_dia_x002e_"/>
                <xsd:element ref="ns2: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/>
                <xsd:element ref="ns2: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/>
                <xsd:element ref="ns2:Explique_x0020_a_x0020_rela_x00e7__x00e3_o_x0020_entre_x0020_institui_x00e7__x00f5_es_x0020_sociais_x0020_e_x0020_processos_x0020_de_x0020_socializa_x00e7__x00e3_o_x0020_na_x0020_forma_x00e7__x00e3_o_x0020_dos_x0020_comportamentos_x0020_observados_x0020_no_x0020_texto_x002e_"/>
                <xsd:element ref="ns2: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/>
                <xsd:element ref="ns2:A_x0020_partir_x0020_do_x0020_caso_x0020_analisado_x002c__x0020_explique_x0020_como_x0020_os_x0020_conceitos_x0020_de_x0020_institui_x00e7__x00e3_o_x0020_social_x002c__x0020_socializa_x00e7__x00e3_o_x0020_e_x0020_papel_x0020_social_x0020_est_x00e3_o_x0020_interligados_x002e_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43fb6-e625-4153-bf24-3dbb8808cb3e" elementFormDefault="qualified">
    <xsd:import namespace="http://schemas.microsoft.com/office/2006/documentManagement/types"/>
    <xsd:import namespace="http://schemas.microsoft.com/office/infopath/2007/PartnerControls"/>
    <xsd:element name="_Flow_SignoffStatus" ma:index="3" nillable="true" ma:displayName="Status de liberação" ma:internalName="Status_x0020_de_x0020_libera_x00e7__x00e3_o">
      <xsd:simpleType>
        <xsd:restriction base="dms:Text"/>
      </xsd:simpleType>
    </xsd:element>
    <xsd:element name="AULASESCRITAS" ma:index="4" nillable="true" ma:displayName="AULAS ESCRITAS" ma:description="Descrição" ma:indexed="true" ma:internalName="AULASESCRITAS">
      <xsd:simpleType>
        <xsd:restriction base="dms:Text">
          <xsd:maxLength value="255"/>
        </xsd:restriction>
      </xsd:simpleType>
    </xsd:element>
    <xsd:element name="Indentidadevisualaula4" ma:index="5" nillable="true" ma:displayName="Indentidade visual aula 4" ma:internalName="Indentidadevisualaula4">
      <xsd:simpleType>
        <xsd:restriction base="dms:Unknown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Marcações de imagem" ma:readOnly="false" ma:fieldId="{5cf76f15-5ced-4ddc-b409-7134ff3c332f}" ma:taxonomyMulti="true" ma:sspId="e9a2855a-918e-4771-8d49-1fa7ae9a9e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22" nillable="true" ma:displayName="Location" ma:hidden="true" ma:indexed="true" ma:internalName="MediaServiceLocation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  <xsd:element name="_ApprovalAssignedTo" ma:index="27" nillable="true" ma:displayName="Aprovadores" ma:list="UserInfo" ma:internalName="_ApprovalAssignedTo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RespondedBy" ma:index="28" nillable="true" ma:displayName="Respostas" ma:list="UserInfo" ma:internalName="_ApprovalRespondedBy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entBy" ma:index="29" nillable="true" ma:displayName="Criador de Aprovação" ma:list="UserInfo" ma:internalName="_ApprovalSentBy" ma:readOnly="tru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ApprovalStatus" ma:index="30" nillable="true" ma:displayName="Estado da aprovação" ma:internalName="_ApprovalStatus" ma:readOnly="true">
      <xsd:simpleType>
        <xsd:restriction base="dms:Unknown"/>
      </xsd:simpleType>
    </xsd:element>
    <xsd:element name="Guiadeservi_x00e7_o" ma:index="31" nillable="true" ma:displayName="Guia de serviço " ma:description="Hotel Histórico - Centro &#10;Hotel era uma mansão de um grande Duque &#10;&#10;Serviços básicos &#10;* Wi-fi &#10;* Ar condicionado &#10;* Televisão &#10;* Lavanderia &#10;* Recepção &#10;* Serviço de quarto &#10;* Concierge &#10;&#10;Serviço diferencial&#10;* Eventos imersivos simulando a época do estabelecimento -1 vez por semana, agendado na recepção ou reserva, parceria com o restaurante na recriação de um baile. &#10;* Visitas as dependências preservadas do hotel: escritório do duque, jardins, salas de jantar, alguns quartos - diariamente entre 13 às 17, agendamento mediante disponibilidade.&#10;* Menu inspirado nos ingredientes encontrados nesse período - todos os dias. &#10;* Passeio turístico pelos lugares históricos - Finais de semana , agendamento na recepção.&#10; &#10;Eduardo,Helena,Any" ma:format="Dropdown" ma:internalName="Guiadeservi_x00e7_o">
      <xsd:simpleType>
        <xsd:restriction base="dms:Text">
          <xsd:maxLength value="255"/>
        </xsd:restriction>
      </xsd:simpleType>
    </xsd:element>
    <xsd:element name="entrevista" ma:index="32" nillable="true" ma:displayName="entrevista" ma:format="Dropdown" ma:internalName="entrevista">
      <xsd:simpleType>
        <xsd:restriction base="dms:Choice">
          <xsd:enumeration value="1"/>
          <xsd:enumeration value="2"/>
          <xsd:enumeration value="3"/>
          <xsd:enumeration value="4 ou mais"/>
        </xsd:restriction>
      </xsd:simpleType>
    </xsd:element>
    <xsd:element name="Eduarda_x002c_Lohanaevilma" ma:index="33" nillable="true" ma:displayName="Eduarda ,Lohana e vilma" ma:description="Tabelafluxo de atendimento via whatsapp aula 9" ma:format="Thumbnail" ma:internalName="Eduarda_x002c_Lohanaevilma">
      <xsd:simpleType>
        <xsd:restriction base="dms:Unknown"/>
      </xsd:simpleType>
    </xsd:element>
    <xsd:element name="emmanuelG" ma:index="34" nillable="true" ma:displayName="emmanuel G" ma:format="Thumbnail" ma:internalName="emmanuelG">
      <xsd:simpleType>
        <xsd:restriction base="dms:Unknown"/>
      </xsd:simpleType>
    </xsd:element>
    <xsd:element name="Como_x0020_esse_x0020_problema_x0020_aparece_x0020_entre_x0020_os_x0020_jovens_x003f_" ma:index="35" ma:displayName="Como esse problema aparece entre os jovens?" ma:internalName="Como_x0020_esse_x0020_problema_x0020_aparece_x0020_entre_x0020_os_x0020_jovens_x003f_">
      <xsd:simpleType>
        <xsd:restriction base="dms:Note">
          <xsd:maxLength value="255"/>
        </xsd:restriction>
      </xsd:simpleType>
    </xsd:element>
    <xsd:element name="Como_x0020_a_x0020_Sociologia_x0020_poderia_x0020_explicar_x0020_isso_x003f_" ma:index="36" ma:displayName="Como a Sociologia poderia explicar isso?" ma:internalName="Como_x0020_a_x0020_Sociologia_x0020_poderia_x0020_explicar_x0020_isso_x003f_">
      <xsd:simpleType>
        <xsd:restriction base="dms:Note">
          <xsd:maxLength value="255"/>
        </xsd:restriction>
      </xsd:simpleType>
    </xsd:element>
    <xsd:element name="Nomes" ma:index="37" ma:displayName="Nomes" ma:internalName="Nomes">
      <xsd:simpleType>
        <xsd:restriction base="dms:Note">
          <xsd:maxLength value="255"/>
        </xsd:restriction>
      </xsd:simpleType>
    </xsd:element>
    <xsd:element name="TEXTO_x002d_BASE_x0020_DO_x0020_ESTUDO" ma:index="38" nillable="true" ma:displayName="TEXTO-BASE DO ESTUDO" ma:internalName="TEXTO_x002d_BASE_x0020_DO_x0020_ESTUDO">
      <xsd:simpleType>
        <xsd:restriction base="dms:Text">
          <xsd:maxLength value="255"/>
        </xsd:restriction>
      </xsd:simpleType>
    </xsd:element>
    <xsd:element 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 ma:index="39" ma:displayName="Identifique três instituições sociais presentes no caso descrito e explique brevemente qual é o papel de cada uma na organização da vida social." ma:internalName="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">
      <xsd:simpleType>
        <xsd:restriction base="dms:Note">
          <xsd:maxLength value="255"/>
        </xsd:restriction>
      </xsd:simpleType>
    </xsd:element>
    <xsd:element 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 ma:index="40" ma:displayName="Explique, a partir do texto, como o processo de socialização contribui para que Camila consiga agir de maneiras diferentes em cada ambiente social." ma:internalName="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">
      <xsd:simpleType>
        <xsd:restriction base="dms:Note">
          <xsd:maxLength value="255"/>
        </xsd:restriction>
      </xsd:simpleType>
    </xsd:element>
    <xsd:element 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 ma:index="41" ma:displayName="No texto, Camila assume a função de apresentar o trabalho em sala de aula. Explique como essa situação pode ser compreendida a partir do conceito de papel social." ma:internalName="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">
      <xsd:simpleType>
        <xsd:restriction base="dms:Note">
          <xsd:maxLength value="255"/>
        </xsd:restriction>
      </xsd:simpleType>
    </xsd:element>
    <xsd:element name="Explique_x0020_por_x0020_que_x0020_uma_x0020_mesma_x0020_pessoa_x0020_pode_x0020_desempenhar_x0020_v_x00e1_rios_x0020_pap_x00e9_is_x0020_sociais_x0020_diferentes_x0020_ao_x0020_longo_x0020_de_x0020_um_x0020_mesmo_x0020_dia_x002e_" ma:index="42" ma:displayName="Explique por que uma mesma pessoa pode desempenhar vários papéis sociais diferentes ao longo de um mesmo dia." ma:internalName="Explique_x0020_por_x0020_que_x0020_uma_x0020_mesma_x0020_pessoa_x0020_pode_x0020_desempenhar_x0020_v_x00e1_rios_x0020_pap_x00e9_is_x0020_sociais_x0020_diferentes_x0020_ao_x0020_longo_x0020_de_x0020_um_x0020_mesmo_x0020_dia_x002e_">
      <xsd:simpleType>
        <xsd:restriction base="dms:Note">
          <xsd:maxLength value="255"/>
        </xsd:restriction>
      </xsd:simpleType>
    </xsd:element>
    <xsd:element 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 ma:index="43" ma:displayName="A partir das ideias de Erving Goffman, explique por que Camila controla sua forma de falar e de se comportar em determinados contextos sociais." ma:internalName="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">
      <xsd:simpleType>
        <xsd:restriction base="dms:Note">
          <xsd:maxLength value="255"/>
        </xsd:restriction>
      </xsd:simpleType>
    </xsd:element>
    <xsd:element 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 ma:index="44" ma:displayName="Utilizando o conceito de apresentação de si, explique como o comportamento de Camila no ambiente de trabalho pode ser interpretado sociologicamente." ma:internalName="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">
      <xsd:simpleType>
        <xsd:restriction base="dms:Note">
          <xsd:maxLength value="255"/>
        </xsd:restriction>
      </xsd:simpleType>
    </xsd:element>
    <xsd:element 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 ma:index="45" ma:displayName="Explique a relação entre instituições sociais e processos de socialização na formação dos comportamentos observados no texto." ma:internalName="Explique_x0020_a_x0020_rela_x00e7__x00e3_o_x0020_entre_x0020_institui_x00e7__x00f5_es_x0020_sociais_x0020_e_x0020_processos_x0020_de_x0020_socializa_x00e7__x00e3_o_x0020_na_x0020_forma_x00e7__x00e3_o_x0020_dos_x0020_comportamentos_x0020_observados_x0020_no_x0020_texto_x002e_">
      <xsd:simpleType>
        <xsd:restriction base="dms:Note">
          <xsd:maxLength value="255"/>
        </xsd:restriction>
      </xsd:simpleType>
    </xsd:element>
    <xsd:element 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 ma:index="46" ma:displayName="O caso apresentado mostra que diferentes ambientes possuem normas e expectativas específicas. Explique por que a existência dessas normas é importante para o funcionamento da vida social." ma:internalName="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">
      <xsd:simpleType>
        <xsd:restriction base="dms:Note">
          <xsd:maxLength value="255"/>
        </xsd:restriction>
      </xsd:simpleType>
    </xsd:element>
    <xsd:element 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 ma:index="47" ma:displayName="A partir do caso analisado, explique como os conceitos de instituição social, socialização e papel social estão interligados." ma:internalName="A_x0020_partir_x0020_do_x0020_caso_x0020_analisado_x002c__x0020_explique_x0020_como_x0020_os_x0020_conceitos_x0020_de_x0020_institui_x00e7__x00e3_o_x0020_social_x002c__x0020_socializa_x00e7__x00e3_o_x0020_e_x0020_papel_x0020_social_x0020_est_x00e3_o_x0020_interligados_x002e_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c85e31-c0e5-4fba-ab60-4fce8ca17cb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hidden="true" ma:internalName="SharedWithDetails" ma:readOnly="true">
      <xsd:simpleType>
        <xsd:restriction base="dms:Note"/>
      </xsd:simpleType>
    </xsd:element>
    <xsd:element name="TaxCatchAll" ma:index="20" nillable="true" ma:displayName="Taxonomy Catch All Column" ma:hidden="true" ma:list="{70672001-ba53-4cf3-bc98-583cff500914}" ma:internalName="TaxCatchAll" ma:readOnly="false" ma:showField="CatchAllData" ma:web="29c85e31-c0e5-4fba-ab60-4fce8ca17cb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Tipo de Conteúdo"/>
        <xsd:element ref="dc:title" minOccurs="0" maxOccurs="1" ma:index="1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uiadeservi_x00e7_o xmlns="86243fb6-e625-4153-bf24-3dbb8808cb3e" xsi:nil="true"/>
    <TEXTO_x002d_BASE_x0020_DO_x0020_ESTUDO xmlns="86243fb6-e625-4153-bf24-3dbb8808cb3e" xsi:nil="true"/>
    <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="86243fb6-e625-4153-bf24-3dbb8808cb3e"/>
    <Eduarda_x002c_Lohanaevilma xmlns="86243fb6-e625-4153-bf24-3dbb8808cb3e" xsi:nil="true"/>
    <Como_x0020_esse_x0020_problema_x0020_aparece_x0020_entre_x0020_os_x0020_jovens_x003f_ xmlns="86243fb6-e625-4153-bf24-3dbb8808cb3e"/>
    <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="86243fb6-e625-4153-bf24-3dbb8808cb3e"/>
    <Indentidadevisualaula4 xmlns="86243fb6-e625-4153-bf24-3dbb8808cb3e" xsi:nil="true"/>
    <Nomes xmlns="86243fb6-e625-4153-bf24-3dbb8808cb3e"/>
    <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="86243fb6-e625-4153-bf24-3dbb8808cb3e"/>
    <entrevista xmlns="86243fb6-e625-4153-bf24-3dbb8808cb3e" xsi:nil="true"/>
    <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="86243fb6-e625-4153-bf24-3dbb8808cb3e"/>
    <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="86243fb6-e625-4153-bf24-3dbb8808cb3e"/>
    <Como_x0020_a_x0020_Sociologia_x0020_poderia_x0020_explicar_x0020_isso_x003f_ xmlns="86243fb6-e625-4153-bf24-3dbb8808cb3e"/>
    <Explique_x0020_por_x0020_que_x0020_uma_x0020_mesma_x0020_pessoa_x0020_pode_x0020_desempenhar_x0020_v_x00e1_rios_x0020_pap_x00e9_is_x0020_sociais_x0020_diferentes_x0020_ao_x0020_longo_x0020_de_x0020_um_x0020_mesmo_x0020_dia_x002e_ xmlns="86243fb6-e625-4153-bf24-3dbb8808cb3e"/>
    <_Flow_SignoffStatus xmlns="86243fb6-e625-4153-bf24-3dbb8808cb3e" xsi:nil="true"/>
    <lcf76f155ced4ddcb4097134ff3c332f xmlns="86243fb6-e625-4153-bf24-3dbb8808cb3e">
      <Terms xmlns="http://schemas.microsoft.com/office/infopath/2007/PartnerControls"/>
    </lcf76f155ced4ddcb4097134ff3c332f>
    <TaxCatchAll xmlns="29c85e31-c0e5-4fba-ab60-4fce8ca17cbc" xsi:nil="true"/>
    <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="86243fb6-e625-4153-bf24-3dbb8808cb3e"/>
    <AULASESCRITAS xmlns="86243fb6-e625-4153-bf24-3dbb8808cb3e" xsi:nil="true"/>
    <emmanuelG xmlns="86243fb6-e625-4153-bf24-3dbb8808cb3e" xsi:nil="true"/>
    <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="86243fb6-e625-4153-bf24-3dbb8808cb3e"/>
    <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="86243fb6-e625-4153-bf24-3dbb8808cb3e"/>
    <_ApprovalAssignedTo xmlns="86243fb6-e625-4153-bf24-3dbb8808cb3e">
      <UserInfo>
        <DisplayName/>
        <AccountId xsi:nil="true"/>
        <AccountType/>
      </UserInfo>
    </_ApprovalAssignedTo>
    <_ApprovalStatus xmlns="86243fb6-e625-4153-bf24-3dbb8808cb3e">0</_ApprovalStatus>
    <_ApprovalRespondedBy xmlns="86243fb6-e625-4153-bf24-3dbb8808cb3e">
      <UserInfo>
        <DisplayName/>
        <AccountId xsi:nil="true"/>
        <AccountType/>
      </UserInfo>
    </_ApprovalRespondedBy>
    <_ApprovalSentBy xmlns="86243fb6-e625-4153-bf24-3dbb8808cb3e">
      <UserInfo>
        <DisplayName/>
        <AccountId xsi:nil="true"/>
        <AccountType/>
      </UserInfo>
    </_ApprovalSentBy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74B35B1-115C-440E-BB5E-2A39E94BA11C}">
  <ds:schemaRefs>
    <ds:schemaRef ds:uri="29c85e31-c0e5-4fba-ab60-4fce8ca17cbc"/>
    <ds:schemaRef ds:uri="86243fb6-e625-4153-bf24-3dbb8808cb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D4EBC06-D7E0-47DB-BF6E-52C0EFDB844F}">
  <ds:schemaRefs>
    <ds:schemaRef ds:uri="29c85e31-c0e5-4fba-ab60-4fce8ca17cbc"/>
    <ds:schemaRef ds:uri="86243fb6-e625-4153-bf24-3dbb8808cb3e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EA9C425-32A8-4118-A454-095BEA8BD2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22</Slides>
  <Notes>21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7 — Bootstrap</dc:title>
  <dc:subject>PptxGenJS Presentation</dc:subject>
  <dc:creator>SENAC-RJ</dc:creator>
  <cp:revision>1</cp:revision>
  <dcterms:created xsi:type="dcterms:W3CDTF">2026-09-01T12:09:01Z</dcterms:created>
  <dcterms:modified xsi:type="dcterms:W3CDTF">2026-09-02T23:23:53Z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c88f678-0b6e-4995-8ab3-bcc8062be905_Enabled">
    <vt:lpwstr>true</vt:lpwstr>
  </property>
  <property fmtid="{D5CDD505-2E9C-101B-9397-08002B2CF9AE}" pid="3" name="MSIP_Label_5c88f678-0b6e-4995-8ab3-bcc8062be905_SetDate">
    <vt:lpwstr>2026-09-02T11:34:42Z</vt:lpwstr>
  </property>
  <property fmtid="{D5CDD505-2E9C-101B-9397-08002B2CF9AE}" pid="4" name="MSIP_Label_5c88f678-0b6e-4995-8ab3-bcc8062be905_Method">
    <vt:lpwstr>Standard</vt:lpwstr>
  </property>
  <property fmtid="{D5CDD505-2E9C-101B-9397-08002B2CF9AE}" pid="5" name="MSIP_Label_5c88f678-0b6e-4995-8ab3-bcc8062be905_Name">
    <vt:lpwstr>Ostensivo</vt:lpwstr>
  </property>
  <property fmtid="{D5CDD505-2E9C-101B-9397-08002B2CF9AE}" pid="6" name="MSIP_Label_5c88f678-0b6e-4995-8ab3-bcc8062be905_SiteId">
    <vt:lpwstr>d0c698d4-e4ea-4ee9-a79d-f2d7a78399c8</vt:lpwstr>
  </property>
  <property fmtid="{D5CDD505-2E9C-101B-9397-08002B2CF9AE}" pid="7" name="MSIP_Label_5c88f678-0b6e-4995-8ab3-bcc8062be905_ActionId">
    <vt:lpwstr>33c2f68d-af75-465b-aee8-b0d5c692d7ba</vt:lpwstr>
  </property>
  <property fmtid="{D5CDD505-2E9C-101B-9397-08002B2CF9AE}" pid="8" name="MSIP_Label_5c88f678-0b6e-4995-8ab3-bcc8062be905_ContentBits">
    <vt:lpwstr>0</vt:lpwstr>
  </property>
  <property fmtid="{D5CDD505-2E9C-101B-9397-08002B2CF9AE}" pid="9" name="MSIP_Label_5c88f678-0b6e-4995-8ab3-bcc8062be905_Tag">
    <vt:lpwstr>10, 3, 0, 1</vt:lpwstr>
  </property>
  <property fmtid="{D5CDD505-2E9C-101B-9397-08002B2CF9AE}" pid="10" name="ContentTypeId">
    <vt:lpwstr>0x010100CD51460BBB3BD64989C0AF0085EB7E4E</vt:lpwstr>
  </property>
  <property fmtid="{D5CDD505-2E9C-101B-9397-08002B2CF9AE}" pid="11" name="MediaServiceImageTags">
    <vt:lpwstr/>
  </property>
</Properties>
</file>