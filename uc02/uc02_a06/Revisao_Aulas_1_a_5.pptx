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1502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778240" y="-1097280"/>
            <a:ext cx="4754880" cy="4754880"/>
          </a:xfrm>
          <a:prstGeom prst="roundRect">
            <a:avLst>
              <a:gd name="adj" fmla="val 7692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 rot="900000">
            <a:off x="9692640" y="384048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77240" y="77724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FF6B35">
              <a:alpha val="1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777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SENAC-RJ · UC2 Front-end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8869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Geral</a:t>
            </a:r>
            <a:endParaRPr lang="en-US" sz="4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Aulas 1 a 5 — passo a passo, do zero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04672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pressa. Vamos juntar as peças que já vimos e deixar tudo no lugar. 💪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4572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3 linguagens da web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801368" y="111556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entender só isto, já entendeu metade do curso.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 · REVISÃO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847088" y="1965960"/>
            <a:ext cx="914400" cy="9144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847088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🦴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ESQUELETO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estrutura: títulos, textos, imagens, botões.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5257800"/>
            <a:ext cx="2788920" cy="502920"/>
          </a:xfrm>
          <a:prstGeom prst="roundRect">
            <a:avLst>
              <a:gd name="adj" fmla="val 10909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4400" y="5257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&lt;h1&gt;Olá&lt;/h1&gt;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79392" y="173736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577840" y="1965960"/>
            <a:ext cx="914400" cy="9144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57784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🎨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462272" y="2971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462272" y="34747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ROUPA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53712" y="3840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aparência: cores, tamanhos, espaços, layout.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45152" y="5257800"/>
            <a:ext cx="2788920" cy="502920"/>
          </a:xfrm>
          <a:prstGeom prst="roundRect">
            <a:avLst>
              <a:gd name="adj" fmla="val 10909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645152" y="5257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orange;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10144" y="173736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9308592" y="1965960"/>
            <a:ext cx="914400" cy="9144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9308592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193024" y="2971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193024" y="34747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MÚSCULOS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84464" y="3840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comportamento: reage ao clique, faz contas.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375904" y="5257800"/>
            <a:ext cx="2788920" cy="502920"/>
          </a:xfrm>
          <a:prstGeom prst="roundRect">
            <a:avLst>
              <a:gd name="adj" fmla="val 10909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375904" y="5257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alert("Oi!")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4572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jornada até aqui (Aulas 1 a 5)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 · REVISÃO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504748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aprendemos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uma frase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 (HTML)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Montamos o esqueleto: header, nav, main, section, article, footer.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Imagens + 1ª cor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tag &lt;img&gt; (com alt) e o primeiro CSS: cores e fonte.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 caprichado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 em arquivo (estilo.css), :hover, cantos arredondados, mapa.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Tabelas + classes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 de fretes (colspan) e as classes (.nome) do CSS.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 + 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Cadastro (form/input) e o primeiro JavaScript (alert, parseInt).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4572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uma "tag"?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801368" y="111556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é feito de tags. Quase todas ABREM e FECHAM.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 · REVISÃO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1865376"/>
            <a:ext cx="1073505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abre           fecha (tem a barra /)</a:t>
            </a:r>
            <a:endParaRPr lang="en-US" sz="15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              |</a:t>
            </a:r>
            <a:endParaRPr lang="en-US" sz="15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&lt;p&gt;Bem-vindo à SneakZone&lt;/p&gt;</a:t>
            </a:r>
            <a:endParaRPr lang="en-US" sz="15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|</a:t>
            </a:r>
            <a:endParaRPr lang="en-US" sz="15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conteúdo (o que aparece na tela)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3EEFC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Analogia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34340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numa CAIXA: &lt;p&gt; abre a caixa, você põe o conteúdo dentro, e &lt;/p&gt; fecha a caixa. Se esquecer de fechar, "vaza" tudo.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74904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Guarde isto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434340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tag que abre, </a:t>
            </a: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Exceções (não fecham): </a:t>
            </a: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&lt;img&gt;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&lt;input&gt;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são "vazias".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4572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esqueleto da página (tags semânticas)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 · REVISÃO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 </a:t>
            </a:r>
            <a:r>
              <a:rPr lang="en-US" sz="1400" dirty="0">
                <a:solidFill>
                  <a:srgbClr val="CDD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topo: logo + </a:t>
            </a:r>
            <a:r>
              <a:rPr lang="en-US" sz="14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 </a:t>
            </a:r>
            <a:r>
              <a:rPr lang="en-US" sz="1400" dirty="0">
                <a:solidFill>
                  <a:srgbClr val="CDD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(menu)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64240" cy="233172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2743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 </a:t>
            </a:r>
            <a:r>
              <a:rPr lang="en-US" sz="1300" i="1" dirty="0">
                <a:solidFill>
                  <a:srgbClr val="5A6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conteúdo principal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200400"/>
            <a:ext cx="105156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051560" y="331012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 </a:t>
            </a: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 bloco temático (ex.: Produtos)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3703320"/>
            <a:ext cx="4892040" cy="1005840"/>
          </a:xfrm>
          <a:prstGeom prst="roundRect">
            <a:avLst>
              <a:gd name="adj" fmla="val 5455"/>
            </a:avLst>
          </a:prstGeom>
          <a:solidFill>
            <a:srgbClr val="FFF3EC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280160" y="3703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4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 </a:t>
            </a: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 item (card de produto)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3703320"/>
            <a:ext cx="4892040" cy="1005840"/>
          </a:xfrm>
          <a:prstGeom prst="roundRect">
            <a:avLst>
              <a:gd name="adj" fmla="val 5455"/>
            </a:avLst>
          </a:prstGeom>
          <a:solidFill>
            <a:srgbClr val="FFF3EC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537960" y="3703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4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 </a:t>
            </a: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 item (card de produto)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 </a:t>
            </a:r>
            <a:r>
              <a:rPr lang="en-US" sz="1400" dirty="0">
                <a:solidFill>
                  <a:srgbClr val="CDD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rodapé: contato, redes, copyright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4572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Imagens: a tag &lt;img&gt;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 · REVISÃO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13232" y="1865376"/>
            <a:ext cx="107350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 src="img/tenis.jpg"  alt="Tênis laranja"  width="300"  height="300"&gt;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   </a:t>
            </a: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da foto (onde ela está)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  </a:t>
            </a: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(acessibilidade + se a foto falhar)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2960" y="493776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 / height   </a:t>
            </a: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tamanho, em pixels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623560"/>
            <a:ext cx="11064240" cy="457200"/>
          </a:xfrm>
          <a:prstGeom prst="roundRect">
            <a:avLst>
              <a:gd name="adj" fmla="val 18000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D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Lembra: 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&lt;img&gt; NÃO fecha (não tem &lt;/img&gt;). E toda imagem precisa de alt.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4572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CSS funciona (a regra)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801368" y="111556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na Aula 2 e cresce na 3. É sempre a MESMA forma.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 · REVISÃO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1911096"/>
            <a:ext cx="1073505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seletor {              &lt;- QUEM vai mudar (ex.: h1, .card)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propriedade: valor;  &lt;- O QUE muda (ex.: color: orange)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 color: #ff6b35; 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FFFBE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42976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Analogia da ficha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7091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preencher uma ficha: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seletor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diz "quem" (o h1), e cada linha </a:t>
            </a:r>
            <a:r>
              <a:rPr lang="en-US" sz="14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propriedade: valor;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uma "característica: escolha" (cor: laranja). Não esqueça do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 de cada linha!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4572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externo + o :hover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 · REVISÃO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estilo saiu do HTML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CSS foi para um arquivo próprio, css/estilo.css. No HTML, só uma linha liga os dois: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154680"/>
            <a:ext cx="4983480" cy="640080"/>
          </a:xfrm>
          <a:prstGeom prst="roundRect">
            <a:avLst>
              <a:gd name="adj" fmla="val 11429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41832" y="3282696"/>
            <a:ext cx="4654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rel="stylesheet"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href="css/estilo.css"&gt;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73736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página reage ao mouse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2860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:hover muda o estilo quando o mouse passa por cima: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2880360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565392" y="3008376"/>
            <a:ext cx="4654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button:hover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#e85a26;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F3FB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43159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D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Também vimos: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754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:root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(guardar as cores da marca)   • border-radius (cantos arredondados)   • </a:t>
            </a: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&lt;a&gt;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(links)   • um mapa (iframe) na página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4572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Tabela: linhas e colunas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 · REVISÃO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766560" cy="24688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Região (th)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(th)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Frete (th)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Sudeste (td)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 4 dias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R$ 19,90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 grid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24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Retirada na loja (colspan=2)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7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Grátis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98080" y="1783080"/>
            <a:ext cx="4114800" cy="713232"/>
          </a:xfrm>
          <a:prstGeom prst="roundRect">
            <a:avLst>
              <a:gd name="adj" fmla="val 11538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680960" y="17830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   </a:t>
            </a: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toda</a:t>
            </a:r>
            <a:endParaRPr lang="en-US" sz="1250" dirty="0"/>
          </a:p>
        </p:txBody>
      </p:sp>
      <p:sp>
        <p:nvSpPr>
          <p:cNvPr id="7" name="Shape 7"/>
          <p:cNvSpPr/>
          <p:nvPr/>
        </p:nvSpPr>
        <p:spPr>
          <a:xfrm>
            <a:off x="7498080" y="2606040"/>
            <a:ext cx="4114800" cy="713232"/>
          </a:xfrm>
          <a:prstGeom prst="roundRect">
            <a:avLst>
              <a:gd name="adj" fmla="val 11538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680960" y="26060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   </a:t>
            </a: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(row)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98080" y="3429000"/>
            <a:ext cx="4114800" cy="713232"/>
          </a:xfrm>
          <a:prstGeom prst="roundRect">
            <a:avLst>
              <a:gd name="adj" fmla="val 11538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7680960" y="342900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&lt;th&gt;   </a:t>
            </a: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de cabeçalho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498080" y="4251960"/>
            <a:ext cx="4114800" cy="713232"/>
          </a:xfrm>
          <a:prstGeom prst="roundRect">
            <a:avLst>
              <a:gd name="adj" fmla="val 11538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680960" y="425196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   </a:t>
            </a: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de dado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498080" y="5074920"/>
            <a:ext cx="4114800" cy="713232"/>
          </a:xfrm>
          <a:prstGeom prst="roundRect">
            <a:avLst>
              <a:gd name="adj" fmla="val 11538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7680960" y="507492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colspan   </a:t>
            </a: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colunas (mescla)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4572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confusão nº 1: classe × id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801368" y="111556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a pena decorar esta diferença — ela volta o curso inteiro.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 · REVISÃO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440680" cy="4023360"/>
          </a:xfrm>
          <a:prstGeom prst="roundRect">
            <a:avLst>
              <a:gd name="adj" fmla="val 2045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  ( . 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4983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REUTILIZÁVEL</a:t>
            </a:r>
            <a:endParaRPr lang="en-US" sz="130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pode repetir em VÁRIOS elementos.</a:t>
            </a:r>
            <a:endParaRPr lang="en-US" sz="1300" dirty="0"/>
          </a:p>
          <a:p>
            <a:pPr marL="0" indent="0" algn="l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HTML: class="destaque"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CSS:  .destaque { ... 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783080"/>
            <a:ext cx="5440680" cy="4023360"/>
          </a:xfrm>
          <a:prstGeom prst="roundRect">
            <a:avLst>
              <a:gd name="adj" fmla="val 2045"/>
            </a:avLst>
          </a:prstGeom>
          <a:solidFill>
            <a:srgbClr val="F3FB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4D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  ( # 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0" y="2560320"/>
            <a:ext cx="4983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</a:t>
            </a:r>
            <a:endParaRPr lang="en-US" sz="130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só UM por página (como o RG).</a:t>
            </a:r>
            <a:endParaRPr lang="en-US" sz="1300" dirty="0"/>
          </a:p>
          <a:p>
            <a:pPr marL="0" indent="0" algn="l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HTML: id="cadastro"</a:t>
            </a:r>
            <a:endParaRPr lang="en-US" sz="1300" dirty="0"/>
          </a:p>
          <a:p>
            <a:pPr marL="0" indent="0" algn="l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CSS:  #cadastro { ... }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serve de âncora do menu (#).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4572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Formulário: onde o usuário responde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 · REVISÃO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675120" cy="3657600"/>
          </a:xfrm>
          <a:prstGeom prst="roundRect">
            <a:avLst>
              <a:gd name="adj" fmla="val 2000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13232" y="1865376"/>
            <a:ext cx="634593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method="post"&gt;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for="nome"&gt;Nome&lt;/label&gt;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type="text" id="nome"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name="nome" required&gt;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type="submit"&gt;Enviar&lt;/button&gt;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4206240" cy="640080"/>
          </a:xfrm>
          <a:prstGeom prst="roundRect">
            <a:avLst>
              <a:gd name="adj" fmla="val 1285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589520" y="1737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&lt;form&gt;  </a:t>
            </a: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"ficha" que agrupa os campos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06640" y="2487168"/>
            <a:ext cx="4206240" cy="640080"/>
          </a:xfrm>
          <a:prstGeom prst="roundRect">
            <a:avLst>
              <a:gd name="adj" fmla="val 1285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589520" y="24871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&lt;label&gt;  </a:t>
            </a: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rótulo do campo (for = id)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3236976"/>
            <a:ext cx="4206240" cy="640080"/>
          </a:xfrm>
          <a:prstGeom prst="roundRect">
            <a:avLst>
              <a:gd name="adj" fmla="val 1285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589520" y="323697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&lt;input&gt;  </a:t>
            </a: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se digita (type muda o campo)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06640" y="3986784"/>
            <a:ext cx="4206240" cy="640080"/>
          </a:xfrm>
          <a:prstGeom prst="roundRect">
            <a:avLst>
              <a:gd name="adj" fmla="val 1285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589520" y="398678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  </a:t>
            </a: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que envia (submit)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0" y="4736592"/>
            <a:ext cx="4206240" cy="640080"/>
          </a:xfrm>
          <a:prstGeom prst="roundRect">
            <a:avLst>
              <a:gd name="adj" fmla="val 1285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589520" y="47365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  </a:t>
            </a: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 a preencher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4572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JavaScript: o primeiro contato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 · REVISÃO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alert() — a caixinha de aviso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41832" y="2459736"/>
            <a:ext cx="465429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alert("Bem-vindo!");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440680" cy="2011680"/>
          </a:xfrm>
          <a:prstGeom prst="roundRect">
            <a:avLst>
              <a:gd name="adj" fmla="val 4091"/>
            </a:avLst>
          </a:prstGeom>
          <a:solidFill>
            <a:srgbClr val="FFF3EC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4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O que mais confunde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33172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digita num campo é sempre TEXTO. Para fazer conta, converta com </a:t>
            </a:r>
            <a:r>
              <a:rPr lang="en-US" sz="12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parseInt()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13232" y="4105656"/>
            <a:ext cx="1073505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"25" + 1   -&gt;  "251"   // juntou TEXTO (errado para conta)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parseInt("25") + 1  -&gt;  26   // virou NÚMERO e somou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  = número inteiro (25)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parseFloat = número com vírgula (349.90)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685800"/>
          </a:xfrm>
          <a:prstGeom prst="roundRect">
            <a:avLst>
              <a:gd name="adj" fmla="val 16000"/>
            </a:avLst>
          </a:prstGeom>
          <a:solidFill>
            <a:srgbClr val="D64550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ATENÇÃO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4572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confusões mais comuns (e a saída)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 · REVISÃO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49808" y="2121408"/>
            <a:ext cx="411480" cy="41148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Esqueci de fechar a tag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tag que abre &lt;p&gt;, fecha &lt;/p&gt;. (menos &lt;img&gt; e &lt;input&gt;)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373368" y="2121408"/>
            <a:ext cx="411480" cy="41148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373368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49440" y="17373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× body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&lt;head&gt; = bastidores (não aparece). &lt;body&gt; = o que aparece na tela.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49808" y="3493008"/>
            <a:ext cx="411480" cy="41148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49808" y="3493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1089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× id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(.) repete; id (#) é único. Estilo repetido → classe.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10896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373368" y="3493008"/>
            <a:ext cx="411480" cy="41148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373368" y="3493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31089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imagem não aparece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no src está errado. Confira a pasta img/ e o nome exato.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48056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49808" y="4864608"/>
            <a:ext cx="411480" cy="41148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49808" y="4864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44805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Esqueci o ; no CSS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de estilo termina com ponto e vírgula.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72200" y="448056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373368" y="4864608"/>
            <a:ext cx="411480" cy="41148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373368" y="4864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9440" y="44805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"25" + 1 = "251"?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value é texto. Use parseInt() antes de somar.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4572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tags que você mais usa (HTML)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 · REVISÃO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75488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que serve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&lt;h1&gt;...&lt;h6&gt;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títulos (h1 = o maior)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&lt;p&gt;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parágrafo (texto)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&lt;a href=""&gt;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&lt;img src alt&gt;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&lt;ul&gt; / &lt;li&gt;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e item da lista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&lt;header&gt;&lt;nav&gt;&lt;main&gt;&lt;footer&gt;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 da página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&lt;section&gt; / &lt;article&gt;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 temático / item independente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&lt;table&gt;&lt;tr&gt;&lt;th&gt;&lt;td&gt;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tabela, linha, cabeçalho, dado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&lt;form&gt;&lt;label&gt;&lt;input&gt;&lt;button&gt;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 e campos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4572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propriedades de CSS mais usadas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 · REVISÃO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75488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color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 do texto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background-color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 de fundo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font-size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tamanho da letra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border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borda (espessura, tipo, cor)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padding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espaço DENTRO (entre borda e conteúdo)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margin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espaço FORA (entre um elemento e outro)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border-radius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cantos arredondados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display: flex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colocar itens lado a 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:hover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efeito ao passar o mouse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× margin: pense num quadro na parede. padding = a moldura (dentro). margin = a distância para os outros quadros (fora).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4572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tudo se encaixa no SneakZone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 · REVISÃO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31520" y="1883664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HTML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173736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Levantamos as paredes: cabeçalho, produtos, tabela, formulário, rodapé.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31520" y="2752344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31520" y="27523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Imagens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60604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Colocamos as fotos dos tênis nos cards.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31520" y="3621024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31520" y="36210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CSS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347472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Pintamos e organizamos: cores, cards, menu, hover, arredondados.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31520" y="4489704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31520" y="44897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Classes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26080" y="434340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"apelidos" para reaproveitar estilos (base do Bootstrap).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21208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31520" y="5358384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31520" y="53583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Formulário + JS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26080" y="52120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loja passou a receber dados e a reagir ao usuário.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aula foi UMA CAMADA. Nada foi jogado fora — tudo se soma no mesmo site.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AUTOTESTE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4572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rápido (responda de cabeça)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801368" y="111556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respostas estão no próximo slide. Sem colar! 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 · REVISÃO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F247768-A237-178A-E9D2-F449572432EE}"/>
              </a:ext>
            </a:extLst>
          </p:cNvPr>
          <p:cNvSpPr txBox="1"/>
          <p:nvPr/>
        </p:nvSpPr>
        <p:spPr>
          <a:xfrm>
            <a:off x="4964796" y="5658161"/>
            <a:ext cx="3606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dirty="0"/>
              <a:t>206256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5BE9FA0-B753-F922-BDBD-2CDEABAC1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365" y="1199839"/>
            <a:ext cx="4439270" cy="445832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4572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estudar sem travar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 · REVISÃO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Digite, não copie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dedo ensina. Reescrever o código fixa muito mais que colar.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16916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 de propósito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Quebre algo e conserte — entender o erro é metade do aprendizado.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77240" y="35661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coisa por vez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 (Ctrl+S) e veja (F5) a cada mudancinha. Não acumule.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400800" y="35661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31546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cola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Tenha esta revisão do lado. Ninguém decora tudo — a gente consulta.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77240" y="50292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772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cedo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Travou 10 min? Chame. Dúvida pequena vira bola de neve.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7220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400800" y="50292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008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9516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 é amigo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w3schools.com tem exemplos de tudo, prontos para testar.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961120" y="347472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já sabe mais do que pensa.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41248" y="37947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5 aulas você construiu uma loja com estrutura, estilo, tabela, formulário e o primeiro JavaScript. </a:t>
            </a:r>
            <a:r>
              <a:rPr lang="en-US" sz="1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é ser dev front-end.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Respira. Uma camada por vez. UC2 · Projeto SneakZone · SENAC-RJ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d9ea4bfe24da9323925474f8e7a5d9c2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96066f67e9ef9d03c561a9b1a7d8b26b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dexed="true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Props1.xml><?xml version="1.0" encoding="utf-8"?>
<ds:datastoreItem xmlns:ds="http://schemas.openxmlformats.org/officeDocument/2006/customXml" ds:itemID="{1ECEF4F8-06D7-4C48-88A6-5BF0E6E5BDAE}"/>
</file>

<file path=customXml/itemProps2.xml><?xml version="1.0" encoding="utf-8"?>
<ds:datastoreItem xmlns:ds="http://schemas.openxmlformats.org/officeDocument/2006/customXml" ds:itemID="{A6FBF315-FBD0-49CF-910B-7193C530A171}"/>
</file>

<file path=customXml/itemProps3.xml><?xml version="1.0" encoding="utf-8"?>
<ds:datastoreItem xmlns:ds="http://schemas.openxmlformats.org/officeDocument/2006/customXml" ds:itemID="{D7B83930-A718-4BD4-B93D-889F2C4133B2}"/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1945</Words>
  <Application>Microsoft Office PowerPoint</Application>
  <PresentationFormat>Widescreen</PresentationFormat>
  <Paragraphs>307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Revisão Geral — Aulas 1 a 5</dc:title>
  <dc:subject>PptxGenJS Presentation</dc:subject>
  <dc:creator>SENAC-RJ</dc:creator>
  <cp:lastModifiedBy>MARIO ALBERTO ARAGAO DUARTE</cp:lastModifiedBy>
  <cp:revision>3</cp:revision>
  <dcterms:created xsi:type="dcterms:W3CDTF">2026-08-29T11:21:42Z</dcterms:created>
  <dcterms:modified xsi:type="dcterms:W3CDTF">2026-08-31T22:05:39Z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2026-08-29T11:44:03Z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c132d492-8e1e-4843-96eb-908a9320d592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  <property fmtid="{D5CDD505-2E9C-101B-9397-08002B2CF9AE}" pid="10" name="ContentTypeId">
    <vt:lpwstr>0x010100CD51460BBB3BD64989C0AF0085EB7E4E</vt:lpwstr>
  </property>
</Properties>
</file>