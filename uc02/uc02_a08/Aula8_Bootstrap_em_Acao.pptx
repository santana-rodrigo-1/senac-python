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4" r:id="rId17"/>
    <p:sldId id="27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8067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778240" y="-1097280"/>
            <a:ext cx="4754880" cy="4754880"/>
          </a:xfrm>
          <a:prstGeom prst="roundRect">
            <a:avLst>
              <a:gd name="adj" fmla="val 7692"/>
            </a:avLst>
          </a:prstGeom>
          <a:solidFill>
            <a:srgbClr val="7952B3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 rot="900000">
            <a:off x="9692640" y="384048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77240" y="77724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FF6B35">
              <a:alpha val="15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777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SENAC-RJ · UC2 Front-end para Web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8</a:t>
            </a:r>
            <a:endParaRPr lang="en-US" sz="3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em Ação</a:t>
            </a:r>
            <a:endParaRPr lang="en-US" sz="3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CD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navbar · tabela · alertas · formulários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04672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SneakZone · os componentes prontos que dão vida ao site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acordo com o PTD da UC2 — Aula 8.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77240" y="1901952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177393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profissional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navbar do Bootstrap: responsiva, com "hambúrguer" no celular.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779776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777240" y="3035808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7724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290779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bonitas na hora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table, table-striped, table-hover, table-responsive.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77240" y="4169664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40416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ao usuário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alerts coloridos (sucesso, erro, atenção).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047488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772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517550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 caprichados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Estilizar o cadastro com form-control, form-select, form-check.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7, o Bootstrap organizou o layout. Hoje ele entrega COMPONENTES prontos.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é uma "peça pronta e completa": um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já vira hambúrguer no celular, uma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zebrada, um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colorido. Você só copia as classes certas.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Alguns componentes "se mexem" (o menu abre, o alerta fecha). Para isso, lembre de ligar o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do Bootstrap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 bundle, antes do &lt;/body&gt;).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86600" y="1737360"/>
            <a:ext cx="4526280" cy="4297680"/>
          </a:xfrm>
          <a:prstGeom prst="roundRect">
            <a:avLst>
              <a:gd name="adj" fmla="val 1915"/>
            </a:avLst>
          </a:prstGeom>
          <a:solidFill>
            <a:srgbClr val="F3EEFC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31520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🍔  A ideia do dia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0" y="237744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= peça pronta e completa, não só um estilo solto.</a:t>
            </a:r>
            <a:endParaRPr lang="en-US" sz="1250" dirty="0"/>
          </a:p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navbar já vem com o botão hambúrguer, o alert já vem com a cor e o "x" de fechar.</a:t>
            </a:r>
            <a:endParaRPr lang="en-US" sz="12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trabalho é escolher o componente na documentação e colar. É montar, não esculpir.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Navbar — o menu que vira hambúrguer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SneakZone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   Preços    Cadastro    Contato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no computador: tudo aberto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869680" y="2697480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006840" y="2697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SneakZone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0" y="2834640"/>
            <a:ext cx="502920" cy="320040"/>
          </a:xfrm>
          <a:prstGeom prst="roundRect">
            <a:avLst>
              <a:gd name="adj" fmla="val 11429"/>
            </a:avLst>
          </a:prstGeom>
          <a:solidFill>
            <a:srgbClr val="49505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0972800" y="2788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869680" y="3310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no celular: vira o "hambúrguer" (≡)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8138160" cy="3154680"/>
          </a:xfrm>
          <a:prstGeom prst="roundRect">
            <a:avLst>
              <a:gd name="adj" fmla="val 2319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13232" y="2916936"/>
            <a:ext cx="7808976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 class="navbar navbar-expand-lg navbar-dark bg-dark"&gt;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class="container"&gt;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class="navbar-brand" href="#"&gt;SneakZone&lt;/a&gt;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class="navbar-toggler"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data-bs-toggle="collapse" data-bs-target="#menu"&gt;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&lt;span class="navbar-toggler-icon"&gt;&lt;/span&gt;&lt;/button&gt;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class="collapse navbar-collapse" id="menu"&gt;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&lt;ul class="navbar-nav"&gt; ... &lt;li class="nav-item"&gt;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&lt;a class="nav-link" href="#"&gt;Produtos&lt;/a&gt; ...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&lt;/nav&gt;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69680" y="3749040"/>
            <a:ext cx="2743200" cy="2194560"/>
          </a:xfrm>
          <a:prstGeom prst="roundRect">
            <a:avLst>
              <a:gd name="adj" fmla="val 3750"/>
            </a:avLst>
          </a:prstGeom>
          <a:solidFill>
            <a:srgbClr val="FFFBE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052560" y="388620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8A6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navbar-expand-lg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abaixo de lg (tela grande), o menu vira hambúrguer. O data-bs-toggle liga o JS que abre/fecha.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— tabela bonita com uma classe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Pegue sua tabela da Aula 4 e adicione a classe table. Some table-striped (zebra) e table-hover (destaca a linha do mouse).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2459736"/>
            <a:ext cx="51572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class="table-responsive"&gt;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&lt;table class="table table-striped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table-hover"&gt; ...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331720"/>
            <a:ext cx="5486400" cy="786384"/>
          </a:xfrm>
          <a:prstGeom prst="roundRect">
            <a:avLst>
              <a:gd name="adj" fmla="val 10465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355080" y="2331720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(bordas e espaçamento)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3246120"/>
            <a:ext cx="5486400" cy="786384"/>
          </a:xfrm>
          <a:prstGeom prst="roundRect">
            <a:avLst>
              <a:gd name="adj" fmla="val 10465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355080" y="3246120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table-striped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zebradas automáticas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4160520"/>
            <a:ext cx="5486400" cy="786384"/>
          </a:xfrm>
          <a:prstGeom prst="roundRect">
            <a:avLst>
              <a:gd name="adj" fmla="val 10465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355080" y="4160520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table-hover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realça a linha sob o mouse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5074920"/>
            <a:ext cx="5486400" cy="786384"/>
          </a:xfrm>
          <a:prstGeom prst="roundRect">
            <a:avLst>
              <a:gd name="adj" fmla="val 10465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355080" y="5074920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table-responsive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rola na horizontal no celular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— avisos coloridos para o usuário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avisar "deu certo", "deu erro" ou "atenção"? Use a classe alert com a cor certa.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7863840" cy="685800"/>
          </a:xfrm>
          <a:prstGeom prst="roundRect">
            <a:avLst>
              <a:gd name="adj" fmla="val 8000"/>
            </a:avLst>
          </a:prstGeom>
          <a:solidFill>
            <a:srgbClr val="D1E7D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Cadastro realizado com sucesso!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0" y="22402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6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.alert-success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7863840" cy="685800"/>
          </a:xfrm>
          <a:prstGeom prst="roundRect">
            <a:avLst>
              <a:gd name="adj" fmla="val 8000"/>
            </a:avLst>
          </a:prstGeom>
          <a:solidFill>
            <a:srgbClr val="F8D7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310896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4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E-mail inválido. Tente novamente.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95360" y="31089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6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.alert-danger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7863840" cy="685800"/>
          </a:xfrm>
          <a:prstGeom prst="roundRect">
            <a:avLst>
              <a:gd name="adj" fmla="val 8000"/>
            </a:avLst>
          </a:prstGeom>
          <a:solidFill>
            <a:srgbClr val="FFF3C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397764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4D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Estoque acabando: últimas unidades!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0" y="3977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6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.alert-warning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13232" y="5157216"/>
            <a:ext cx="10735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class="alert alert-success" role="alert"&gt;Cadastro realizado!&lt;/div&gt;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— o cadastro fica caprichado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campos da Aula 5-6 continuam iguais. Só ganham classes: form-label, form-control, form-select, form-check.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6949440" cy="3200400"/>
          </a:xfrm>
          <a:prstGeom prst="roundRect">
            <a:avLst>
              <a:gd name="adj" fmla="val 2286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2459736"/>
            <a:ext cx="6620256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class="mb-3"&gt;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class="form-label"&gt;Nome&lt;/label&gt;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class="form-control"&gt;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 class="form-select"&gt; ... &lt;/select&gt;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class="form-check"&gt;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class="form-check-input" type="checkbox"&gt;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class="form-check-label"&gt;Aceito&lt;/label&gt;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2331720"/>
            <a:ext cx="3931920" cy="54864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863840" y="2331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form-label  </a:t>
            </a: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rótulo do campo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680960" y="2990088"/>
            <a:ext cx="3931920" cy="54864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863840" y="29900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form-control  </a:t>
            </a: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textarea (largura total)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80960" y="3648456"/>
            <a:ext cx="3931920" cy="54864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863840" y="364845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form-select  </a:t>
            </a: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menu suspenso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80960" y="4306824"/>
            <a:ext cx="3931920" cy="54864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863840" y="430682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form-check  </a:t>
            </a: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e checkbox alinhados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80960" y="4965192"/>
            <a:ext cx="3931920" cy="54864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863840" y="49651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mb-3  </a:t>
            </a: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embaixo (margin-bottom)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Demonstração: tudo junto no SneakZone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🍔 Navbar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7830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menu do topo vira a navbar responsiva.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28346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de fretes ganha table table-striped.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31520" y="4069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Alert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38862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alerta de "Frete grátis!" no topo da página.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31520" y="51206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31520" y="5120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Form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17520" y="49377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de cadastro estilizada com form-control.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peça é um componente pronto — você copia da documentação e ajusta o texto. Salve e veja a loja "virar" um site profissional.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7952B3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Toque de brilho (desafio extra)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visuais que impressionam — explore com autonomia.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🔄 Spinner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"rodinha" de carregando.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92608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41832" y="3054096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class="spinner-border"&gt;&lt;/div&gt;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78308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Progress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2468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progresso (ex.: 70%).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292608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565392" y="3054096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class="progress"&gt;...&lt;/div&gt;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3977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🔔 Toast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" y="4480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 discreta no canto.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493776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941832" y="5065776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class="toast"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379476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400800" y="3977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952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💬 Tooltip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00800" y="4480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que aparece ao passar o mouse.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0" y="493776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565392" y="5065776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data-bs-toggle="tooltip"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esses componentes aparecem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498848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você já viu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🍔 Navbar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menu do topo de PRATICAMENTE todo 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📊 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Painéis admin, extratos, listas de pedidos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🔔 Alert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"Compra aprovada", "senha incorreta", avisos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📝 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cadastro, checkout, contato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Spinner/Progress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Enquanto algo carrega ou envia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isso aparece no mercado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painel/admin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+ table + form é a espinha dorsal de qualquer sistema interno.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92240" y="1737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responsivo é obrigatório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navbar entrega o menu hambúrguer que todo site precisa no celular.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68680" y="2971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ao usuário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e toasts avisam o que aconteceu — reduz dúvida e suporte.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297180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92240" y="2971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de entrega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prontos = telas montadas em horas, não dias.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68680" y="4206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 visual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componentes combinam entre si — o site fica coeso.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Dicas profissionais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Ligue o JS do Bootstrap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Navbar, alert dismissível e tooltip só "se mexem" com o bundle.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400800" y="21031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16916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da documentação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getbootstrap.com &gt; Components: exemplos prontos de tudo.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77240" y="35661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navbar-expand-lg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ponto em que o menu vira hambúrguer (sm, md, lg).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400800" y="35661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31546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table-responsive sempre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Envolva a tabela nele para ela não estourar no celular.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77240" y="50292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772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= significado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(verde), danger (vermelho), warning (amarelo). Seja coerente.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72200" y="46177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400800" y="50292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008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9516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reescreva por cima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ajustar com utilitários (m-2, text-center) a criar CSS novo.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Curiosidades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49808" y="1792224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49808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ícone do hambúrguer (≡) existe desde 1981 — foi criado para o computador Xerox Star.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42032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49808" y="2688336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49808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542032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"data-bs-toggle" é a ponte entre o HTML e o JavaScript do Bootstrap — o bs é de Bootstrap.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38144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49808" y="358444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4980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438144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toasts têm esse nome porque "pulam" na tela como uma torrada na torradeira.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334256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49808" y="44805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49808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334256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Bootstrap tem mais de 25 componentes prontos — do navbar ao carrossel.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230368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49808" y="53766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49808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5230368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role="alert" ajuda leitores de tela a anunciar o aviso na hora — acessibilidade embutida.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Comparações: na mão × Bootstrap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8006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muda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Menu na mão × navbar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mão você faria o hambúrguer com CSS+JS. A navbar já vem pronta e responsiva.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nth-child × table-striped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Zebra na mão = tr:nth-child(even). No Bootstrap = só a classe table-striped.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div de aviso × alert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div você estiliza sozinho; alert já vem com cor, borda e (opcional) botão de fechar.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form na mão × form-control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form-control padroniza largura, borda e foco de todos os campos de uma vez.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= peça pronta e completa (não só um estilo solto).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navbar: menu responsivo; vira hambúrguer com navbar-expand-*.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+ table-striped + table-hover + table-responsive.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alert-success/danger/warning: avisos coloridos.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form-label, form-control, form-select, form-check: formulário caprichado.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que "se mexem" precisam do JS (bundle) ligado.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49440" y="1783080"/>
            <a:ext cx="4663440" cy="4160520"/>
          </a:xfrm>
          <a:prstGeom prst="roundRect">
            <a:avLst>
              <a:gd name="adj" fmla="val 1758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14032" y="1911096"/>
            <a:ext cx="4334256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COMPONENTES (Aula 8)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|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+-------+-------+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navbar        alert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        form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         |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copiar a       ligar o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         JS (bundle)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|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site com cara de app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766560" cy="246888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9 — O grand finale ✨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6309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componentes mais "uau" do Bootstrap: </a:t>
            </a: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carousel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(banner que passa sozinho), </a:t>
            </a: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(janela de confirmação) e </a:t>
            </a: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accordion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(perguntas que abrem/fecham). Depois: apresentação final!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6766560" cy="1508760"/>
          </a:xfrm>
          <a:prstGeom prst="roundRect">
            <a:avLst>
              <a:gd name="adj" fmla="val 5455"/>
            </a:avLst>
          </a:prstGeom>
          <a:solidFill>
            <a:srgbClr val="FFFBE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45720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📌 Lição de casa (PTD)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956048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Pesquise no getbootstrap.com como funcionam o carousel, o modal e o accordion — vamos usá-los na próxima aula.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83080"/>
            <a:ext cx="4023360" cy="4160520"/>
          </a:xfrm>
          <a:prstGeom prst="roundRect">
            <a:avLst>
              <a:gd name="adj" fmla="val 2727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81812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🎟️  Ticket de saída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18120" y="2487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minutos, por escrito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18120" y="29260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"Cite um componente que você usou hoje e explique por que ele precisa (ou não) do JavaScript do Bootstrap."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18120" y="4983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Termômetro de quem separou estrutura de comportamento.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961120" y="3474720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7952B3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site virou um app.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35204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responsivo, tabela, alertas e formulário profissional — tudo com </a:t>
            </a:r>
            <a:r>
              <a:rPr lang="en-US" sz="1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prontos</a:t>
            </a:r>
            <a:r>
              <a:rPr lang="en-US" sz="17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Na Aula 9, o grand finale: carousel, modal e accordion.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Desenvolver Aplicações Front-end para Web · Projeto SneakZone · SENAC-RJ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d9ea4bfe24da9323925474f8e7a5d9c2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96066f67e9ef9d03c561a9b1a7d8b26b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dexed="true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Props1.xml><?xml version="1.0" encoding="utf-8"?>
<ds:datastoreItem xmlns:ds="http://schemas.openxmlformats.org/officeDocument/2006/customXml" ds:itemID="{C361BE5D-7FA0-4270-9EF7-69698730D1DE}"/>
</file>

<file path=customXml/itemProps2.xml><?xml version="1.0" encoding="utf-8"?>
<ds:datastoreItem xmlns:ds="http://schemas.openxmlformats.org/officeDocument/2006/customXml" ds:itemID="{8363872E-2363-4DD4-8F43-02461E1AB4C9}"/>
</file>

<file path=customXml/itemProps3.xml><?xml version="1.0" encoding="utf-8"?>
<ds:datastoreItem xmlns:ds="http://schemas.openxmlformats.org/officeDocument/2006/customXml" ds:itemID="{BB9D5A24-24FD-468E-BB28-CE34D557116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1744</Words>
  <Application>Microsoft Office PowerPoint</Application>
  <PresentationFormat>Widescreen</PresentationFormat>
  <Paragraphs>263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8 — Bootstrap em Ação</dc:title>
  <dc:subject>PptxGenJS Presentation</dc:subject>
  <dc:creator>SENAC-RJ</dc:creator>
  <cp:lastModifiedBy>Mario Alberto Aragao Duarte</cp:lastModifiedBy>
  <cp:revision>2</cp:revision>
  <dcterms:created xsi:type="dcterms:W3CDTF">2026-09-02T19:25:10Z</dcterms:created>
  <dcterms:modified xsi:type="dcterms:W3CDTF">2026-09-02T19:27:38Z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2026-09-02T19:27:38Z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3fbe90f4-3631-4177-bed9-baa5b0962497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  <property fmtid="{D5CDD505-2E9C-101B-9397-08002B2CF9AE}" pid="10" name="ContentTypeId">
    <vt:lpwstr>0x010100CD51460BBB3BD64989C0AF0085EB7E4E</vt:lpwstr>
  </property>
</Properties>
</file>