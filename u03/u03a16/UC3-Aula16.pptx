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8127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194560"/>
            <a:ext cx="1463040" cy="128016"/>
          </a:xfrm>
          <a:prstGeom prst="rect">
            <a:avLst/>
          </a:prstGeom>
          <a:solidFill>
            <a:srgbClr val="00A8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0A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PROGRAMAÇÃO EM PYTHON · SENAC-RJ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2468880"/>
            <a:ext cx="10881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16 — Pedidos: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Finalização e Histórico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4526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EBE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Back-end com Python  ·  Projeto SneakZone  ·  4h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50749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F2A0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conceitos de hoje — o carrinho vira um pedido de verdade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você vai entender hoje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🧭 objetivos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1097280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o carrinho (na sessão) vira um pedido salvo no banco.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finalizar a compra com segurança (login, estoque e transação).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E8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o cliente vê 'Meus pedidos', os detalhes e o status.</a:t>
            </a:r>
            <a:r>
              <a:rPr lang="en-US" sz="1700" i="1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 em ENTENDER — o código escrevemos juntos, ao vivo.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16 — Pedidos: Finalização &amp; Histórico · SneakZone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Revisão — o que falta no carrinho?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gancho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1097280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Aula 15, o carrinho ficou guardado na SESSÃO do navegador.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E8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🗣️  Se a sessão expira ou o usuário troca de computador, o que acontece com a compra?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00A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Some. Por isso a compra finalizada precisa virar um PEDIDO permanente no banco.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16 — Pedidos: Finalização &amp; Histórico · SneakZone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Carrinho × Pedido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⚖️ conceito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972800" cy="91440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Carrinho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Pedido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8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329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Onde vive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329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sessão (temporário)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329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banco de dados (permanente)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329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Quando existe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329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enquanto o usuário navega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329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depois de finalizar a compra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329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 quê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329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montar a compra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329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registrar e acompanhar a compra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Hoje damos o passo que faltava: transformar o carrinho num registro de verdade.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57200" y="644652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16 — Pedidos: Finalização &amp; Histórico · SneakZone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88920"/>
            <a:ext cx="1280160" cy="109728"/>
          </a:xfrm>
          <a:prstGeom prst="rect">
            <a:avLst/>
          </a:prstGeom>
          <a:solidFill>
            <a:srgbClr val="00A8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148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0A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BLOCO 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11247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Modelar o pedido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45262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EBE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Duas tabelas que trabalham juntas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capa da compra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🧾 conceito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10972800" cy="685800"/>
          </a:xfrm>
          <a:prstGeom prst="roundRect">
            <a:avLst>
              <a:gd name="adj" fmla="val 8000"/>
            </a:avLst>
          </a:prstGeom>
          <a:solidFill>
            <a:srgbClr val="E8EEF5"/>
          </a:solidFill>
          <a:ln w="12700">
            <a:solidFill>
              <a:srgbClr val="CBD6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868680" y="146304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88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 (Model)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40080" y="2423160"/>
            <a:ext cx="109728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4000"/>
              </a:lnSpc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Guarda os dados gerais da compra: quem comprou (usuário), quando, o total e o status.</a:t>
            </a:r>
            <a:endParaRPr lang="en-US" sz="1900" dirty="0"/>
          </a:p>
          <a:p>
            <a:pPr marL="342900" indent="-342900">
              <a:lnSpc>
                <a:spcPct val="114000"/>
              </a:lnSpc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00A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o 'cabeçalho' do pedido — um por compra finalizada.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16 — Pedidos: Finalização &amp; Histórico · SneakZone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pedido tem um ciclo de vida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🔖 conceito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10972800" cy="685800"/>
          </a:xfrm>
          <a:prstGeom prst="roundRect">
            <a:avLst>
              <a:gd name="adj" fmla="val 8000"/>
            </a:avLst>
          </a:prstGeom>
          <a:solidFill>
            <a:srgbClr val="E8EEF5"/>
          </a:solidFill>
          <a:ln w="12700">
            <a:solidFill>
              <a:srgbClr val="CBD6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868680" y="146304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88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 (choices)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40080" y="2423160"/>
            <a:ext cx="109728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4000"/>
              </a:lnSpc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Pendente → Pago → Enviado → Concluído (ou Cancelado).</a:t>
            </a:r>
            <a:endParaRPr lang="en-US" sz="1900" dirty="0"/>
          </a:p>
          <a:p>
            <a:pPr marL="342900" indent="-342900">
              <a:lnSpc>
                <a:spcPct val="114000"/>
              </a:lnSpc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choices limita o status a uma lista fixa — nada de texto livre.</a:t>
            </a:r>
            <a:endParaRPr lang="en-US" sz="1900" dirty="0"/>
          </a:p>
          <a:p>
            <a:pPr marL="342900" indent="-342900">
              <a:lnSpc>
                <a:spcPct val="114000"/>
              </a:lnSpc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00A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gestor muda o status conforme a compra avança.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16 — Pedidos: Finalização &amp; Histórico · SneakZone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linhas da compra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conceito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10972800" cy="685800"/>
          </a:xfrm>
          <a:prstGeom prst="roundRect">
            <a:avLst>
              <a:gd name="adj" fmla="val 8000"/>
            </a:avLst>
          </a:prstGeom>
          <a:solidFill>
            <a:srgbClr val="E8EEF5"/>
          </a:solidFill>
          <a:ln w="12700">
            <a:solidFill>
              <a:srgbClr val="CBD6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868680" y="146304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88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ItemPedido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40080" y="2423160"/>
            <a:ext cx="109728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4000"/>
              </a:lnSpc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produto comprado vira um item: qual produto, a quantidade e o preço unitário.</a:t>
            </a:r>
            <a:endParaRPr lang="en-US" sz="1900" dirty="0"/>
          </a:p>
          <a:p>
            <a:pPr marL="342900" indent="-342900">
              <a:lnSpc>
                <a:spcPct val="114000"/>
              </a:lnSpc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00A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pedido de 3 produtos diferentes tem 3 itens.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16 — Pedidos: Finalização &amp; Histórico · SneakZone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Guardar o preço do momento da compra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conceito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10972800" cy="685800"/>
          </a:xfrm>
          <a:prstGeom prst="roundRect">
            <a:avLst>
              <a:gd name="adj" fmla="val 8000"/>
            </a:avLst>
          </a:prstGeom>
          <a:solidFill>
            <a:srgbClr val="E8EEF5"/>
          </a:solidFill>
          <a:ln w="12700">
            <a:solidFill>
              <a:srgbClr val="CBD6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868680" y="146304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88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preço unitário (histórico)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40080" y="2423160"/>
            <a:ext cx="109728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4000"/>
              </a:lnSpc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item salva o preço que o produto tinha QUANDO foi comprado.</a:t>
            </a:r>
            <a:endParaRPr lang="en-US" sz="1900" dirty="0"/>
          </a:p>
          <a:p>
            <a:pPr marL="342900" indent="-342900">
              <a:lnSpc>
                <a:spcPct val="114000"/>
              </a:lnSpc>
              <a:spcAft>
                <a:spcPts val="900"/>
              </a:spcAft>
              <a:buSzPct val="100000"/>
              <a:buChar char="•"/>
            </a:pPr>
            <a:r>
              <a:rPr lang="en-US" sz="1900" b="1" dirty="0">
                <a:solidFill>
                  <a:srgbClr val="F2A0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🗣️  Se amanhã o produto aumentar, o pedido antigo continua com o preço certo.</a:t>
            </a:r>
            <a:endParaRPr lang="en-US" sz="1900" dirty="0"/>
          </a:p>
          <a:p>
            <a:pPr marL="342900" indent="-342900">
              <a:lnSpc>
                <a:spcPct val="114000"/>
              </a:lnSpc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00A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assim que notas e recibos funcionam na vida real.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16 — Pedidos: Finalização &amp; Histórico · SneakZone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pedido, vários itens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10972800" cy="3657600"/>
          </a:xfrm>
          <a:prstGeom prst="roundRect">
            <a:avLst>
              <a:gd name="adj" fmla="val 2500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640080" y="5276088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ForeignKey liga cada item ao seu pedido: um Pedido tem vários ItemPedido.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16 — Pedidos: Finalização &amp; Histórico · SneakZone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FE3707B6-11A1-C7B8-274B-C4480EF794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400" y="1399033"/>
            <a:ext cx="9623976" cy="379272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Calcular sem guardar conta pronta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🧮 conceito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10972800" cy="685800"/>
          </a:xfrm>
          <a:prstGeom prst="roundRect">
            <a:avLst>
              <a:gd name="adj" fmla="val 8000"/>
            </a:avLst>
          </a:prstGeom>
          <a:solidFill>
            <a:srgbClr val="E8EEF5"/>
          </a:solidFill>
          <a:ln w="12700">
            <a:solidFill>
              <a:srgbClr val="CBD6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868680" y="146304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88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@property (subtotal)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40080" y="2423160"/>
            <a:ext cx="109728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4000"/>
              </a:lnSpc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subtotal de um item = quantidade × preço unitário.</a:t>
            </a:r>
            <a:endParaRPr lang="en-US" sz="1900" dirty="0"/>
          </a:p>
          <a:p>
            <a:pPr marL="342900" indent="-342900">
              <a:lnSpc>
                <a:spcPct val="114000"/>
              </a:lnSpc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00A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@property, ele é calculado na hora, como se fosse um atributo do item.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16 — Pedidos: Finalização &amp; Histórico · SneakZone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Criar as tabelas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🏗️ migrations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1097280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novo → makemigrations → migrate: o Django cria as tabelas pedido e itempedido.</a:t>
            </a:r>
            <a:r>
              <a:rPr lang="en-US" sz="1800" i="1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o mesmo ritual da Aula 12 — desenhar a planta e construir.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16 — Pedidos: Finalização &amp; Histórico · SneakZone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gestor acompanha os pedidos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conceito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10972800" cy="685800"/>
          </a:xfrm>
          <a:prstGeom prst="roundRect">
            <a:avLst>
              <a:gd name="adj" fmla="val 8000"/>
            </a:avLst>
          </a:prstGeom>
          <a:solidFill>
            <a:srgbClr val="E8EEF5"/>
          </a:solidFill>
          <a:ln w="12700">
            <a:solidFill>
              <a:srgbClr val="CBD6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868680" y="146304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88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PedidoAdmin + Inline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40080" y="2423160"/>
            <a:ext cx="109728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4000"/>
              </a:lnSpc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Admin, a lista mostra número, usuário, data, total e status.</a:t>
            </a:r>
            <a:endParaRPr lang="en-US" sz="1900" dirty="0"/>
          </a:p>
          <a:p>
            <a:pPr marL="342900" indent="-342900">
              <a:lnSpc>
                <a:spcPct val="114000"/>
              </a:lnSpc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Inline mostra os itens DENTRO do pedido, na mesma tela.</a:t>
            </a:r>
            <a:endParaRPr lang="en-US" sz="1900" dirty="0"/>
          </a:p>
          <a:p>
            <a:pPr marL="342900" indent="-342900">
              <a:lnSpc>
                <a:spcPct val="114000"/>
              </a:lnSpc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00A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o gestor muda o status (Pendente → Enviado...) por ali mesmo.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16 — Pedidos: Finalização &amp; Histórico · SneakZone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88920"/>
            <a:ext cx="1280160" cy="109728"/>
          </a:xfrm>
          <a:prstGeom prst="rect">
            <a:avLst/>
          </a:prstGeom>
          <a:solidFill>
            <a:srgbClr val="00A8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148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0A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BLOCO 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11247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Finalizar a compra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45262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EBE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parte mais importante da aula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fluxo da finalização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10972800" cy="3657600"/>
          </a:xfrm>
          <a:prstGeom prst="roundRect">
            <a:avLst>
              <a:gd name="adj" fmla="val 2500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640080" y="5276088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Sete passos que acontecem em sequência — e com segurança.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16 — Pedidos: Finalização &amp; Histórico · SneakZone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2E4A4E3E-D211-2F51-FB36-278117BB7F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6040" y="1612730"/>
            <a:ext cx="9580880" cy="319362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Só quem deve, e só do jeito certo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 conceito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10972800" cy="685800"/>
          </a:xfrm>
          <a:prstGeom prst="roundRect">
            <a:avLst>
              <a:gd name="adj" fmla="val 8000"/>
            </a:avLst>
          </a:prstGeom>
          <a:solidFill>
            <a:srgbClr val="E8EEF5"/>
          </a:solidFill>
          <a:ln w="12700">
            <a:solidFill>
              <a:srgbClr val="CBD6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868680" y="146304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88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@login_required + @require_POST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40080" y="2423160"/>
            <a:ext cx="109728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4000"/>
              </a:lnSpc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@login_required: o pedido precisa de um dono — exige estar logado.</a:t>
            </a:r>
            <a:endParaRPr lang="en-US" sz="1900" dirty="0"/>
          </a:p>
          <a:p>
            <a:pPr marL="342900" indent="-342900">
              <a:lnSpc>
                <a:spcPct val="114000"/>
              </a:lnSpc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00A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@require_POST: finalizar só por POST (um clique no botão), nunca por um link GET.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16 — Pedidos: Finalização &amp; Histórico · SneakZone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Tudo ou nada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conceito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10972800" cy="685800"/>
          </a:xfrm>
          <a:prstGeom prst="roundRect">
            <a:avLst>
              <a:gd name="adj" fmla="val 8000"/>
            </a:avLst>
          </a:prstGeom>
          <a:solidFill>
            <a:srgbClr val="E8EEF5"/>
          </a:solidFill>
          <a:ln w="12700">
            <a:solidFill>
              <a:srgbClr val="CBD6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868680" y="146304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88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transaction.atomic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40080" y="2423160"/>
            <a:ext cx="109728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4000"/>
              </a:lnSpc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Salvar o pedido, os itens e baixar o estoque é UMA operação só.</a:t>
            </a:r>
            <a:endParaRPr lang="en-US" sz="1900" dirty="0"/>
          </a:p>
          <a:p>
            <a:pPr marL="342900" indent="-342900">
              <a:lnSpc>
                <a:spcPct val="114000"/>
              </a:lnSpc>
              <a:spcAft>
                <a:spcPts val="900"/>
              </a:spcAft>
              <a:buSzPct val="100000"/>
              <a:buChar char="•"/>
            </a:pPr>
            <a:r>
              <a:rPr lang="en-US" sz="1900" b="1" dirty="0">
                <a:solidFill>
                  <a:srgbClr val="F2A0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qualquer passo falhar no meio, o Django desfaz tudo — não fica pedido pela metade.</a:t>
            </a:r>
            <a:endParaRPr lang="en-US" sz="1900" dirty="0"/>
          </a:p>
          <a:p>
            <a:pPr marL="342900" indent="-342900">
              <a:lnSpc>
                <a:spcPct val="114000"/>
              </a:lnSpc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00A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Consistência: ou a compra inteira acontece, ou nada acontece.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16 — Pedidos: Finalização &amp; Histórico · SneakZone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Evitar vender o mesmo par duas vezes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🔁 conceito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10972800" cy="685800"/>
          </a:xfrm>
          <a:prstGeom prst="roundRect">
            <a:avLst>
              <a:gd name="adj" fmla="val 8000"/>
            </a:avLst>
          </a:prstGeom>
          <a:solidFill>
            <a:srgbClr val="E8EEF5"/>
          </a:solidFill>
          <a:ln w="12700">
            <a:solidFill>
              <a:srgbClr val="CBD6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868680" y="146304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88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select_for_update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40080" y="2423160"/>
            <a:ext cx="109728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4000"/>
              </a:lnSpc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Durante a conferência, 'trava' o produto para outra compra não mexer no estoque ao mesmo tempo.</a:t>
            </a:r>
            <a:endParaRPr lang="en-US" sz="1900" dirty="0"/>
          </a:p>
          <a:p>
            <a:pPr marL="342900" indent="-342900">
              <a:lnSpc>
                <a:spcPct val="114000"/>
              </a:lnSpc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00A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Protege contra duas pessoas comprando a última unidade no mesmo instante.</a:t>
            </a:r>
            <a:endParaRPr lang="en-US" sz="1900" dirty="0"/>
          </a:p>
          <a:p>
            <a:pPr marL="342900" indent="-342900">
              <a:lnSpc>
                <a:spcPct val="114000"/>
              </a:lnSpc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 do banco de dados oferecer esse recurso — é um conceito de concorrência.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16 — Pedidos: Finalização &amp; Histórico · SneakZone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Conferir, salvar e limpar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finalização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1097280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Confere cada item: quantidade válida e dentro do estoque (senão, avisa e volta).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Salva o Pedido e os Itens; baixa o estoque dos produtos comprados.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00A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Esvazia o carrinho da sessão e leva o usuário à tela de sucesso.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16 — Pedidos: Finalização &amp; Histórico · SneakZone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botão vira um envio seguro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🧾 conceito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10972800" cy="685800"/>
          </a:xfrm>
          <a:prstGeom prst="roundRect">
            <a:avLst>
              <a:gd name="adj" fmla="val 8000"/>
            </a:avLst>
          </a:prstGeom>
          <a:solidFill>
            <a:srgbClr val="E8EEF5"/>
          </a:solidFill>
          <a:ln w="12700">
            <a:solidFill>
              <a:srgbClr val="CBD6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868680" y="146304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88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 POST + csrf_token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40080" y="2423160"/>
            <a:ext cx="109728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4000"/>
              </a:lnSpc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'Finalizar compra' deixa de ser um link e vira um formulário POST.</a:t>
            </a:r>
            <a:endParaRPr lang="en-US" sz="1900" dirty="0"/>
          </a:p>
          <a:p>
            <a:pPr marL="342900" indent="-342900">
              <a:lnSpc>
                <a:spcPct val="114000"/>
              </a:lnSpc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00A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csrf_token protege o envio; o botão fica desabilitado se o carrinho estiver vazio.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16 — Pedidos: Finalização &amp; Histórico · SneakZone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88920"/>
            <a:ext cx="1280160" cy="109728"/>
          </a:xfrm>
          <a:prstGeom prst="rect">
            <a:avLst/>
          </a:prstGeom>
          <a:solidFill>
            <a:srgbClr val="00A8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148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0A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BLOCO 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11247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Histórico &amp; detalhes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45262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EBE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cliente acompanha suas compras</a:t>
            </a:r>
            <a:endParaRPr lang="en-US"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lista do cliente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📜 conceito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10972800" cy="685800"/>
          </a:xfrm>
          <a:prstGeom prst="roundRect">
            <a:avLst>
              <a:gd name="adj" fmla="val 8000"/>
            </a:avLst>
          </a:prstGeom>
          <a:solidFill>
            <a:srgbClr val="E8EEF5"/>
          </a:solidFill>
          <a:ln w="12700">
            <a:solidFill>
              <a:srgbClr val="CBD6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868680" y="146304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88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Meus pedidos — filter(usuario=request.user)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40080" y="2423160"/>
            <a:ext cx="109728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4000"/>
              </a:lnSpc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Mostra só os pedidos DAQUELE usuário, do mais recente para o mais antigo.</a:t>
            </a:r>
            <a:endParaRPr lang="en-US" sz="1900" dirty="0"/>
          </a:p>
          <a:p>
            <a:pPr marL="342900" indent="-342900">
              <a:lnSpc>
                <a:spcPct val="114000"/>
              </a:lnSpc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00A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Número, data, total e status — com um link para ver os detalhes.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16 — Pedidos: Finalização &amp; Histórico · SneakZone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um só vê o que é seu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conceito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10972800" cy="685800"/>
          </a:xfrm>
          <a:prstGeom prst="roundRect">
            <a:avLst>
              <a:gd name="adj" fmla="val 8000"/>
            </a:avLst>
          </a:prstGeom>
          <a:solidFill>
            <a:srgbClr val="E8EEF5"/>
          </a:solidFill>
          <a:ln w="12700">
            <a:solidFill>
              <a:srgbClr val="CBD6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868680" y="146304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88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usuario = request.user (segurança)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40080" y="2423160"/>
            <a:ext cx="109728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4000"/>
              </a:lnSpc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busca do pedido exige que ele seja do usuário logado.</a:t>
            </a:r>
            <a:endParaRPr lang="en-US" sz="1900" dirty="0"/>
          </a:p>
          <a:p>
            <a:pPr marL="342900" indent="-342900">
              <a:lnSpc>
                <a:spcPct val="114000"/>
              </a:lnSpc>
              <a:spcAft>
                <a:spcPts val="900"/>
              </a:spcAft>
              <a:buSzPct val="100000"/>
              <a:buChar char="•"/>
            </a:pPr>
            <a:r>
              <a:rPr lang="en-US" sz="1900" b="1" dirty="0">
                <a:solidFill>
                  <a:srgbClr val="F2A0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🗣️  Mesmo trocando o número na URL (/pedido/99/), ninguém vê o pedido de outra pessoa.</a:t>
            </a:r>
            <a:endParaRPr lang="en-US" sz="1900" dirty="0"/>
          </a:p>
          <a:p>
            <a:pPr marL="342900" indent="-342900">
              <a:lnSpc>
                <a:spcPct val="114000"/>
              </a:lnSpc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00A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regra está no servidor — não adianta 'chutar' o endereço.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16 — Pedidos: Finalização &amp; Histórico · SneakZone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Buscar os itens de forma eficiente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conceito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10972800" cy="685800"/>
          </a:xfrm>
          <a:prstGeom prst="roundRect">
            <a:avLst>
              <a:gd name="adj" fmla="val 8000"/>
            </a:avLst>
          </a:prstGeom>
          <a:solidFill>
            <a:srgbClr val="E8EEF5"/>
          </a:solidFill>
          <a:ln w="12700">
            <a:solidFill>
              <a:srgbClr val="CBD6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868680" y="146304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88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prefetch_related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40080" y="2423160"/>
            <a:ext cx="109728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4000"/>
              </a:lnSpc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mostrar um pedido com seus itens, traz tudo em poucas consultas ao banco.</a:t>
            </a:r>
            <a:endParaRPr lang="en-US" sz="1900" dirty="0"/>
          </a:p>
          <a:p>
            <a:pPr marL="342900" indent="-342900">
              <a:lnSpc>
                <a:spcPct val="114000"/>
              </a:lnSpc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rgbClr val="00A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Evita o problema de fazer uma consulta por item (lento quando há muitos).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16 — Pedidos: Finalização &amp; Histórico · SneakZone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telas do pedido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🖥️ telas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1097280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Sucesso: número, data, total e status — 'Pedido realizado com sucesso!'.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Detalhes: cada item (produto, quantidade, preço unitário, subtotal) e o total.</a:t>
            </a:r>
            <a:r>
              <a:rPr lang="en-US" sz="1700" i="1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get_status_display mostra o status bonitinho ('Pendente' em vez do código).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16 — Pedidos: Finalização &amp; Histórico · SneakZone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Acabamentos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ajustes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1097280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'Meus pedidos' entra no menu (para quem está logado).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carrinho passa a respeitar o estoque: não deixa adicionar além do disponível.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00A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mensagens (messages) aparecem no topo em todas as páginas — sucesso, aviso, erro.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16 — Pedidos: Finalização &amp; Histórico · SneakZone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88920"/>
            <a:ext cx="1280160" cy="109728"/>
          </a:xfrm>
          <a:prstGeom prst="rect">
            <a:avLst/>
          </a:prstGeom>
          <a:solidFill>
            <a:srgbClr val="00A8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148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0A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BLOCO 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11247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 &amp; fecho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45262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EBE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jornada completa, de ponta a ponta</a:t>
            </a:r>
            <a:endParaRPr lang="en-US" sz="2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 de ponta a ponta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teste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1097280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Adicionar ao carrinho · tentar passar do estoque · finalizar sem login (vai ao login).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Logar e finalizar · conferir Pedido e Itens no Admin · estoque descontado · carrinho zerado.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 'Meus pedidos' e os detalhes · tentar ver o pedido de outro (não deve deixar).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E8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Admin, mudar o status do pedido.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16 — Pedidos: Finalização &amp; Histórico · SneakZone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jornada completa do SneakZone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10972800" cy="3657600"/>
          </a:xfrm>
          <a:prstGeom prst="roundRect">
            <a:avLst>
              <a:gd name="adj" fmla="val 2500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640080" y="5276088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Catálogo, login, carrinho, estoque, pedidos salvos e administração — uma loja de verdade.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16 — Pedidos: Finalização &amp; Histórico · SneakZone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00" dirty="0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1054BBC7-C5E2-3AD8-D2F7-38BA552FB2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360" y="1463040"/>
            <a:ext cx="8778240" cy="3618271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Resumo &amp; conquista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fecho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1097280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Pedido + ItemPedido guardam a compra no banco (com preço histórico).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Finalização segura: login, POST, transação e checagem de estoque.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00A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cliente acompanha 'Meus pedidos'; o gestor administra pelo Admin.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00A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O SneakZone virou uma loja completa: catálogo, conta, carrinho, pedido e gestão.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16 — Pedidos: Finalização &amp; Histórico · SneakZone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1629</Words>
  <Application>Microsoft Office PowerPoint</Application>
  <PresentationFormat>Widescreen</PresentationFormat>
  <Paragraphs>227</Paragraphs>
  <Slides>30</Slides>
  <Notes>30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30</vt:i4>
      </vt:variant>
    </vt:vector>
  </HeadingPairs>
  <TitlesOfParts>
    <vt:vector size="33" baseType="lpstr">
      <vt:lpstr>Arial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Mario Alberto Aragao Duarte</cp:lastModifiedBy>
  <cp:revision>2</cp:revision>
  <dcterms:created xsi:type="dcterms:W3CDTF">2026-10-09T10:37:17Z</dcterms:created>
  <dcterms:modified xsi:type="dcterms:W3CDTF">2026-10-09T10:54:40Z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c88f678-0b6e-4995-8ab3-bcc8062be905_Enabled">
    <vt:lpwstr>true</vt:lpwstr>
  </property>
  <property fmtid="{D5CDD505-2E9C-101B-9397-08002B2CF9AE}" pid="3" name="MSIP_Label_5c88f678-0b6e-4995-8ab3-bcc8062be905_SetDate">
    <vt:lpwstr>2026-10-09T10:54:35Z</vt:lpwstr>
  </property>
  <property fmtid="{D5CDD505-2E9C-101B-9397-08002B2CF9AE}" pid="4" name="MSIP_Label_5c88f678-0b6e-4995-8ab3-bcc8062be905_Method">
    <vt:lpwstr>Standard</vt:lpwstr>
  </property>
  <property fmtid="{D5CDD505-2E9C-101B-9397-08002B2CF9AE}" pid="5" name="MSIP_Label_5c88f678-0b6e-4995-8ab3-bcc8062be905_Name">
    <vt:lpwstr>Ostensivo</vt:lpwstr>
  </property>
  <property fmtid="{D5CDD505-2E9C-101B-9397-08002B2CF9AE}" pid="6" name="MSIP_Label_5c88f678-0b6e-4995-8ab3-bcc8062be905_SiteId">
    <vt:lpwstr>d0c698d4-e4ea-4ee9-a79d-f2d7a78399c8</vt:lpwstr>
  </property>
  <property fmtid="{D5CDD505-2E9C-101B-9397-08002B2CF9AE}" pid="7" name="MSIP_Label_5c88f678-0b6e-4995-8ab3-bcc8062be905_ActionId">
    <vt:lpwstr>72242c1d-8049-4e57-a2e7-5d9e141f901d</vt:lpwstr>
  </property>
  <property fmtid="{D5CDD505-2E9C-101B-9397-08002B2CF9AE}" pid="8" name="MSIP_Label_5c88f678-0b6e-4995-8ab3-bcc8062be905_ContentBits">
    <vt:lpwstr>0</vt:lpwstr>
  </property>
  <property fmtid="{D5CDD505-2E9C-101B-9397-08002B2CF9AE}" pid="9" name="MSIP_Label_5c88f678-0b6e-4995-8ab3-bcc8062be905_Tag">
    <vt:lpwstr>10, 3, 0, 1</vt:lpwstr>
  </property>
</Properties>
</file>